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77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09625" y="1809750"/>
            <a:ext cx="16668750" cy="19050"/>
          </a:xfrm>
          <a:custGeom>
            <a:avLst/>
            <a:gdLst/>
            <a:ahLst/>
            <a:cxnLst/>
            <a:rect l="l" t="t" r="r" b="b"/>
            <a:pathLst>
              <a:path w="16668750" h="19050">
                <a:moveTo>
                  <a:pt x="16668750" y="19050"/>
                </a:moveTo>
                <a:lnTo>
                  <a:pt x="0" y="19050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19050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92850" y="3208323"/>
            <a:ext cx="5718175" cy="858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637001" y="9520587"/>
            <a:ext cx="850265" cy="147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63748A"/>
                </a:solidFill>
                <a:latin typeface="Lucida Sans"/>
                <a:cs typeface="Lucida Sans"/>
              </a:defRPr>
            </a:lvl1pPr>
          </a:lstStyle>
          <a:p>
            <a:pPr marL="2540">
              <a:lnSpc>
                <a:spcPts val="1160"/>
              </a:lnSpc>
            </a:pPr>
            <a:r>
              <a:rPr spc="-90" dirty="0">
                <a:solidFill>
                  <a:srgbClr val="93A2B8"/>
                </a:solidFill>
              </a:rPr>
              <a:t>Lâmina</a:t>
            </a:r>
            <a:r>
              <a:rPr spc="-200" dirty="0">
                <a:solidFill>
                  <a:srgbClr val="93A2B8"/>
                </a:solidFill>
              </a:rPr>
              <a:t> </a:t>
            </a:r>
            <a:fld id="{81D60167-4931-47E6-BA6A-407CBD079E47}" type="slidenum">
              <a:rPr spc="-330" dirty="0">
                <a:solidFill>
                  <a:srgbClr val="93A2B8"/>
                </a:solidFill>
              </a:rPr>
              <a:t>‹nº›</a:t>
            </a:fld>
            <a:r>
              <a:rPr spc="-204" dirty="0">
                <a:solidFill>
                  <a:srgbClr val="93A2B8"/>
                </a:solidFill>
              </a:rPr>
              <a:t> </a:t>
            </a:r>
            <a:r>
              <a:rPr spc="-105" dirty="0">
                <a:solidFill>
                  <a:srgbClr val="93A2B8"/>
                </a:solidFill>
              </a:rPr>
              <a:t>/</a:t>
            </a:r>
            <a:r>
              <a:rPr spc="-225" dirty="0">
                <a:solidFill>
                  <a:srgbClr val="93A2B8"/>
                </a:solidFill>
              </a:rPr>
              <a:t> </a:t>
            </a:r>
            <a:r>
              <a:rPr spc="-355" dirty="0">
                <a:solidFill>
                  <a:srgbClr val="93A2B8"/>
                </a:solidFill>
              </a:rPr>
              <a:t>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</p:grpSpPr>
        <p:sp>
          <p:nvSpPr>
            <p:cNvPr id="4" name="object 4"/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554" y="9701409"/>
            <a:ext cx="5089673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Exclusivo para Treinamento de Equipes de Ópticas Parceiras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383000" y="9751017"/>
            <a:ext cx="1056009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dirty="0" err="1">
                <a:solidFill>
                  <a:srgbClr val="63748A"/>
                </a:solidFill>
                <a:latin typeface="Century Gothic"/>
                <a:cs typeface="Century Gothic"/>
              </a:rPr>
              <a:t>Edição</a:t>
            </a: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 2026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72224" y="2752724"/>
            <a:ext cx="5553075" cy="352425"/>
            <a:chOff x="6372224" y="2752724"/>
            <a:chExt cx="5553075" cy="352425"/>
          </a:xfrm>
        </p:grpSpPr>
        <p:sp>
          <p:nvSpPr>
            <p:cNvPr id="10" name="object 10"/>
            <p:cNvSpPr/>
            <p:nvPr/>
          </p:nvSpPr>
          <p:spPr>
            <a:xfrm>
              <a:off x="6372225" y="2752724"/>
              <a:ext cx="5553075" cy="352425"/>
            </a:xfrm>
            <a:custGeom>
              <a:avLst/>
              <a:gdLst/>
              <a:ahLst/>
              <a:cxnLst/>
              <a:rect l="l" t="t" r="r" b="b"/>
              <a:pathLst>
                <a:path w="5553075" h="352425">
                  <a:moveTo>
                    <a:pt x="5376864" y="352425"/>
                  </a:moveTo>
                  <a:lnTo>
                    <a:pt x="176214" y="352425"/>
                  </a:lnTo>
                  <a:lnTo>
                    <a:pt x="158854" y="351586"/>
                  </a:lnTo>
                  <a:lnTo>
                    <a:pt x="108777" y="339010"/>
                  </a:lnTo>
                  <a:lnTo>
                    <a:pt x="64478" y="312494"/>
                  </a:lnTo>
                  <a:lnTo>
                    <a:pt x="29667" y="274128"/>
                  </a:lnTo>
                  <a:lnTo>
                    <a:pt x="7544" y="227286"/>
                  </a:lnTo>
                  <a:lnTo>
                    <a:pt x="0" y="176210"/>
                  </a:lnTo>
                  <a:lnTo>
                    <a:pt x="838" y="158852"/>
                  </a:lnTo>
                  <a:lnTo>
                    <a:pt x="13411" y="108777"/>
                  </a:lnTo>
                  <a:lnTo>
                    <a:pt x="39928" y="64479"/>
                  </a:lnTo>
                  <a:lnTo>
                    <a:pt x="78294" y="29669"/>
                  </a:lnTo>
                  <a:lnTo>
                    <a:pt x="125135" y="7545"/>
                  </a:lnTo>
                  <a:lnTo>
                    <a:pt x="176214" y="0"/>
                  </a:lnTo>
                  <a:lnTo>
                    <a:pt x="5376864" y="0"/>
                  </a:lnTo>
                  <a:lnTo>
                    <a:pt x="5427936" y="7545"/>
                  </a:lnTo>
                  <a:lnTo>
                    <a:pt x="5474778" y="29669"/>
                  </a:lnTo>
                  <a:lnTo>
                    <a:pt x="5513144" y="64479"/>
                  </a:lnTo>
                  <a:lnTo>
                    <a:pt x="5539660" y="108777"/>
                  </a:lnTo>
                  <a:lnTo>
                    <a:pt x="5552236" y="158852"/>
                  </a:lnTo>
                  <a:lnTo>
                    <a:pt x="5553075" y="176210"/>
                  </a:lnTo>
                  <a:lnTo>
                    <a:pt x="5552236" y="193570"/>
                  </a:lnTo>
                  <a:lnTo>
                    <a:pt x="5539660" y="243644"/>
                  </a:lnTo>
                  <a:lnTo>
                    <a:pt x="5513144" y="287945"/>
                  </a:lnTo>
                  <a:lnTo>
                    <a:pt x="5474778" y="322754"/>
                  </a:lnTo>
                  <a:lnTo>
                    <a:pt x="5427936" y="344879"/>
                  </a:lnTo>
                  <a:lnTo>
                    <a:pt x="5376864" y="352425"/>
                  </a:lnTo>
                  <a:close/>
                </a:path>
              </a:pathLst>
            </a:custGeom>
            <a:solidFill>
              <a:srgbClr val="00D2DE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72224" y="2752725"/>
              <a:ext cx="5553075" cy="352425"/>
            </a:xfrm>
            <a:custGeom>
              <a:avLst/>
              <a:gdLst/>
              <a:ahLst/>
              <a:cxnLst/>
              <a:rect l="l" t="t" r="r" b="b"/>
              <a:pathLst>
                <a:path w="5553075" h="352425">
                  <a:moveTo>
                    <a:pt x="5376863" y="352424"/>
                  </a:moveTo>
                  <a:lnTo>
                    <a:pt x="176214" y="352424"/>
                  </a:lnTo>
                  <a:lnTo>
                    <a:pt x="158854" y="351586"/>
                  </a:lnTo>
                  <a:lnTo>
                    <a:pt x="108777" y="339010"/>
                  </a:lnTo>
                  <a:lnTo>
                    <a:pt x="64478" y="312494"/>
                  </a:lnTo>
                  <a:lnTo>
                    <a:pt x="29667" y="274128"/>
                  </a:lnTo>
                  <a:lnTo>
                    <a:pt x="7544" y="227286"/>
                  </a:lnTo>
                  <a:lnTo>
                    <a:pt x="0" y="176210"/>
                  </a:lnTo>
                  <a:lnTo>
                    <a:pt x="789" y="159874"/>
                  </a:lnTo>
                  <a:lnTo>
                    <a:pt x="838" y="158852"/>
                  </a:lnTo>
                  <a:lnTo>
                    <a:pt x="13411" y="108777"/>
                  </a:lnTo>
                  <a:lnTo>
                    <a:pt x="39928" y="64479"/>
                  </a:lnTo>
                  <a:lnTo>
                    <a:pt x="78294" y="29669"/>
                  </a:lnTo>
                  <a:lnTo>
                    <a:pt x="125135" y="7545"/>
                  </a:lnTo>
                  <a:lnTo>
                    <a:pt x="176214" y="0"/>
                  </a:lnTo>
                  <a:lnTo>
                    <a:pt x="5376863" y="0"/>
                  </a:lnTo>
                  <a:lnTo>
                    <a:pt x="5394221" y="838"/>
                  </a:lnTo>
                  <a:lnTo>
                    <a:pt x="5411245" y="3353"/>
                  </a:lnTo>
                  <a:lnTo>
                    <a:pt x="5427936" y="7545"/>
                  </a:lnTo>
                  <a:lnTo>
                    <a:pt x="5433454" y="9525"/>
                  </a:lnTo>
                  <a:lnTo>
                    <a:pt x="176211" y="9525"/>
                  </a:lnTo>
                  <a:lnTo>
                    <a:pt x="168023" y="9725"/>
                  </a:lnTo>
                  <a:lnTo>
                    <a:pt x="127825" y="16700"/>
                  </a:lnTo>
                  <a:lnTo>
                    <a:pt x="90526" y="33235"/>
                  </a:lnTo>
                  <a:lnTo>
                    <a:pt x="58348" y="58347"/>
                  </a:lnTo>
                  <a:lnTo>
                    <a:pt x="33235" y="90525"/>
                  </a:lnTo>
                  <a:lnTo>
                    <a:pt x="16701" y="127825"/>
                  </a:lnTo>
                  <a:lnTo>
                    <a:pt x="9725" y="168024"/>
                  </a:lnTo>
                  <a:lnTo>
                    <a:pt x="9525" y="176210"/>
                  </a:lnTo>
                  <a:lnTo>
                    <a:pt x="9725" y="184401"/>
                  </a:lnTo>
                  <a:lnTo>
                    <a:pt x="16701" y="224599"/>
                  </a:lnTo>
                  <a:lnTo>
                    <a:pt x="33235" y="261899"/>
                  </a:lnTo>
                  <a:lnTo>
                    <a:pt x="58348" y="294077"/>
                  </a:lnTo>
                  <a:lnTo>
                    <a:pt x="90526" y="319189"/>
                  </a:lnTo>
                  <a:lnTo>
                    <a:pt x="127826" y="335724"/>
                  </a:lnTo>
                  <a:lnTo>
                    <a:pt x="168023" y="342699"/>
                  </a:lnTo>
                  <a:lnTo>
                    <a:pt x="176211" y="342900"/>
                  </a:lnTo>
                  <a:lnTo>
                    <a:pt x="5433453" y="342900"/>
                  </a:lnTo>
                  <a:lnTo>
                    <a:pt x="5427936" y="344879"/>
                  </a:lnTo>
                  <a:lnTo>
                    <a:pt x="5411245" y="349071"/>
                  </a:lnTo>
                  <a:lnTo>
                    <a:pt x="5394221" y="351586"/>
                  </a:lnTo>
                  <a:lnTo>
                    <a:pt x="5376863" y="352424"/>
                  </a:lnTo>
                  <a:close/>
                </a:path>
                <a:path w="5553075" h="352425">
                  <a:moveTo>
                    <a:pt x="5433453" y="342900"/>
                  </a:moveTo>
                  <a:lnTo>
                    <a:pt x="5376861" y="342900"/>
                  </a:lnTo>
                  <a:lnTo>
                    <a:pt x="5385050" y="342699"/>
                  </a:lnTo>
                  <a:lnTo>
                    <a:pt x="5393199" y="342099"/>
                  </a:lnTo>
                  <a:lnTo>
                    <a:pt x="5433008" y="333160"/>
                  </a:lnTo>
                  <a:lnTo>
                    <a:pt x="5469468" y="314806"/>
                  </a:lnTo>
                  <a:lnTo>
                    <a:pt x="5500375" y="288145"/>
                  </a:lnTo>
                  <a:lnTo>
                    <a:pt x="5523868" y="254789"/>
                  </a:lnTo>
                  <a:lnTo>
                    <a:pt x="5538553" y="216723"/>
                  </a:lnTo>
                  <a:lnTo>
                    <a:pt x="5543550" y="176210"/>
                  </a:lnTo>
                  <a:lnTo>
                    <a:pt x="5543350" y="168024"/>
                  </a:lnTo>
                  <a:lnTo>
                    <a:pt x="5536373" y="127825"/>
                  </a:lnTo>
                  <a:lnTo>
                    <a:pt x="5519840" y="90525"/>
                  </a:lnTo>
                  <a:lnTo>
                    <a:pt x="5494727" y="58347"/>
                  </a:lnTo>
                  <a:lnTo>
                    <a:pt x="5462548" y="33235"/>
                  </a:lnTo>
                  <a:lnTo>
                    <a:pt x="5425249" y="16700"/>
                  </a:lnTo>
                  <a:lnTo>
                    <a:pt x="5385050" y="9725"/>
                  </a:lnTo>
                  <a:lnTo>
                    <a:pt x="5376861" y="9525"/>
                  </a:lnTo>
                  <a:lnTo>
                    <a:pt x="5433454" y="9525"/>
                  </a:lnTo>
                  <a:lnTo>
                    <a:pt x="5474778" y="29669"/>
                  </a:lnTo>
                  <a:lnTo>
                    <a:pt x="5513144" y="64479"/>
                  </a:lnTo>
                  <a:lnTo>
                    <a:pt x="5539660" y="108777"/>
                  </a:lnTo>
                  <a:lnTo>
                    <a:pt x="5552236" y="158852"/>
                  </a:lnTo>
                  <a:lnTo>
                    <a:pt x="5553074" y="176210"/>
                  </a:lnTo>
                  <a:lnTo>
                    <a:pt x="5552285" y="192550"/>
                  </a:lnTo>
                  <a:lnTo>
                    <a:pt x="5539660" y="243644"/>
                  </a:lnTo>
                  <a:lnTo>
                    <a:pt x="5513144" y="287945"/>
                  </a:lnTo>
                  <a:lnTo>
                    <a:pt x="5474778" y="322754"/>
                  </a:lnTo>
                  <a:lnTo>
                    <a:pt x="5444294" y="339010"/>
                  </a:lnTo>
                  <a:lnTo>
                    <a:pt x="5433453" y="342900"/>
                  </a:lnTo>
                  <a:close/>
                </a:path>
              </a:pathLst>
            </a:custGeom>
            <a:solidFill>
              <a:srgbClr val="00D2D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592887" y="2802999"/>
            <a:ext cx="5092700" cy="2355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spc="-50" dirty="0">
                <a:solidFill>
                  <a:srgbClr val="00D2DE"/>
                </a:solidFill>
                <a:latin typeface="Century Gothic"/>
                <a:cs typeface="Century Gothic"/>
              </a:rPr>
              <a:t>PROGRAMA</a:t>
            </a:r>
            <a:r>
              <a:rPr sz="1350" b="1" spc="-3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D2DE"/>
                </a:solidFill>
                <a:latin typeface="Century Gothic"/>
                <a:cs typeface="Century Gothic"/>
              </a:rPr>
              <a:t>DE</a:t>
            </a:r>
            <a:r>
              <a:rPr sz="1350" b="1" spc="-3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350" b="1" spc="-60" dirty="0">
                <a:solidFill>
                  <a:srgbClr val="00D2DE"/>
                </a:solidFill>
                <a:latin typeface="Century Gothic"/>
                <a:cs typeface="Century Gothic"/>
              </a:rPr>
              <a:t>CAPACITAÇÃO</a:t>
            </a:r>
            <a:r>
              <a:rPr sz="1350" b="1" spc="-35" dirty="0">
                <a:solidFill>
                  <a:srgbClr val="00D2DE"/>
                </a:solidFill>
                <a:latin typeface="Century Gothic"/>
                <a:cs typeface="Century Gothic"/>
              </a:rPr>
              <a:t> COMERCIAL</a:t>
            </a:r>
            <a:r>
              <a:rPr sz="1350" b="1" spc="-4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350" b="1" dirty="0">
                <a:solidFill>
                  <a:srgbClr val="00D2DE"/>
                </a:solidFill>
                <a:latin typeface="Century Gothic"/>
                <a:cs typeface="Century Gothic"/>
              </a:rPr>
              <a:t>•</a:t>
            </a:r>
            <a:r>
              <a:rPr sz="1350" b="1" spc="-2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350" b="1" spc="-10" dirty="0">
                <a:solidFill>
                  <a:srgbClr val="00D2DE"/>
                </a:solidFill>
                <a:latin typeface="Century Gothic"/>
                <a:cs typeface="Century Gothic"/>
              </a:rPr>
              <a:t>NÍVEL</a:t>
            </a:r>
            <a:r>
              <a:rPr sz="1350" b="1" spc="-4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350" b="1" spc="-75" dirty="0">
                <a:solidFill>
                  <a:srgbClr val="00D2DE"/>
                </a:solidFill>
                <a:latin typeface="Century Gothic"/>
                <a:cs typeface="Century Gothic"/>
              </a:rPr>
              <a:t>AVANÇADO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292850" y="3208323"/>
            <a:ext cx="5718175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sz="4800" spc="-425" dirty="0"/>
              <a:t>O</a:t>
            </a:r>
            <a:r>
              <a:rPr sz="4800" spc="-580" dirty="0"/>
              <a:t> </a:t>
            </a:r>
            <a:r>
              <a:rPr sz="4800" spc="-450" dirty="0"/>
              <a:t>NOVO</a:t>
            </a:r>
            <a:r>
              <a:rPr sz="4800" spc="-575" dirty="0"/>
              <a:t> </a:t>
            </a:r>
            <a:r>
              <a:rPr sz="4800" spc="-370" dirty="0"/>
              <a:t>PADRÃO</a:t>
            </a:r>
            <a:r>
              <a:rPr sz="4800" spc="-580" dirty="0"/>
              <a:t> </a:t>
            </a:r>
            <a:r>
              <a:rPr sz="4800" spc="-65" dirty="0"/>
              <a:t>DA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2625" y="3981450"/>
            <a:ext cx="6762750" cy="82867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5049837" y="4948175"/>
            <a:ext cx="8193405" cy="1073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 marR="5080" indent="-5715" algn="ctr">
              <a:lnSpc>
                <a:spcPct val="106100"/>
              </a:lnSpc>
              <a:spcBef>
                <a:spcPts val="130"/>
              </a:spcBef>
            </a:pPr>
            <a:r>
              <a:rPr sz="2150" dirty="0">
                <a:solidFill>
                  <a:srgbClr val="CAD4E0"/>
                </a:solidFill>
                <a:latin typeface="Gotham Book" panose="02000604040000020004" pitchFamily="50" charset="0"/>
                <a:cs typeface="Century Gothic"/>
              </a:rPr>
              <a:t>Como transformar receitas de visão simples em vendas de alto valor e conforto absoluto com as lentes de relaxamento </a:t>
            </a:r>
            <a:r>
              <a:rPr sz="2150" dirty="0">
                <a:solidFill>
                  <a:srgbClr val="FFFFFF"/>
                </a:solidFill>
                <a:latin typeface="Gotham Black" panose="02000604040000020004" pitchFamily="50" charset="0"/>
                <a:cs typeface="Arial"/>
              </a:rPr>
              <a:t>Gold Comfort </a:t>
            </a:r>
            <a:r>
              <a:rPr sz="2150" dirty="0">
                <a:solidFill>
                  <a:srgbClr val="CAD4E0"/>
                </a:solidFill>
                <a:latin typeface="Gotham Book" panose="02000604040000020004" pitchFamily="50" charset="0"/>
                <a:cs typeface="Century Gothic"/>
              </a:rPr>
              <a:t>e </a:t>
            </a:r>
            <a:r>
              <a:rPr sz="2150" dirty="0">
                <a:solidFill>
                  <a:srgbClr val="00D2DE"/>
                </a:solidFill>
                <a:latin typeface="Gotham Black" panose="02000604040000020004" pitchFamily="50" charset="0"/>
                <a:cs typeface="Arial"/>
              </a:rPr>
              <a:t>Gold Comfort IA</a:t>
            </a:r>
            <a:r>
              <a:rPr sz="2150" dirty="0">
                <a:solidFill>
                  <a:srgbClr val="CAD4E0"/>
                </a:solidFill>
                <a:latin typeface="Gotham Book" panose="02000604040000020004" pitchFamily="50" charset="0"/>
                <a:cs typeface="Century Gothic"/>
              </a:rPr>
              <a:t>.</a:t>
            </a:r>
            <a:endParaRPr sz="2150" dirty="0">
              <a:latin typeface="Gotham Book" panose="02000604040000020004" pitchFamily="50" charset="0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47999" y="6505575"/>
            <a:ext cx="3257550" cy="1028700"/>
            <a:chOff x="3047999" y="6505575"/>
            <a:chExt cx="3257550" cy="1028700"/>
          </a:xfrm>
        </p:grpSpPr>
        <p:sp>
          <p:nvSpPr>
            <p:cNvPr id="17" name="object 17"/>
            <p:cNvSpPr/>
            <p:nvPr/>
          </p:nvSpPr>
          <p:spPr>
            <a:xfrm>
              <a:off x="3048000" y="6505575"/>
              <a:ext cx="3257550" cy="1028700"/>
            </a:xfrm>
            <a:custGeom>
              <a:avLst/>
              <a:gdLst/>
              <a:ahLst/>
              <a:cxnLst/>
              <a:rect l="l" t="t" r="r" b="b"/>
              <a:pathLst>
                <a:path w="3257550" h="1028700">
                  <a:moveTo>
                    <a:pt x="3124200" y="1028700"/>
                  </a:moveTo>
                  <a:lnTo>
                    <a:pt x="133350" y="1028700"/>
                  </a:lnTo>
                  <a:lnTo>
                    <a:pt x="120212" y="1028065"/>
                  </a:lnTo>
                  <a:lnTo>
                    <a:pt x="82317" y="1018547"/>
                  </a:lnTo>
                  <a:lnTo>
                    <a:pt x="48793" y="998482"/>
                  </a:lnTo>
                  <a:lnTo>
                    <a:pt x="22452" y="969448"/>
                  </a:lnTo>
                  <a:lnTo>
                    <a:pt x="5709" y="934000"/>
                  </a:lnTo>
                  <a:lnTo>
                    <a:pt x="0" y="895350"/>
                  </a:lnTo>
                  <a:lnTo>
                    <a:pt x="0" y="133350"/>
                  </a:lnTo>
                  <a:lnTo>
                    <a:pt x="5709" y="94696"/>
                  </a:lnTo>
                  <a:lnTo>
                    <a:pt x="22452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50" y="0"/>
                  </a:lnTo>
                  <a:lnTo>
                    <a:pt x="3124200" y="0"/>
                  </a:lnTo>
                  <a:lnTo>
                    <a:pt x="3162850" y="5709"/>
                  </a:lnTo>
                  <a:lnTo>
                    <a:pt x="3198298" y="22451"/>
                  </a:lnTo>
                  <a:lnTo>
                    <a:pt x="3227332" y="48793"/>
                  </a:lnTo>
                  <a:lnTo>
                    <a:pt x="3247397" y="82317"/>
                  </a:lnTo>
                  <a:lnTo>
                    <a:pt x="3256915" y="120212"/>
                  </a:lnTo>
                  <a:lnTo>
                    <a:pt x="3257550" y="133350"/>
                  </a:lnTo>
                  <a:lnTo>
                    <a:pt x="3257550" y="895350"/>
                  </a:lnTo>
                  <a:lnTo>
                    <a:pt x="3251839" y="934000"/>
                  </a:lnTo>
                  <a:lnTo>
                    <a:pt x="3235096" y="969448"/>
                  </a:lnTo>
                  <a:lnTo>
                    <a:pt x="3208754" y="998482"/>
                  </a:lnTo>
                  <a:lnTo>
                    <a:pt x="3175229" y="1018547"/>
                  </a:lnTo>
                  <a:lnTo>
                    <a:pt x="3137335" y="1028065"/>
                  </a:lnTo>
                  <a:lnTo>
                    <a:pt x="3124200" y="1028700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47999" y="6505575"/>
              <a:ext cx="3257550" cy="1028700"/>
            </a:xfrm>
            <a:custGeom>
              <a:avLst/>
              <a:gdLst/>
              <a:ahLst/>
              <a:cxnLst/>
              <a:rect l="l" t="t" r="r" b="b"/>
              <a:pathLst>
                <a:path w="3257550" h="1028700">
                  <a:moveTo>
                    <a:pt x="3124199" y="1028699"/>
                  </a:moveTo>
                  <a:lnTo>
                    <a:pt x="133349" y="1028699"/>
                  </a:lnTo>
                  <a:lnTo>
                    <a:pt x="120212" y="1028065"/>
                  </a:lnTo>
                  <a:lnTo>
                    <a:pt x="82317" y="1018547"/>
                  </a:lnTo>
                  <a:lnTo>
                    <a:pt x="48793" y="998482"/>
                  </a:lnTo>
                  <a:lnTo>
                    <a:pt x="22452" y="969447"/>
                  </a:lnTo>
                  <a:lnTo>
                    <a:pt x="5709" y="934000"/>
                  </a:lnTo>
                  <a:lnTo>
                    <a:pt x="0" y="895349"/>
                  </a:lnTo>
                  <a:lnTo>
                    <a:pt x="0" y="133349"/>
                  </a:lnTo>
                  <a:lnTo>
                    <a:pt x="5709" y="94696"/>
                  </a:lnTo>
                  <a:lnTo>
                    <a:pt x="22452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49" y="0"/>
                  </a:lnTo>
                  <a:lnTo>
                    <a:pt x="3124199" y="0"/>
                  </a:lnTo>
                  <a:lnTo>
                    <a:pt x="3137335" y="634"/>
                  </a:lnTo>
                  <a:lnTo>
                    <a:pt x="3150218" y="2537"/>
                  </a:lnTo>
                  <a:lnTo>
                    <a:pt x="3162850" y="5709"/>
                  </a:lnTo>
                  <a:lnTo>
                    <a:pt x="3173488" y="9525"/>
                  </a:lnTo>
                  <a:lnTo>
                    <a:pt x="125221" y="9525"/>
                  </a:lnTo>
                  <a:lnTo>
                    <a:pt x="117168" y="10317"/>
                  </a:lnTo>
                  <a:lnTo>
                    <a:pt x="78452" y="22061"/>
                  </a:lnTo>
                  <a:lnTo>
                    <a:pt x="40044" y="51541"/>
                  </a:lnTo>
                  <a:lnTo>
                    <a:pt x="15840" y="93476"/>
                  </a:lnTo>
                  <a:lnTo>
                    <a:pt x="9525" y="125221"/>
                  </a:lnTo>
                  <a:lnTo>
                    <a:pt x="9525" y="903479"/>
                  </a:lnTo>
                  <a:lnTo>
                    <a:pt x="22061" y="950247"/>
                  </a:lnTo>
                  <a:lnTo>
                    <a:pt x="51541" y="988655"/>
                  </a:lnTo>
                  <a:lnTo>
                    <a:pt x="93476" y="1012859"/>
                  </a:lnTo>
                  <a:lnTo>
                    <a:pt x="125221" y="1019175"/>
                  </a:lnTo>
                  <a:lnTo>
                    <a:pt x="3173479" y="1019175"/>
                  </a:lnTo>
                  <a:lnTo>
                    <a:pt x="3162850" y="1022989"/>
                  </a:lnTo>
                  <a:lnTo>
                    <a:pt x="3150218" y="1026162"/>
                  </a:lnTo>
                  <a:lnTo>
                    <a:pt x="3137335" y="1028065"/>
                  </a:lnTo>
                  <a:lnTo>
                    <a:pt x="3124199" y="1028699"/>
                  </a:lnTo>
                  <a:close/>
                </a:path>
                <a:path w="3257550" h="1028700">
                  <a:moveTo>
                    <a:pt x="3173479" y="1019175"/>
                  </a:moveTo>
                  <a:lnTo>
                    <a:pt x="3132329" y="1019175"/>
                  </a:lnTo>
                  <a:lnTo>
                    <a:pt x="3140381" y="1018382"/>
                  </a:lnTo>
                  <a:lnTo>
                    <a:pt x="3156332" y="1015209"/>
                  </a:lnTo>
                  <a:lnTo>
                    <a:pt x="3199753" y="993788"/>
                  </a:lnTo>
                  <a:lnTo>
                    <a:pt x="3231672" y="957383"/>
                  </a:lnTo>
                  <a:lnTo>
                    <a:pt x="3247232" y="911531"/>
                  </a:lnTo>
                  <a:lnTo>
                    <a:pt x="3248025" y="903479"/>
                  </a:lnTo>
                  <a:lnTo>
                    <a:pt x="3248025" y="125221"/>
                  </a:lnTo>
                  <a:lnTo>
                    <a:pt x="3235488" y="78452"/>
                  </a:lnTo>
                  <a:lnTo>
                    <a:pt x="3206008" y="40044"/>
                  </a:lnTo>
                  <a:lnTo>
                    <a:pt x="3163816" y="15762"/>
                  </a:lnTo>
                  <a:lnTo>
                    <a:pt x="3132329" y="9525"/>
                  </a:lnTo>
                  <a:lnTo>
                    <a:pt x="3173488" y="9525"/>
                  </a:lnTo>
                  <a:lnTo>
                    <a:pt x="3208754" y="30215"/>
                  </a:lnTo>
                  <a:lnTo>
                    <a:pt x="3235096" y="59249"/>
                  </a:lnTo>
                  <a:lnTo>
                    <a:pt x="3251839" y="94696"/>
                  </a:lnTo>
                  <a:lnTo>
                    <a:pt x="3257549" y="133349"/>
                  </a:lnTo>
                  <a:lnTo>
                    <a:pt x="3257549" y="895349"/>
                  </a:lnTo>
                  <a:lnTo>
                    <a:pt x="3251839" y="934000"/>
                  </a:lnTo>
                  <a:lnTo>
                    <a:pt x="3235096" y="969447"/>
                  </a:lnTo>
                  <a:lnTo>
                    <a:pt x="3208754" y="998482"/>
                  </a:lnTo>
                  <a:lnTo>
                    <a:pt x="3175229" y="1018547"/>
                  </a:lnTo>
                  <a:lnTo>
                    <a:pt x="3173479" y="1019175"/>
                  </a:lnTo>
                  <a:close/>
                </a:path>
              </a:pathLst>
            </a:custGeom>
            <a:solidFill>
              <a:srgbClr val="FFFFFF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87725" y="6677601"/>
            <a:ext cx="2016760" cy="43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lvl="1">
              <a:spcBef>
                <a:spcPts val="95"/>
              </a:spcBef>
            </a:pPr>
            <a:r>
              <a:rPr lang="pt-BR" sz="1100" b="1" dirty="0">
                <a:solidFill>
                  <a:srgbClr val="93A2B8"/>
                </a:solidFill>
                <a:latin typeface="Century Gothic"/>
                <a:cs typeface="Century Gothic"/>
              </a:rPr>
              <a:t>IDEAL PARA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ts val="1730"/>
              </a:lnSpc>
              <a:spcBef>
                <a:spcPts val="345"/>
              </a:spcBef>
            </a:pPr>
            <a:r>
              <a:rPr lang="pt-BR" sz="1650" b="1" dirty="0">
                <a:solidFill>
                  <a:srgbClr val="FFFFFF"/>
                </a:solidFill>
                <a:latin typeface="Century Gothic"/>
                <a:cs typeface="Century Gothic"/>
              </a:rPr>
              <a:t>Time Comercial</a:t>
            </a:r>
            <a:endParaRPr sz="1650" dirty="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86549" y="6505575"/>
            <a:ext cx="4219575" cy="1028700"/>
            <a:chOff x="6686549" y="6505575"/>
            <a:chExt cx="4219575" cy="1028700"/>
          </a:xfrm>
        </p:grpSpPr>
        <p:sp>
          <p:nvSpPr>
            <p:cNvPr id="21" name="object 21"/>
            <p:cNvSpPr/>
            <p:nvPr/>
          </p:nvSpPr>
          <p:spPr>
            <a:xfrm>
              <a:off x="6686550" y="6505575"/>
              <a:ext cx="4219575" cy="1028700"/>
            </a:xfrm>
            <a:custGeom>
              <a:avLst/>
              <a:gdLst/>
              <a:ahLst/>
              <a:cxnLst/>
              <a:rect l="l" t="t" r="r" b="b"/>
              <a:pathLst>
                <a:path w="4219575" h="1028700">
                  <a:moveTo>
                    <a:pt x="4086225" y="1028700"/>
                  </a:moveTo>
                  <a:lnTo>
                    <a:pt x="133350" y="1028700"/>
                  </a:lnTo>
                  <a:lnTo>
                    <a:pt x="120212" y="1028065"/>
                  </a:lnTo>
                  <a:lnTo>
                    <a:pt x="82317" y="1018547"/>
                  </a:lnTo>
                  <a:lnTo>
                    <a:pt x="48793" y="998482"/>
                  </a:lnTo>
                  <a:lnTo>
                    <a:pt x="22452" y="969448"/>
                  </a:lnTo>
                  <a:lnTo>
                    <a:pt x="5709" y="934000"/>
                  </a:lnTo>
                  <a:lnTo>
                    <a:pt x="0" y="895350"/>
                  </a:lnTo>
                  <a:lnTo>
                    <a:pt x="0" y="133350"/>
                  </a:lnTo>
                  <a:lnTo>
                    <a:pt x="5709" y="94696"/>
                  </a:lnTo>
                  <a:lnTo>
                    <a:pt x="22452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50" y="0"/>
                  </a:lnTo>
                  <a:lnTo>
                    <a:pt x="4086225" y="0"/>
                  </a:lnTo>
                  <a:lnTo>
                    <a:pt x="4124875" y="5709"/>
                  </a:lnTo>
                  <a:lnTo>
                    <a:pt x="4160323" y="22451"/>
                  </a:lnTo>
                  <a:lnTo>
                    <a:pt x="4189357" y="48793"/>
                  </a:lnTo>
                  <a:lnTo>
                    <a:pt x="4209422" y="82317"/>
                  </a:lnTo>
                  <a:lnTo>
                    <a:pt x="4218940" y="120212"/>
                  </a:lnTo>
                  <a:lnTo>
                    <a:pt x="4219575" y="133350"/>
                  </a:lnTo>
                  <a:lnTo>
                    <a:pt x="4219575" y="895350"/>
                  </a:lnTo>
                  <a:lnTo>
                    <a:pt x="4213864" y="934000"/>
                  </a:lnTo>
                  <a:lnTo>
                    <a:pt x="4197121" y="969448"/>
                  </a:lnTo>
                  <a:lnTo>
                    <a:pt x="4170779" y="998482"/>
                  </a:lnTo>
                  <a:lnTo>
                    <a:pt x="4137254" y="1018547"/>
                  </a:lnTo>
                  <a:lnTo>
                    <a:pt x="4099361" y="1028065"/>
                  </a:lnTo>
                  <a:lnTo>
                    <a:pt x="4086225" y="1028700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686549" y="6505575"/>
              <a:ext cx="4219575" cy="1028700"/>
            </a:xfrm>
            <a:custGeom>
              <a:avLst/>
              <a:gdLst/>
              <a:ahLst/>
              <a:cxnLst/>
              <a:rect l="l" t="t" r="r" b="b"/>
              <a:pathLst>
                <a:path w="4219575" h="1028700">
                  <a:moveTo>
                    <a:pt x="4086224" y="1028699"/>
                  </a:moveTo>
                  <a:lnTo>
                    <a:pt x="133349" y="1028699"/>
                  </a:lnTo>
                  <a:lnTo>
                    <a:pt x="120212" y="1028065"/>
                  </a:lnTo>
                  <a:lnTo>
                    <a:pt x="82317" y="1018547"/>
                  </a:lnTo>
                  <a:lnTo>
                    <a:pt x="48793" y="998482"/>
                  </a:lnTo>
                  <a:lnTo>
                    <a:pt x="22452" y="969447"/>
                  </a:lnTo>
                  <a:lnTo>
                    <a:pt x="5709" y="934000"/>
                  </a:lnTo>
                  <a:lnTo>
                    <a:pt x="0" y="895349"/>
                  </a:lnTo>
                  <a:lnTo>
                    <a:pt x="0" y="133349"/>
                  </a:lnTo>
                  <a:lnTo>
                    <a:pt x="5709" y="94696"/>
                  </a:lnTo>
                  <a:lnTo>
                    <a:pt x="22452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49" y="0"/>
                  </a:lnTo>
                  <a:lnTo>
                    <a:pt x="4086224" y="0"/>
                  </a:lnTo>
                  <a:lnTo>
                    <a:pt x="4099361" y="634"/>
                  </a:lnTo>
                  <a:lnTo>
                    <a:pt x="4112244" y="2537"/>
                  </a:lnTo>
                  <a:lnTo>
                    <a:pt x="4124875" y="5709"/>
                  </a:lnTo>
                  <a:lnTo>
                    <a:pt x="4135513" y="9525"/>
                  </a:lnTo>
                  <a:lnTo>
                    <a:pt x="125221" y="9525"/>
                  </a:lnTo>
                  <a:lnTo>
                    <a:pt x="117168" y="10317"/>
                  </a:lnTo>
                  <a:lnTo>
                    <a:pt x="78452" y="22061"/>
                  </a:lnTo>
                  <a:lnTo>
                    <a:pt x="40044" y="51541"/>
                  </a:lnTo>
                  <a:lnTo>
                    <a:pt x="15840" y="93476"/>
                  </a:lnTo>
                  <a:lnTo>
                    <a:pt x="9525" y="125221"/>
                  </a:lnTo>
                  <a:lnTo>
                    <a:pt x="9525" y="903479"/>
                  </a:lnTo>
                  <a:lnTo>
                    <a:pt x="22061" y="950247"/>
                  </a:lnTo>
                  <a:lnTo>
                    <a:pt x="51541" y="988655"/>
                  </a:lnTo>
                  <a:lnTo>
                    <a:pt x="93476" y="1012859"/>
                  </a:lnTo>
                  <a:lnTo>
                    <a:pt x="125221" y="1019175"/>
                  </a:lnTo>
                  <a:lnTo>
                    <a:pt x="4135504" y="1019175"/>
                  </a:lnTo>
                  <a:lnTo>
                    <a:pt x="4124875" y="1022989"/>
                  </a:lnTo>
                  <a:lnTo>
                    <a:pt x="4112244" y="1026162"/>
                  </a:lnTo>
                  <a:lnTo>
                    <a:pt x="4099361" y="1028065"/>
                  </a:lnTo>
                  <a:lnTo>
                    <a:pt x="4086224" y="1028699"/>
                  </a:lnTo>
                  <a:close/>
                </a:path>
                <a:path w="4219575" h="1028700">
                  <a:moveTo>
                    <a:pt x="4135504" y="1019175"/>
                  </a:moveTo>
                  <a:lnTo>
                    <a:pt x="4094354" y="1019175"/>
                  </a:lnTo>
                  <a:lnTo>
                    <a:pt x="4102406" y="1018382"/>
                  </a:lnTo>
                  <a:lnTo>
                    <a:pt x="4118357" y="1015209"/>
                  </a:lnTo>
                  <a:lnTo>
                    <a:pt x="4161778" y="993788"/>
                  </a:lnTo>
                  <a:lnTo>
                    <a:pt x="4193697" y="957383"/>
                  </a:lnTo>
                  <a:lnTo>
                    <a:pt x="4209257" y="911531"/>
                  </a:lnTo>
                  <a:lnTo>
                    <a:pt x="4210050" y="903479"/>
                  </a:lnTo>
                  <a:lnTo>
                    <a:pt x="4210050" y="125221"/>
                  </a:lnTo>
                  <a:lnTo>
                    <a:pt x="4197513" y="78452"/>
                  </a:lnTo>
                  <a:lnTo>
                    <a:pt x="4168033" y="40044"/>
                  </a:lnTo>
                  <a:lnTo>
                    <a:pt x="4125842" y="15762"/>
                  </a:lnTo>
                  <a:lnTo>
                    <a:pt x="4094354" y="9525"/>
                  </a:lnTo>
                  <a:lnTo>
                    <a:pt x="4135513" y="9525"/>
                  </a:lnTo>
                  <a:lnTo>
                    <a:pt x="4170779" y="30215"/>
                  </a:lnTo>
                  <a:lnTo>
                    <a:pt x="4197121" y="59249"/>
                  </a:lnTo>
                  <a:lnTo>
                    <a:pt x="4213864" y="94696"/>
                  </a:lnTo>
                  <a:lnTo>
                    <a:pt x="4219574" y="133349"/>
                  </a:lnTo>
                  <a:lnTo>
                    <a:pt x="4219574" y="895349"/>
                  </a:lnTo>
                  <a:lnTo>
                    <a:pt x="4213864" y="934000"/>
                  </a:lnTo>
                  <a:lnTo>
                    <a:pt x="4197121" y="969447"/>
                  </a:lnTo>
                  <a:lnTo>
                    <a:pt x="4170779" y="998482"/>
                  </a:lnTo>
                  <a:lnTo>
                    <a:pt x="4137254" y="1018547"/>
                  </a:lnTo>
                  <a:lnTo>
                    <a:pt x="4135504" y="1019175"/>
                  </a:lnTo>
                  <a:close/>
                </a:path>
              </a:pathLst>
            </a:custGeom>
            <a:solidFill>
              <a:srgbClr val="FFFFFF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027912" y="6677601"/>
            <a:ext cx="3640088" cy="673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93A2B8"/>
                </a:solidFill>
                <a:latin typeface="Century Gothic"/>
                <a:cs typeface="Century Gothic"/>
              </a:rPr>
              <a:t>M ÓD ULO COM ER CI AL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ts val="1730"/>
              </a:lnSpc>
              <a:spcBef>
                <a:spcPts val="345"/>
              </a:spcBef>
            </a:pPr>
            <a:r>
              <a:rPr sz="1650" b="1" dirty="0">
                <a:solidFill>
                  <a:srgbClr val="00D2DE"/>
                </a:solidFill>
                <a:latin typeface="Century Gothic"/>
                <a:cs typeface="Century Gothic"/>
              </a:rPr>
              <a:t>Produto 2 em 1 &amp; Scripts de </a:t>
            </a:r>
            <a:r>
              <a:rPr lang="pt-BR" sz="1650" b="1" dirty="0">
                <a:solidFill>
                  <a:srgbClr val="00D2DE"/>
                </a:solidFill>
                <a:latin typeface="Century Gothic"/>
                <a:cs typeface="Century Gothic"/>
              </a:rPr>
              <a:t>a</a:t>
            </a:r>
            <a:r>
              <a:rPr sz="1650" b="1" dirty="0" err="1">
                <a:solidFill>
                  <a:srgbClr val="00D2DE"/>
                </a:solidFill>
                <a:latin typeface="Century Gothic"/>
                <a:cs typeface="Century Gothic"/>
              </a:rPr>
              <a:t>lta</a:t>
            </a:r>
            <a:r>
              <a:rPr sz="1650" b="1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lang="pt-BR" sz="1650" b="1" dirty="0">
                <a:solidFill>
                  <a:srgbClr val="00D2DE"/>
                </a:solidFill>
                <a:latin typeface="Century Gothic"/>
                <a:cs typeface="Century Gothic"/>
              </a:rPr>
              <a:t>c</a:t>
            </a:r>
            <a:r>
              <a:rPr sz="1650" b="1" dirty="0" err="1">
                <a:solidFill>
                  <a:srgbClr val="00D2DE"/>
                </a:solidFill>
                <a:latin typeface="Century Gothic"/>
                <a:cs typeface="Century Gothic"/>
              </a:rPr>
              <a:t>onversão</a:t>
            </a:r>
            <a:endParaRPr sz="1650" dirty="0">
              <a:latin typeface="Century Gothic"/>
              <a:cs typeface="Century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287124" y="6505575"/>
            <a:ext cx="3952875" cy="1028700"/>
            <a:chOff x="11287124" y="6505575"/>
            <a:chExt cx="3952875" cy="1028700"/>
          </a:xfrm>
        </p:grpSpPr>
        <p:sp>
          <p:nvSpPr>
            <p:cNvPr id="25" name="object 25"/>
            <p:cNvSpPr/>
            <p:nvPr/>
          </p:nvSpPr>
          <p:spPr>
            <a:xfrm>
              <a:off x="11287125" y="6505575"/>
              <a:ext cx="3952875" cy="1028700"/>
            </a:xfrm>
            <a:custGeom>
              <a:avLst/>
              <a:gdLst/>
              <a:ahLst/>
              <a:cxnLst/>
              <a:rect l="l" t="t" r="r" b="b"/>
              <a:pathLst>
                <a:path w="3952875" h="1028700">
                  <a:moveTo>
                    <a:pt x="3819525" y="1028700"/>
                  </a:moveTo>
                  <a:lnTo>
                    <a:pt x="133350" y="1028700"/>
                  </a:lnTo>
                  <a:lnTo>
                    <a:pt x="120212" y="1028065"/>
                  </a:lnTo>
                  <a:lnTo>
                    <a:pt x="82320" y="1018547"/>
                  </a:lnTo>
                  <a:lnTo>
                    <a:pt x="48793" y="998482"/>
                  </a:lnTo>
                  <a:lnTo>
                    <a:pt x="22451" y="969448"/>
                  </a:lnTo>
                  <a:lnTo>
                    <a:pt x="5709" y="934000"/>
                  </a:lnTo>
                  <a:lnTo>
                    <a:pt x="0" y="895350"/>
                  </a:lnTo>
                  <a:lnTo>
                    <a:pt x="0" y="133350"/>
                  </a:lnTo>
                  <a:lnTo>
                    <a:pt x="5709" y="94696"/>
                  </a:lnTo>
                  <a:lnTo>
                    <a:pt x="22451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50" y="0"/>
                  </a:lnTo>
                  <a:lnTo>
                    <a:pt x="3819525" y="0"/>
                  </a:lnTo>
                  <a:lnTo>
                    <a:pt x="3858175" y="5709"/>
                  </a:lnTo>
                  <a:lnTo>
                    <a:pt x="3893623" y="22451"/>
                  </a:lnTo>
                  <a:lnTo>
                    <a:pt x="3922657" y="48793"/>
                  </a:lnTo>
                  <a:lnTo>
                    <a:pt x="3942722" y="82317"/>
                  </a:lnTo>
                  <a:lnTo>
                    <a:pt x="3952240" y="120212"/>
                  </a:lnTo>
                  <a:lnTo>
                    <a:pt x="3952875" y="133350"/>
                  </a:lnTo>
                  <a:lnTo>
                    <a:pt x="3952875" y="895350"/>
                  </a:lnTo>
                  <a:lnTo>
                    <a:pt x="3947164" y="934000"/>
                  </a:lnTo>
                  <a:lnTo>
                    <a:pt x="3930421" y="969448"/>
                  </a:lnTo>
                  <a:lnTo>
                    <a:pt x="3904079" y="998482"/>
                  </a:lnTo>
                  <a:lnTo>
                    <a:pt x="3870554" y="1018547"/>
                  </a:lnTo>
                  <a:lnTo>
                    <a:pt x="3832660" y="1028065"/>
                  </a:lnTo>
                  <a:lnTo>
                    <a:pt x="3819525" y="1028700"/>
                  </a:lnTo>
                  <a:close/>
                </a:path>
              </a:pathLst>
            </a:custGeom>
            <a:solidFill>
              <a:srgbClr val="FFFFFF">
                <a:alpha val="58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287124" y="6505575"/>
              <a:ext cx="3952875" cy="1028700"/>
            </a:xfrm>
            <a:custGeom>
              <a:avLst/>
              <a:gdLst/>
              <a:ahLst/>
              <a:cxnLst/>
              <a:rect l="l" t="t" r="r" b="b"/>
              <a:pathLst>
                <a:path w="3952875" h="1028700">
                  <a:moveTo>
                    <a:pt x="3819524" y="1028699"/>
                  </a:moveTo>
                  <a:lnTo>
                    <a:pt x="133349" y="1028699"/>
                  </a:lnTo>
                  <a:lnTo>
                    <a:pt x="120212" y="1028065"/>
                  </a:lnTo>
                  <a:lnTo>
                    <a:pt x="82320" y="1018547"/>
                  </a:lnTo>
                  <a:lnTo>
                    <a:pt x="48793" y="998482"/>
                  </a:lnTo>
                  <a:lnTo>
                    <a:pt x="22451" y="969447"/>
                  </a:lnTo>
                  <a:lnTo>
                    <a:pt x="5709" y="934000"/>
                  </a:lnTo>
                  <a:lnTo>
                    <a:pt x="0" y="895349"/>
                  </a:lnTo>
                  <a:lnTo>
                    <a:pt x="0" y="133349"/>
                  </a:lnTo>
                  <a:lnTo>
                    <a:pt x="5709" y="94696"/>
                  </a:lnTo>
                  <a:lnTo>
                    <a:pt x="22451" y="59249"/>
                  </a:lnTo>
                  <a:lnTo>
                    <a:pt x="48793" y="30215"/>
                  </a:lnTo>
                  <a:lnTo>
                    <a:pt x="82317" y="10149"/>
                  </a:lnTo>
                  <a:lnTo>
                    <a:pt x="120212" y="634"/>
                  </a:lnTo>
                  <a:lnTo>
                    <a:pt x="133349" y="0"/>
                  </a:lnTo>
                  <a:lnTo>
                    <a:pt x="3819524" y="0"/>
                  </a:lnTo>
                  <a:lnTo>
                    <a:pt x="3832660" y="634"/>
                  </a:lnTo>
                  <a:lnTo>
                    <a:pt x="3845543" y="2537"/>
                  </a:lnTo>
                  <a:lnTo>
                    <a:pt x="3858175" y="5709"/>
                  </a:lnTo>
                  <a:lnTo>
                    <a:pt x="3868813" y="9525"/>
                  </a:lnTo>
                  <a:lnTo>
                    <a:pt x="125221" y="9525"/>
                  </a:lnTo>
                  <a:lnTo>
                    <a:pt x="117168" y="10317"/>
                  </a:lnTo>
                  <a:lnTo>
                    <a:pt x="78452" y="22061"/>
                  </a:lnTo>
                  <a:lnTo>
                    <a:pt x="40044" y="51541"/>
                  </a:lnTo>
                  <a:lnTo>
                    <a:pt x="15840" y="93476"/>
                  </a:lnTo>
                  <a:lnTo>
                    <a:pt x="9525" y="125221"/>
                  </a:lnTo>
                  <a:lnTo>
                    <a:pt x="9525" y="903479"/>
                  </a:lnTo>
                  <a:lnTo>
                    <a:pt x="22061" y="950247"/>
                  </a:lnTo>
                  <a:lnTo>
                    <a:pt x="51542" y="988655"/>
                  </a:lnTo>
                  <a:lnTo>
                    <a:pt x="93476" y="1012859"/>
                  </a:lnTo>
                  <a:lnTo>
                    <a:pt x="125221" y="1019175"/>
                  </a:lnTo>
                  <a:lnTo>
                    <a:pt x="3868804" y="1019175"/>
                  </a:lnTo>
                  <a:lnTo>
                    <a:pt x="3858175" y="1022989"/>
                  </a:lnTo>
                  <a:lnTo>
                    <a:pt x="3845543" y="1026162"/>
                  </a:lnTo>
                  <a:lnTo>
                    <a:pt x="3832660" y="1028065"/>
                  </a:lnTo>
                  <a:lnTo>
                    <a:pt x="3819524" y="1028699"/>
                  </a:lnTo>
                  <a:close/>
                </a:path>
                <a:path w="3952875" h="1028700">
                  <a:moveTo>
                    <a:pt x="3868804" y="1019175"/>
                  </a:moveTo>
                  <a:lnTo>
                    <a:pt x="3827654" y="1019175"/>
                  </a:lnTo>
                  <a:lnTo>
                    <a:pt x="3835707" y="1018382"/>
                  </a:lnTo>
                  <a:lnTo>
                    <a:pt x="3851657" y="1015209"/>
                  </a:lnTo>
                  <a:lnTo>
                    <a:pt x="3895079" y="993788"/>
                  </a:lnTo>
                  <a:lnTo>
                    <a:pt x="3926997" y="957383"/>
                  </a:lnTo>
                  <a:lnTo>
                    <a:pt x="3942557" y="911531"/>
                  </a:lnTo>
                  <a:lnTo>
                    <a:pt x="3943350" y="903479"/>
                  </a:lnTo>
                  <a:lnTo>
                    <a:pt x="3943350" y="125221"/>
                  </a:lnTo>
                  <a:lnTo>
                    <a:pt x="3930810" y="78452"/>
                  </a:lnTo>
                  <a:lnTo>
                    <a:pt x="3901333" y="40044"/>
                  </a:lnTo>
                  <a:lnTo>
                    <a:pt x="3859142" y="15762"/>
                  </a:lnTo>
                  <a:lnTo>
                    <a:pt x="3827654" y="9525"/>
                  </a:lnTo>
                  <a:lnTo>
                    <a:pt x="3868813" y="9525"/>
                  </a:lnTo>
                  <a:lnTo>
                    <a:pt x="3904079" y="30215"/>
                  </a:lnTo>
                  <a:lnTo>
                    <a:pt x="3930421" y="59249"/>
                  </a:lnTo>
                  <a:lnTo>
                    <a:pt x="3947164" y="94696"/>
                  </a:lnTo>
                  <a:lnTo>
                    <a:pt x="3952874" y="133349"/>
                  </a:lnTo>
                  <a:lnTo>
                    <a:pt x="3952874" y="895349"/>
                  </a:lnTo>
                  <a:lnTo>
                    <a:pt x="3947164" y="934000"/>
                  </a:lnTo>
                  <a:lnTo>
                    <a:pt x="3930421" y="969447"/>
                  </a:lnTo>
                  <a:lnTo>
                    <a:pt x="3904079" y="998482"/>
                  </a:lnTo>
                  <a:lnTo>
                    <a:pt x="3870554" y="1018547"/>
                  </a:lnTo>
                  <a:lnTo>
                    <a:pt x="3868804" y="1019175"/>
                  </a:lnTo>
                  <a:close/>
                </a:path>
              </a:pathLst>
            </a:custGeom>
            <a:solidFill>
              <a:srgbClr val="FFFFFF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1625807" y="6677601"/>
            <a:ext cx="3385593" cy="6559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93A2B8"/>
                </a:solidFill>
                <a:latin typeface="Century Gothic"/>
                <a:cs typeface="Century Gothic"/>
              </a:rPr>
              <a:t>TECN OLOG I A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ts val="1730"/>
              </a:lnSpc>
              <a:spcBef>
                <a:spcPts val="345"/>
              </a:spcBef>
            </a:pPr>
            <a:r>
              <a:rPr sz="1650" b="1" dirty="0">
                <a:solidFill>
                  <a:srgbClr val="38BCF8"/>
                </a:solidFill>
                <a:latin typeface="Century Gothic"/>
                <a:cs typeface="Century Gothic"/>
              </a:rPr>
              <a:t>Inteligência Artificial </a:t>
            </a:r>
            <a:r>
              <a:rPr sz="1650" b="1" dirty="0" err="1">
                <a:solidFill>
                  <a:srgbClr val="38BCF8"/>
                </a:solidFill>
                <a:latin typeface="Century Gothic"/>
                <a:cs typeface="Century Gothic"/>
              </a:rPr>
              <a:t>Preditiva</a:t>
            </a:r>
            <a:r>
              <a:rPr sz="1650" b="1" dirty="0">
                <a:solidFill>
                  <a:srgbClr val="38BCF8"/>
                </a:solidFill>
                <a:latin typeface="Century Gothic"/>
                <a:cs typeface="Century Gothic"/>
              </a:rPr>
              <a:t> </a:t>
            </a:r>
            <a:r>
              <a:rPr lang="pt-BR" sz="1650" b="1" dirty="0">
                <a:solidFill>
                  <a:srgbClr val="38BCF8"/>
                </a:solidFill>
                <a:latin typeface="Century Gothic"/>
                <a:cs typeface="Century Gothic"/>
              </a:rPr>
              <a:t>&amp; </a:t>
            </a:r>
            <a:r>
              <a:rPr sz="1650" b="1" dirty="0">
                <a:solidFill>
                  <a:srgbClr val="38BCF8"/>
                </a:solidFill>
                <a:latin typeface="Century Gothic"/>
                <a:cs typeface="Century Gothic"/>
              </a:rPr>
              <a:t>5 </a:t>
            </a:r>
            <a:r>
              <a:rPr sz="1650" b="1" dirty="0" err="1">
                <a:solidFill>
                  <a:srgbClr val="38BCF8"/>
                </a:solidFill>
                <a:latin typeface="Century Gothic"/>
                <a:cs typeface="Century Gothic"/>
              </a:rPr>
              <a:t>Nívei</a:t>
            </a:r>
            <a:r>
              <a:rPr lang="pt-BR" sz="1650" b="1" dirty="0">
                <a:solidFill>
                  <a:srgbClr val="38BCF8"/>
                </a:solidFill>
                <a:latin typeface="Century Gothic"/>
                <a:cs typeface="Century Gothic"/>
              </a:rPr>
              <a:t>s de potência</a:t>
            </a:r>
            <a:endParaRPr sz="1650" dirty="0">
              <a:latin typeface="Century Gothic"/>
              <a:cs typeface="Century Gothic"/>
            </a:endParaRPr>
          </a:p>
        </p:txBody>
      </p:sp>
      <p:sp>
        <p:nvSpPr>
          <p:cNvPr id="28" name="object 13" descr="$PPTXTitle">
            <a:extLst>
              <a:ext uri="{FF2B5EF4-FFF2-40B4-BE49-F238E27FC236}">
                <a16:creationId xmlns:a16="http://schemas.microsoft.com/office/drawing/2014/main" id="{F81DCB03-F4C5-479C-AB15-9A07774CBF3B}"/>
              </a:ext>
            </a:extLst>
          </p:cNvPr>
          <p:cNvSpPr txBox="1">
            <a:spLocks/>
          </p:cNvSpPr>
          <p:nvPr/>
        </p:nvSpPr>
        <p:spPr>
          <a:xfrm>
            <a:off x="5934227" y="4038561"/>
            <a:ext cx="6410019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spcBef>
                <a:spcPts val="110"/>
              </a:spcBef>
            </a:pPr>
            <a:r>
              <a:rPr lang="pt-BR" sz="4800" spc="-425" dirty="0">
                <a:solidFill>
                  <a:schemeClr val="tx1"/>
                </a:solidFill>
              </a:rPr>
              <a:t>VISÃO SIMPLES DIGITAL</a:t>
            </a:r>
            <a:endParaRPr lang="pt-BR" sz="4800" spc="-65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543" y="1837944"/>
            <a:ext cx="17202911" cy="7821167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809625" y="619125"/>
            <a:ext cx="2609850" cy="266700"/>
          </a:xfrm>
          <a:custGeom>
            <a:avLst/>
            <a:gdLst/>
            <a:ahLst/>
            <a:cxnLst/>
            <a:rect l="l" t="t" r="r" b="b"/>
            <a:pathLst>
              <a:path w="2609850" h="266700">
                <a:moveTo>
                  <a:pt x="247650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7"/>
                </a:lnTo>
                <a:lnTo>
                  <a:pt x="53908" y="240451"/>
                </a:lnTo>
                <a:lnTo>
                  <a:pt x="26243" y="212791"/>
                </a:lnTo>
                <a:lnTo>
                  <a:pt x="7792" y="178263"/>
                </a:lnTo>
                <a:lnTo>
                  <a:pt x="160" y="139900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32"/>
                </a:lnTo>
                <a:lnTo>
                  <a:pt x="26243" y="53907"/>
                </a:lnTo>
                <a:lnTo>
                  <a:pt x="53908" y="26243"/>
                </a:lnTo>
                <a:lnTo>
                  <a:pt x="88432" y="7788"/>
                </a:lnTo>
                <a:lnTo>
                  <a:pt x="126799" y="160"/>
                </a:lnTo>
                <a:lnTo>
                  <a:pt x="133350" y="0"/>
                </a:lnTo>
                <a:lnTo>
                  <a:pt x="2476500" y="0"/>
                </a:lnTo>
                <a:lnTo>
                  <a:pt x="2515209" y="5738"/>
                </a:lnTo>
                <a:lnTo>
                  <a:pt x="2550585" y="22469"/>
                </a:lnTo>
                <a:lnTo>
                  <a:pt x="2579580" y="48751"/>
                </a:lnTo>
                <a:lnTo>
                  <a:pt x="2599696" y="82315"/>
                </a:lnTo>
                <a:lnTo>
                  <a:pt x="2609208" y="120279"/>
                </a:lnTo>
                <a:lnTo>
                  <a:pt x="2609850" y="133350"/>
                </a:lnTo>
                <a:lnTo>
                  <a:pt x="2609689" y="139900"/>
                </a:lnTo>
                <a:lnTo>
                  <a:pt x="2602057" y="178263"/>
                </a:lnTo>
                <a:lnTo>
                  <a:pt x="2583605" y="212791"/>
                </a:lnTo>
                <a:lnTo>
                  <a:pt x="2555941" y="240451"/>
                </a:lnTo>
                <a:lnTo>
                  <a:pt x="2521417" y="258907"/>
                </a:lnTo>
                <a:lnTo>
                  <a:pt x="2483050" y="266539"/>
                </a:lnTo>
                <a:lnTo>
                  <a:pt x="247650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22325" y="633288"/>
            <a:ext cx="260985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 1: O CH OQUE D E R E ALI D AD E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101758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O Ponto Cego do Balcão em 2026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Por que entregar uma "lente comum" é deixar dinheiro na mesa e negligenciar a dor do seu cliente.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543" y="1875790"/>
            <a:ext cx="9516110" cy="3039110"/>
          </a:xfrm>
          <a:custGeom>
            <a:avLst/>
            <a:gdLst/>
            <a:ahLst/>
            <a:cxnLst/>
            <a:rect l="l" t="t" r="r" b="b"/>
            <a:pathLst>
              <a:path w="9516110" h="3039110">
                <a:moveTo>
                  <a:pt x="9515855" y="3038855"/>
                </a:moveTo>
                <a:lnTo>
                  <a:pt x="0" y="3038855"/>
                </a:lnTo>
                <a:lnTo>
                  <a:pt x="0" y="0"/>
                </a:lnTo>
                <a:lnTo>
                  <a:pt x="9515855" y="0"/>
                </a:lnTo>
                <a:lnTo>
                  <a:pt x="9515855" y="228980"/>
                </a:lnTo>
                <a:lnTo>
                  <a:pt x="419480" y="228980"/>
                </a:lnTo>
                <a:lnTo>
                  <a:pt x="404468" y="229706"/>
                </a:lnTo>
                <a:lnTo>
                  <a:pt x="361160" y="240581"/>
                </a:lnTo>
                <a:lnTo>
                  <a:pt x="322846" y="263514"/>
                </a:lnTo>
                <a:lnTo>
                  <a:pt x="292740" y="296696"/>
                </a:lnTo>
                <a:lnTo>
                  <a:pt x="273606" y="337207"/>
                </a:lnTo>
                <a:lnTo>
                  <a:pt x="267080" y="381380"/>
                </a:lnTo>
                <a:lnTo>
                  <a:pt x="267080" y="2581655"/>
                </a:lnTo>
                <a:lnTo>
                  <a:pt x="273606" y="2625828"/>
                </a:lnTo>
                <a:lnTo>
                  <a:pt x="292740" y="2666340"/>
                </a:lnTo>
                <a:lnTo>
                  <a:pt x="322846" y="2699521"/>
                </a:lnTo>
                <a:lnTo>
                  <a:pt x="361160" y="2722455"/>
                </a:lnTo>
                <a:lnTo>
                  <a:pt x="404468" y="2733330"/>
                </a:lnTo>
                <a:lnTo>
                  <a:pt x="419480" y="2734055"/>
                </a:lnTo>
                <a:lnTo>
                  <a:pt x="9515855" y="2734055"/>
                </a:lnTo>
                <a:lnTo>
                  <a:pt x="9515855" y="3038855"/>
                </a:lnTo>
                <a:close/>
              </a:path>
              <a:path w="9516110" h="3039110">
                <a:moveTo>
                  <a:pt x="9515855" y="2734055"/>
                </a:moveTo>
                <a:lnTo>
                  <a:pt x="9096755" y="2734055"/>
                </a:lnTo>
                <a:lnTo>
                  <a:pt x="9111767" y="2733330"/>
                </a:lnTo>
                <a:lnTo>
                  <a:pt x="9126492" y="2731155"/>
                </a:lnTo>
                <a:lnTo>
                  <a:pt x="9168669" y="2716039"/>
                </a:lnTo>
                <a:lnTo>
                  <a:pt x="9204517" y="2689417"/>
                </a:lnTo>
                <a:lnTo>
                  <a:pt x="9231138" y="2653569"/>
                </a:lnTo>
                <a:lnTo>
                  <a:pt x="9246255" y="2611392"/>
                </a:lnTo>
                <a:lnTo>
                  <a:pt x="9249155" y="2581655"/>
                </a:lnTo>
                <a:lnTo>
                  <a:pt x="9249155" y="381380"/>
                </a:lnTo>
                <a:lnTo>
                  <a:pt x="9242629" y="337207"/>
                </a:lnTo>
                <a:lnTo>
                  <a:pt x="9223493" y="296696"/>
                </a:lnTo>
                <a:lnTo>
                  <a:pt x="9193390" y="263514"/>
                </a:lnTo>
                <a:lnTo>
                  <a:pt x="9155076" y="240581"/>
                </a:lnTo>
                <a:lnTo>
                  <a:pt x="9111767" y="229706"/>
                </a:lnTo>
                <a:lnTo>
                  <a:pt x="9096755" y="228980"/>
                </a:lnTo>
                <a:lnTo>
                  <a:pt x="9515855" y="228980"/>
                </a:lnTo>
                <a:lnTo>
                  <a:pt x="9515855" y="2734055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150" y="2114296"/>
            <a:ext cx="8963025" cy="24860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14387" y="2109533"/>
            <a:ext cx="8972550" cy="2495550"/>
          </a:xfrm>
          <a:custGeom>
            <a:avLst/>
            <a:gdLst/>
            <a:ahLst/>
            <a:cxnLst/>
            <a:rect l="l" t="t" r="r" b="b"/>
            <a:pathLst>
              <a:path w="8972550" h="2495550">
                <a:moveTo>
                  <a:pt x="0" y="2347912"/>
                </a:moveTo>
                <a:lnTo>
                  <a:pt x="0" y="147637"/>
                </a:lnTo>
                <a:lnTo>
                  <a:pt x="176" y="140383"/>
                </a:lnTo>
                <a:lnTo>
                  <a:pt x="8624" y="97907"/>
                </a:lnTo>
                <a:lnTo>
                  <a:pt x="29058" y="59677"/>
                </a:lnTo>
                <a:lnTo>
                  <a:pt x="59681" y="29054"/>
                </a:lnTo>
                <a:lnTo>
                  <a:pt x="97907" y="8624"/>
                </a:lnTo>
                <a:lnTo>
                  <a:pt x="140383" y="176"/>
                </a:lnTo>
                <a:lnTo>
                  <a:pt x="147637" y="0"/>
                </a:lnTo>
                <a:lnTo>
                  <a:pt x="8824912" y="0"/>
                </a:lnTo>
                <a:lnTo>
                  <a:pt x="8867767" y="6353"/>
                </a:lnTo>
                <a:lnTo>
                  <a:pt x="8906932" y="24879"/>
                </a:lnTo>
                <a:lnTo>
                  <a:pt x="8939038" y="53973"/>
                </a:lnTo>
                <a:lnTo>
                  <a:pt x="8961310" y="91135"/>
                </a:lnTo>
                <a:lnTo>
                  <a:pt x="8971841" y="133164"/>
                </a:lnTo>
                <a:lnTo>
                  <a:pt x="8972550" y="147637"/>
                </a:lnTo>
                <a:lnTo>
                  <a:pt x="8972550" y="2347912"/>
                </a:lnTo>
                <a:lnTo>
                  <a:pt x="8966196" y="2390767"/>
                </a:lnTo>
                <a:lnTo>
                  <a:pt x="8947670" y="2429932"/>
                </a:lnTo>
                <a:lnTo>
                  <a:pt x="8918569" y="2462038"/>
                </a:lnTo>
                <a:lnTo>
                  <a:pt x="8881405" y="2484310"/>
                </a:lnTo>
                <a:lnTo>
                  <a:pt x="8839385" y="2494841"/>
                </a:lnTo>
                <a:lnTo>
                  <a:pt x="8824912" y="2495550"/>
                </a:lnTo>
                <a:lnTo>
                  <a:pt x="147637" y="2495550"/>
                </a:lnTo>
                <a:lnTo>
                  <a:pt x="104780" y="2489189"/>
                </a:lnTo>
                <a:lnTo>
                  <a:pt x="65617" y="2470670"/>
                </a:lnTo>
                <a:lnTo>
                  <a:pt x="33511" y="2441569"/>
                </a:lnTo>
                <a:lnTo>
                  <a:pt x="11239" y="2404405"/>
                </a:lnTo>
                <a:lnTo>
                  <a:pt x="708" y="2362385"/>
                </a:lnTo>
                <a:lnTo>
                  <a:pt x="0" y="2347912"/>
                </a:lnTo>
                <a:close/>
              </a:path>
            </a:pathLst>
          </a:custGeom>
          <a:ln w="9525">
            <a:solidFill>
              <a:srgbClr val="F8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03096" y="2199005"/>
            <a:ext cx="232410" cy="201295"/>
          </a:xfrm>
          <a:custGeom>
            <a:avLst/>
            <a:gdLst/>
            <a:ahLst/>
            <a:cxnLst/>
            <a:rect l="l" t="t" r="r" b="b"/>
            <a:pathLst>
              <a:path w="232409" h="201294">
                <a:moveTo>
                  <a:pt x="97101" y="10701"/>
                </a:moveTo>
                <a:lnTo>
                  <a:pt x="2978" y="167832"/>
                </a:lnTo>
                <a:lnTo>
                  <a:pt x="2011" y="169510"/>
                </a:lnTo>
                <a:lnTo>
                  <a:pt x="1266" y="171288"/>
                </a:lnTo>
                <a:lnTo>
                  <a:pt x="766" y="173166"/>
                </a:lnTo>
                <a:lnTo>
                  <a:pt x="255" y="175032"/>
                </a:lnTo>
                <a:lnTo>
                  <a:pt x="0" y="176944"/>
                </a:lnTo>
                <a:lnTo>
                  <a:pt x="0" y="178889"/>
                </a:lnTo>
                <a:lnTo>
                  <a:pt x="0" y="180822"/>
                </a:lnTo>
                <a:lnTo>
                  <a:pt x="16268" y="200358"/>
                </a:lnTo>
                <a:lnTo>
                  <a:pt x="18135" y="200880"/>
                </a:lnTo>
                <a:lnTo>
                  <a:pt x="20035" y="201147"/>
                </a:lnTo>
                <a:lnTo>
                  <a:pt x="21980" y="201169"/>
                </a:lnTo>
                <a:lnTo>
                  <a:pt x="210226" y="201169"/>
                </a:lnTo>
                <a:lnTo>
                  <a:pt x="212170" y="201147"/>
                </a:lnTo>
                <a:lnTo>
                  <a:pt x="214071" y="200880"/>
                </a:lnTo>
                <a:lnTo>
                  <a:pt x="215938" y="200358"/>
                </a:lnTo>
                <a:lnTo>
                  <a:pt x="217804" y="199836"/>
                </a:lnTo>
                <a:lnTo>
                  <a:pt x="231473" y="184611"/>
                </a:lnTo>
                <a:lnTo>
                  <a:pt x="231973" y="182733"/>
                </a:lnTo>
                <a:lnTo>
                  <a:pt x="232206" y="180822"/>
                </a:lnTo>
                <a:lnTo>
                  <a:pt x="232206" y="178889"/>
                </a:lnTo>
                <a:lnTo>
                  <a:pt x="232206" y="176944"/>
                </a:lnTo>
                <a:lnTo>
                  <a:pt x="231951" y="175032"/>
                </a:lnTo>
                <a:lnTo>
                  <a:pt x="231440" y="173166"/>
                </a:lnTo>
                <a:lnTo>
                  <a:pt x="230939" y="171288"/>
                </a:lnTo>
                <a:lnTo>
                  <a:pt x="135105" y="10701"/>
                </a:lnTo>
                <a:lnTo>
                  <a:pt x="121737" y="733"/>
                </a:lnTo>
                <a:lnTo>
                  <a:pt x="119892" y="244"/>
                </a:lnTo>
                <a:lnTo>
                  <a:pt x="118014" y="0"/>
                </a:lnTo>
                <a:lnTo>
                  <a:pt x="116103" y="0"/>
                </a:lnTo>
                <a:lnTo>
                  <a:pt x="114192" y="0"/>
                </a:lnTo>
                <a:lnTo>
                  <a:pt x="112314" y="244"/>
                </a:lnTo>
                <a:lnTo>
                  <a:pt x="110469" y="733"/>
                </a:lnTo>
                <a:lnTo>
                  <a:pt x="108624" y="1211"/>
                </a:lnTo>
                <a:lnTo>
                  <a:pt x="98090" y="9067"/>
                </a:lnTo>
                <a:lnTo>
                  <a:pt x="97101" y="10701"/>
                </a:lnTo>
                <a:close/>
              </a:path>
            </a:pathLst>
          </a:custGeom>
          <a:ln w="22225">
            <a:solidFill>
              <a:srgbClr val="EE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200" y="2266825"/>
            <a:ext cx="0" cy="44450"/>
          </a:xfrm>
          <a:custGeom>
            <a:avLst/>
            <a:gdLst/>
            <a:ahLst/>
            <a:cxnLst/>
            <a:rect l="l" t="t" r="r" b="b"/>
            <a:pathLst>
              <a:path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ln w="22225">
            <a:solidFill>
              <a:srgbClr val="EE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19200" y="2355725"/>
            <a:ext cx="635" cy="0"/>
          </a:xfrm>
          <a:custGeom>
            <a:avLst/>
            <a:gdLst/>
            <a:ahLst/>
            <a:cxnLst/>
            <a:rect l="l" t="t" r="r" b="b"/>
            <a:pathLst>
              <a:path w="634">
                <a:moveTo>
                  <a:pt x="0" y="0"/>
                </a:moveTo>
                <a:lnTo>
                  <a:pt x="111" y="0"/>
                </a:lnTo>
              </a:path>
            </a:pathLst>
          </a:custGeom>
          <a:ln w="22225">
            <a:solidFill>
              <a:srgbClr val="EE44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4900" y="3390646"/>
            <a:ext cx="8410575" cy="942975"/>
          </a:xfrm>
          <a:custGeom>
            <a:avLst/>
            <a:gdLst/>
            <a:ahLst/>
            <a:cxnLst/>
            <a:rect l="l" t="t" r="r" b="b"/>
            <a:pathLst>
              <a:path w="8410575" h="942975">
                <a:moveTo>
                  <a:pt x="8303780" y="942975"/>
                </a:moveTo>
                <a:lnTo>
                  <a:pt x="0" y="942975"/>
                </a:lnTo>
                <a:lnTo>
                  <a:pt x="0" y="0"/>
                </a:lnTo>
                <a:lnTo>
                  <a:pt x="8303780" y="0"/>
                </a:lnTo>
                <a:lnTo>
                  <a:pt x="8311210" y="733"/>
                </a:lnTo>
                <a:lnTo>
                  <a:pt x="8353539" y="15087"/>
                </a:lnTo>
                <a:lnTo>
                  <a:pt x="8387143" y="44557"/>
                </a:lnTo>
                <a:lnTo>
                  <a:pt x="8406917" y="84639"/>
                </a:lnTo>
                <a:lnTo>
                  <a:pt x="8410575" y="106794"/>
                </a:lnTo>
                <a:lnTo>
                  <a:pt x="8410575" y="836180"/>
                </a:lnTo>
                <a:lnTo>
                  <a:pt x="8399002" y="879347"/>
                </a:lnTo>
                <a:lnTo>
                  <a:pt x="8371789" y="914800"/>
                </a:lnTo>
                <a:lnTo>
                  <a:pt x="8333079" y="937145"/>
                </a:lnTo>
                <a:lnTo>
                  <a:pt x="8303780" y="942975"/>
                </a:lnTo>
                <a:close/>
              </a:path>
            </a:pathLst>
          </a:custGeom>
          <a:solidFill>
            <a:srgbClr val="FD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85850" y="3390646"/>
            <a:ext cx="38100" cy="942975"/>
          </a:xfrm>
          <a:custGeom>
            <a:avLst/>
            <a:gdLst/>
            <a:ahLst/>
            <a:cxnLst/>
            <a:rect l="l" t="t" r="r" b="b"/>
            <a:pathLst>
              <a:path w="38100" h="942975">
                <a:moveTo>
                  <a:pt x="38100" y="942975"/>
                </a:moveTo>
                <a:lnTo>
                  <a:pt x="0" y="942975"/>
                </a:lnTo>
                <a:lnTo>
                  <a:pt x="0" y="0"/>
                </a:lnTo>
                <a:lnTo>
                  <a:pt x="38100" y="0"/>
                </a:lnTo>
                <a:lnTo>
                  <a:pt x="38100" y="942975"/>
                </a:lnTo>
                <a:close/>
              </a:path>
            </a:pathLst>
          </a:custGeom>
          <a:solidFill>
            <a:srgbClr val="EE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73150" y="2186448"/>
            <a:ext cx="8718550" cy="108260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14"/>
              </a:spcBef>
            </a:pPr>
            <a:r>
              <a:rPr sz="1400" b="1" dirty="0">
                <a:solidFill>
                  <a:srgbClr val="EE4444"/>
                </a:solidFill>
                <a:latin typeface="Arial"/>
                <a:cs typeface="Arial"/>
              </a:rPr>
              <a:t>O Hábito Vicioso da "Lente Comum"</a:t>
            </a:r>
            <a:endParaRPr sz="1400" dirty="0">
              <a:latin typeface="Arial"/>
              <a:cs typeface="Arial"/>
            </a:endParaRPr>
          </a:p>
          <a:p>
            <a:pPr marL="12700" marR="295275">
              <a:lnSpc>
                <a:spcPct val="115700"/>
              </a:lnSpc>
              <a:spcBef>
                <a:spcPts val="819"/>
              </a:spcBef>
            </a:pPr>
            <a:r>
              <a:rPr sz="1400" dirty="0">
                <a:solidFill>
                  <a:srgbClr val="334154"/>
                </a:solidFill>
                <a:latin typeface="Century Gothic"/>
                <a:cs typeface="Century Gothic"/>
              </a:rPr>
              <a:t>Quando o cliente entrega uma receita de visão simples (Miopia, Hipermetropia ou Astigmatismo), 90% dos vendedores perguntam apenas: </a:t>
            </a:r>
            <a:r>
              <a:rPr sz="1400" i="1" dirty="0">
                <a:solidFill>
                  <a:srgbClr val="334154"/>
                </a:solidFill>
                <a:latin typeface="Century Gothic"/>
                <a:cs typeface="Century Gothic"/>
              </a:rPr>
              <a:t>"Quer antirreflexo?" </a:t>
            </a:r>
            <a:r>
              <a:rPr sz="1400" dirty="0">
                <a:solidFill>
                  <a:srgbClr val="334154"/>
                </a:solidFill>
                <a:latin typeface="Century Gothic"/>
                <a:cs typeface="Century Gothic"/>
              </a:rPr>
              <a:t>e vendem uma lente de estoque </a:t>
            </a:r>
            <a:r>
              <a:rPr sz="1400" dirty="0" err="1">
                <a:solidFill>
                  <a:srgbClr val="334154"/>
                </a:solidFill>
                <a:latin typeface="Century Gothic"/>
                <a:cs typeface="Century Gothic"/>
              </a:rPr>
              <a:t>pronta</a:t>
            </a:r>
            <a:r>
              <a:rPr sz="1400" dirty="0">
                <a:solidFill>
                  <a:srgbClr val="334154"/>
                </a:solidFill>
                <a:latin typeface="Century Gothic"/>
                <a:cs typeface="Century Gothic"/>
              </a:rPr>
              <a:t>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16000" y="7732477"/>
            <a:ext cx="3560445" cy="1439497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4300" b="1" dirty="0">
                <a:solidFill>
                  <a:srgbClr val="0284C6"/>
                </a:solidFill>
                <a:latin typeface="Century Gothic"/>
                <a:cs typeface="Century Gothic"/>
              </a:rPr>
              <a:t>9.3h</a:t>
            </a:r>
            <a:endParaRPr sz="43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50" b="1" dirty="0">
                <a:solidFill>
                  <a:srgbClr val="63748A"/>
                </a:solidFill>
                <a:latin typeface="Century Gothic"/>
                <a:cs typeface="Century Gothic"/>
              </a:rPr>
              <a:t>TEMPO MÉDIO DIÁRIO EM TELAS</a:t>
            </a:r>
            <a:endParaRPr sz="1250" dirty="0">
              <a:latin typeface="Century Gothic"/>
              <a:cs typeface="Century Gothic"/>
            </a:endParaRPr>
          </a:p>
          <a:p>
            <a:pPr marL="12700" marR="5080">
              <a:lnSpc>
                <a:spcPts val="1350"/>
              </a:lnSpc>
              <a:spcBef>
                <a:spcPts val="470"/>
              </a:spcBef>
            </a:pP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Alternância contínua entre smartphone, notebook e telas corporativas.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51102" y="7732477"/>
            <a:ext cx="3894454" cy="1439497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4300" b="1" dirty="0">
                <a:solidFill>
                  <a:srgbClr val="EE4444"/>
                </a:solidFill>
                <a:latin typeface="Century Gothic"/>
                <a:cs typeface="Century Gothic"/>
              </a:rPr>
              <a:t>78%</a:t>
            </a:r>
            <a:endParaRPr sz="43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250" b="1" dirty="0">
                <a:solidFill>
                  <a:srgbClr val="63748A"/>
                </a:solidFill>
                <a:latin typeface="Century Gothic"/>
                <a:cs typeface="Century Gothic"/>
              </a:rPr>
              <a:t>SOFREM DE ASTENOPIA DIGITAL</a:t>
            </a:r>
            <a:endParaRPr sz="1250" dirty="0">
              <a:latin typeface="Century Gothic"/>
              <a:cs typeface="Century Gothic"/>
            </a:endParaRPr>
          </a:p>
          <a:p>
            <a:pPr marL="12700" marR="5080">
              <a:lnSpc>
                <a:spcPts val="1350"/>
              </a:lnSpc>
              <a:spcBef>
                <a:spcPts val="470"/>
              </a:spcBef>
            </a:pP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Queixam-se de ardência, dores de cabeça e cansaço visual ao fim da tarde.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81456" y="2263102"/>
            <a:ext cx="2953544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A OPOR TUN I D AD E D E OUR O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81455" y="2559137"/>
            <a:ext cx="6780529" cy="698268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245"/>
              </a:spcBef>
            </a:pPr>
            <a:r>
              <a:rPr sz="2250" b="1" dirty="0">
                <a:solidFill>
                  <a:srgbClr val="FFFFFF"/>
                </a:solidFill>
                <a:latin typeface="Arial"/>
                <a:cs typeface="Arial"/>
              </a:rPr>
              <a:t>Você não vende apenas grau. Você vende alívio e produtividade.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81455" y="3390646"/>
            <a:ext cx="6780530" cy="7493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60"/>
              </a:spcBef>
            </a:pPr>
            <a:r>
              <a:rPr sz="1350" dirty="0">
                <a:solidFill>
                  <a:srgbClr val="93A2B8"/>
                </a:solidFill>
                <a:latin typeface="Gotham Book" panose="02000604040000020004" pitchFamily="50" charset="0"/>
                <a:cs typeface="Century Gothic"/>
              </a:rPr>
              <a:t>O cliente não sabe que existe uma lente desenhada especificamente para descansar os olhos dele no celular. Quando você apresenta essa solução, você deixa de ser um "tirador de pedido" e se torna um </a:t>
            </a:r>
            <a:r>
              <a:rPr sz="1350" b="1" dirty="0">
                <a:solidFill>
                  <a:srgbClr val="93A2B8"/>
                </a:solidFill>
                <a:latin typeface="Gotham Book" panose="02000604040000020004" pitchFamily="50" charset="0"/>
                <a:cs typeface="Arial"/>
              </a:rPr>
              <a:t>Consultor Especialista</a:t>
            </a:r>
            <a:r>
              <a:rPr sz="1350" dirty="0">
                <a:solidFill>
                  <a:srgbClr val="93A2B8"/>
                </a:solidFill>
                <a:latin typeface="Gotham Book" panose="02000604040000020004" pitchFamily="50" charset="0"/>
                <a:cs typeface="Century Gothic"/>
              </a:rPr>
              <a:t>.</a:t>
            </a:r>
            <a:endParaRPr sz="1350" dirty="0">
              <a:latin typeface="Gotham Book" panose="02000604040000020004" pitchFamily="50" charset="0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00531" y="8091159"/>
            <a:ext cx="6380480" cy="77724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350" b="1" dirty="0">
                <a:solidFill>
                  <a:srgbClr val="38BCF8"/>
                </a:solidFill>
                <a:latin typeface="Century Gothic"/>
                <a:cs typeface="Century Gothic"/>
              </a:rPr>
              <a:t>A Pergunta que Transforma a Venda:</a:t>
            </a:r>
            <a:endParaRPr sz="1350" dirty="0">
              <a:latin typeface="Century Gothic"/>
              <a:cs typeface="Century Gothic"/>
            </a:endParaRPr>
          </a:p>
          <a:p>
            <a:pPr marL="12700" marR="5080">
              <a:lnSpc>
                <a:spcPct val="106500"/>
              </a:lnSpc>
              <a:spcBef>
                <a:spcPts val="375"/>
              </a:spcBef>
            </a:pPr>
            <a:r>
              <a:rPr sz="1350" dirty="0">
                <a:solidFill>
                  <a:srgbClr val="E1E8EF"/>
                </a:solidFill>
                <a:latin typeface="Century Gothic"/>
                <a:cs typeface="Century Gothic"/>
              </a:rPr>
              <a:t>"O senhor usa computador ou celular no trabalho? Ao final do dia, sente os olhos pesados ou aquela dorzinha de cabeça chata?"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96925" y="9491251"/>
            <a:ext cx="36226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1 • O Choque de Realidade no Balcão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D4DE9B9-F811-4D34-B189-1B3A61DA9332}"/>
              </a:ext>
            </a:extLst>
          </p:cNvPr>
          <p:cNvSpPr/>
          <p:nvPr/>
        </p:nvSpPr>
        <p:spPr>
          <a:xfrm>
            <a:off x="1016000" y="3409233"/>
            <a:ext cx="8067945" cy="975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1300" marR="5080">
              <a:lnSpc>
                <a:spcPct val="104200"/>
              </a:lnSpc>
            </a:pPr>
            <a:r>
              <a:rPr lang="pt-BR" sz="1400" b="1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O Erro Fatal: </a:t>
            </a:r>
            <a:r>
              <a:rPr lang="pt-BR" sz="1400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A receita oftalmológica foi calculada para enxergar no </a:t>
            </a:r>
            <a:r>
              <a:rPr lang="pt-BR" sz="1400" b="1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infinito (&gt; 6 metros)</a:t>
            </a:r>
            <a:r>
              <a:rPr lang="pt-BR" sz="1400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. Mas seu cliente passa </a:t>
            </a:r>
            <a:r>
              <a:rPr lang="pt-BR" sz="1400" b="1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10 horas por dia a 35 centímetros </a:t>
            </a:r>
            <a:r>
              <a:rPr lang="pt-BR" sz="1400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nas telas. Ele sai da loja com a visão nítida para longe, mas com os olhos sobrecarregados para o trabalho.</a:t>
            </a:r>
            <a:endParaRPr lang="pt-BR" sz="1400" dirty="0">
              <a:latin typeface="Gotham Book" panose="02000604040000020004" pitchFamily="50" charset="0"/>
              <a:cs typeface="Arial"/>
            </a:endParaRPr>
          </a:p>
        </p:txBody>
      </p:sp>
      <p:grpSp>
        <p:nvGrpSpPr>
          <p:cNvPr id="26" name="object 3">
            <a:extLst>
              <a:ext uri="{FF2B5EF4-FFF2-40B4-BE49-F238E27FC236}">
                <a16:creationId xmlns:a16="http://schemas.microsoft.com/office/drawing/2014/main" id="{A916415A-4D76-4C21-A388-C9723F557BC6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89114517-1D4A-40F6-992F-AAC4E08BD40D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5">
              <a:extLst>
                <a:ext uri="{FF2B5EF4-FFF2-40B4-BE49-F238E27FC236}">
                  <a16:creationId xmlns:a16="http://schemas.microsoft.com/office/drawing/2014/main" id="{B915AB66-1569-400D-AE07-FD06839B8AD1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6">
            <a:extLst>
              <a:ext uri="{FF2B5EF4-FFF2-40B4-BE49-F238E27FC236}">
                <a16:creationId xmlns:a16="http://schemas.microsoft.com/office/drawing/2014/main" id="{1637AC52-3A03-4F8F-8E93-A6868689F2EF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3276600" cy="266700"/>
          </a:xfrm>
          <a:custGeom>
            <a:avLst/>
            <a:gdLst/>
            <a:ahLst/>
            <a:cxnLst/>
            <a:rect l="l" t="t" r="r" b="b"/>
            <a:pathLst>
              <a:path w="3276600" h="266700">
                <a:moveTo>
                  <a:pt x="314325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5"/>
                </a:lnTo>
                <a:lnTo>
                  <a:pt x="53908" y="240451"/>
                </a:lnTo>
                <a:lnTo>
                  <a:pt x="26243" y="212791"/>
                </a:lnTo>
                <a:lnTo>
                  <a:pt x="7792" y="178263"/>
                </a:lnTo>
                <a:lnTo>
                  <a:pt x="160" y="139900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28"/>
                </a:lnTo>
                <a:lnTo>
                  <a:pt x="26243" y="53903"/>
                </a:lnTo>
                <a:lnTo>
                  <a:pt x="53908" y="26243"/>
                </a:lnTo>
                <a:lnTo>
                  <a:pt x="88432" y="7788"/>
                </a:lnTo>
                <a:lnTo>
                  <a:pt x="126799" y="160"/>
                </a:lnTo>
                <a:lnTo>
                  <a:pt x="133350" y="0"/>
                </a:lnTo>
                <a:lnTo>
                  <a:pt x="3143250" y="0"/>
                </a:lnTo>
                <a:lnTo>
                  <a:pt x="3181959" y="5738"/>
                </a:lnTo>
                <a:lnTo>
                  <a:pt x="3217335" y="22469"/>
                </a:lnTo>
                <a:lnTo>
                  <a:pt x="3246330" y="48747"/>
                </a:lnTo>
                <a:lnTo>
                  <a:pt x="3266446" y="82315"/>
                </a:lnTo>
                <a:lnTo>
                  <a:pt x="3275958" y="120279"/>
                </a:lnTo>
                <a:lnTo>
                  <a:pt x="3276600" y="133350"/>
                </a:lnTo>
                <a:lnTo>
                  <a:pt x="3276439" y="139900"/>
                </a:lnTo>
                <a:lnTo>
                  <a:pt x="3268807" y="178263"/>
                </a:lnTo>
                <a:lnTo>
                  <a:pt x="3250355" y="212791"/>
                </a:lnTo>
                <a:lnTo>
                  <a:pt x="3222691" y="240451"/>
                </a:lnTo>
                <a:lnTo>
                  <a:pt x="3188167" y="258905"/>
                </a:lnTo>
                <a:lnTo>
                  <a:pt x="3149800" y="266539"/>
                </a:lnTo>
                <a:lnTo>
                  <a:pt x="314325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98831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-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1:</a:t>
            </a:r>
            <a:r>
              <a:rPr sz="1100" b="1" spc="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35" dirty="0">
                <a:solidFill>
                  <a:srgbClr val="0284C6"/>
                </a:solidFill>
                <a:latin typeface="Century Gothic"/>
                <a:cs typeface="Century Gothic"/>
              </a:rPr>
              <a:t>CI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Ê</a:t>
            </a:r>
            <a:r>
              <a:rPr sz="1100" b="1" spc="-20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95" dirty="0">
                <a:solidFill>
                  <a:srgbClr val="0284C6"/>
                </a:solidFill>
                <a:latin typeface="Century Gothic"/>
                <a:cs typeface="Century Gothic"/>
              </a:rPr>
              <a:t>N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35" dirty="0">
                <a:solidFill>
                  <a:srgbClr val="0284C6"/>
                </a:solidFill>
                <a:latin typeface="Century Gothic"/>
                <a:cs typeface="Century Gothic"/>
              </a:rPr>
              <a:t>CI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30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100" b="1" spc="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OCULAR</a:t>
            </a:r>
            <a:r>
              <a:rPr sz="1100" b="1" spc="6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20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0" dirty="0">
                <a:solidFill>
                  <a:srgbClr val="0284C6"/>
                </a:solidFill>
                <a:latin typeface="Century Gothic"/>
                <a:cs typeface="Century Gothic"/>
              </a:rPr>
              <a:t>SCOM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50" dirty="0">
                <a:solidFill>
                  <a:srgbClr val="0284C6"/>
                </a:solidFill>
                <a:latin typeface="Century Gothic"/>
                <a:cs typeface="Century Gothic"/>
              </a:rPr>
              <a:t>PLI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5" dirty="0">
                <a:solidFill>
                  <a:srgbClr val="0284C6"/>
                </a:solidFill>
                <a:latin typeface="Century Gothic"/>
                <a:cs typeface="Century Gothic"/>
              </a:rPr>
              <a:t>CAD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75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4" y="768592"/>
            <a:ext cx="10972799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A Fisiologia da Fadiga: O Músculo Ciliar sob Ataque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explicar de forma simples e irresistível o porquê de os olhos arderem e cansarem nas telas.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542" y="1837944"/>
            <a:ext cx="9499775" cy="2344420"/>
          </a:xfrm>
          <a:custGeom>
            <a:avLst/>
            <a:gdLst/>
            <a:ahLst/>
            <a:cxnLst/>
            <a:rect l="l" t="t" r="r" b="b"/>
            <a:pathLst>
              <a:path w="9516110" h="2420620">
                <a:moveTo>
                  <a:pt x="9515855" y="2420111"/>
                </a:moveTo>
                <a:lnTo>
                  <a:pt x="0" y="2420111"/>
                </a:lnTo>
                <a:lnTo>
                  <a:pt x="0" y="0"/>
                </a:lnTo>
                <a:lnTo>
                  <a:pt x="9515855" y="0"/>
                </a:lnTo>
                <a:lnTo>
                  <a:pt x="9515855" y="238505"/>
                </a:lnTo>
                <a:lnTo>
                  <a:pt x="419480" y="238505"/>
                </a:lnTo>
                <a:lnTo>
                  <a:pt x="405406" y="239185"/>
                </a:lnTo>
                <a:lnTo>
                  <a:pt x="364805" y="249381"/>
                </a:lnTo>
                <a:lnTo>
                  <a:pt x="328885" y="270881"/>
                </a:lnTo>
                <a:lnTo>
                  <a:pt x="300662" y="301989"/>
                </a:lnTo>
                <a:lnTo>
                  <a:pt x="282722" y="339969"/>
                </a:lnTo>
                <a:lnTo>
                  <a:pt x="276605" y="381380"/>
                </a:lnTo>
                <a:lnTo>
                  <a:pt x="276605" y="1962530"/>
                </a:lnTo>
                <a:lnTo>
                  <a:pt x="282722" y="2003942"/>
                </a:lnTo>
                <a:lnTo>
                  <a:pt x="300662" y="2041922"/>
                </a:lnTo>
                <a:lnTo>
                  <a:pt x="328885" y="2073030"/>
                </a:lnTo>
                <a:lnTo>
                  <a:pt x="364805" y="2094530"/>
                </a:lnTo>
                <a:lnTo>
                  <a:pt x="405406" y="2104725"/>
                </a:lnTo>
                <a:lnTo>
                  <a:pt x="419480" y="2105405"/>
                </a:lnTo>
                <a:lnTo>
                  <a:pt x="9515855" y="2105405"/>
                </a:lnTo>
                <a:lnTo>
                  <a:pt x="9515855" y="2420111"/>
                </a:lnTo>
                <a:close/>
              </a:path>
              <a:path w="9516110" h="2420620">
                <a:moveTo>
                  <a:pt x="9515855" y="2105405"/>
                </a:moveTo>
                <a:lnTo>
                  <a:pt x="9096755" y="2105405"/>
                </a:lnTo>
                <a:lnTo>
                  <a:pt x="9110830" y="2104725"/>
                </a:lnTo>
                <a:lnTo>
                  <a:pt x="9124633" y="2102686"/>
                </a:lnTo>
                <a:lnTo>
                  <a:pt x="9164174" y="2088516"/>
                </a:lnTo>
                <a:lnTo>
                  <a:pt x="9197784" y="2063559"/>
                </a:lnTo>
                <a:lnTo>
                  <a:pt x="9222739" y="2029949"/>
                </a:lnTo>
                <a:lnTo>
                  <a:pt x="9236910" y="1990409"/>
                </a:lnTo>
                <a:lnTo>
                  <a:pt x="9239630" y="1962530"/>
                </a:lnTo>
                <a:lnTo>
                  <a:pt x="9239630" y="381380"/>
                </a:lnTo>
                <a:lnTo>
                  <a:pt x="9233512" y="339969"/>
                </a:lnTo>
                <a:lnTo>
                  <a:pt x="9215574" y="301989"/>
                </a:lnTo>
                <a:lnTo>
                  <a:pt x="9187350" y="270881"/>
                </a:lnTo>
                <a:lnTo>
                  <a:pt x="9151430" y="249381"/>
                </a:lnTo>
                <a:lnTo>
                  <a:pt x="9110830" y="239185"/>
                </a:lnTo>
                <a:lnTo>
                  <a:pt x="9096755" y="238505"/>
                </a:lnTo>
                <a:lnTo>
                  <a:pt x="9515855" y="238505"/>
                </a:lnTo>
                <a:lnTo>
                  <a:pt x="9515855" y="2105405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5787" y="2064329"/>
            <a:ext cx="8876067" cy="1817356"/>
          </a:xfrm>
          <a:custGeom>
            <a:avLst/>
            <a:gdLst/>
            <a:ahLst/>
            <a:cxnLst/>
            <a:rect l="l" t="t" r="r" b="b"/>
            <a:pathLst>
              <a:path w="8949055" h="1876425">
                <a:moveTo>
                  <a:pt x="8801100" y="1876425"/>
                </a:moveTo>
                <a:lnTo>
                  <a:pt x="115690" y="1876425"/>
                </a:lnTo>
                <a:lnTo>
                  <a:pt x="107642" y="1875472"/>
                </a:lnTo>
                <a:lnTo>
                  <a:pt x="68922" y="1861470"/>
                </a:lnTo>
                <a:lnTo>
                  <a:pt x="36271" y="1833181"/>
                </a:lnTo>
                <a:lnTo>
                  <a:pt x="14620" y="1798379"/>
                </a:lnTo>
                <a:lnTo>
                  <a:pt x="2381" y="1757581"/>
                </a:lnTo>
                <a:lnTo>
                  <a:pt x="0" y="1728787"/>
                </a:lnTo>
                <a:lnTo>
                  <a:pt x="0" y="147637"/>
                </a:lnTo>
                <a:lnTo>
                  <a:pt x="5330" y="104780"/>
                </a:lnTo>
                <a:lnTo>
                  <a:pt x="20869" y="65617"/>
                </a:lnTo>
                <a:lnTo>
                  <a:pt x="45271" y="33507"/>
                </a:lnTo>
                <a:lnTo>
                  <a:pt x="83953" y="7524"/>
                </a:lnTo>
                <a:lnTo>
                  <a:pt x="115690" y="0"/>
                </a:lnTo>
                <a:lnTo>
                  <a:pt x="8801100" y="0"/>
                </a:lnTo>
                <a:lnTo>
                  <a:pt x="8843955" y="6353"/>
                </a:lnTo>
                <a:lnTo>
                  <a:pt x="8883119" y="24879"/>
                </a:lnTo>
                <a:lnTo>
                  <a:pt x="8915226" y="53973"/>
                </a:lnTo>
                <a:lnTo>
                  <a:pt x="8937498" y="91135"/>
                </a:lnTo>
                <a:lnTo>
                  <a:pt x="8948029" y="133164"/>
                </a:lnTo>
                <a:lnTo>
                  <a:pt x="8948737" y="147637"/>
                </a:lnTo>
                <a:lnTo>
                  <a:pt x="8948737" y="1728787"/>
                </a:lnTo>
                <a:lnTo>
                  <a:pt x="8942384" y="1771641"/>
                </a:lnTo>
                <a:lnTo>
                  <a:pt x="8923858" y="1810807"/>
                </a:lnTo>
                <a:lnTo>
                  <a:pt x="8894756" y="1842908"/>
                </a:lnTo>
                <a:lnTo>
                  <a:pt x="8857592" y="1865185"/>
                </a:lnTo>
                <a:lnTo>
                  <a:pt x="8815573" y="1875713"/>
                </a:lnTo>
                <a:lnTo>
                  <a:pt x="8801100" y="18764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4172" y="2059728"/>
            <a:ext cx="8822532" cy="1826581"/>
          </a:xfrm>
          <a:custGeom>
            <a:avLst/>
            <a:gdLst/>
            <a:ahLst/>
            <a:cxnLst/>
            <a:rect l="l" t="t" r="r" b="b"/>
            <a:pathLst>
              <a:path w="8895080" h="1885950">
                <a:moveTo>
                  <a:pt x="8894635" y="152387"/>
                </a:moveTo>
                <a:lnTo>
                  <a:pt x="8888108" y="108216"/>
                </a:lnTo>
                <a:lnTo>
                  <a:pt x="8868969" y="67703"/>
                </a:lnTo>
                <a:lnTo>
                  <a:pt x="8850439" y="45135"/>
                </a:lnTo>
                <a:lnTo>
                  <a:pt x="8849995" y="44627"/>
                </a:lnTo>
                <a:lnTo>
                  <a:pt x="8814143" y="18008"/>
                </a:lnTo>
                <a:lnTo>
                  <a:pt x="8794763" y="9525"/>
                </a:lnTo>
                <a:lnTo>
                  <a:pt x="8786406" y="6515"/>
                </a:lnTo>
                <a:lnTo>
                  <a:pt x="8771966" y="2895"/>
                </a:lnTo>
                <a:lnTo>
                  <a:pt x="8757247" y="723"/>
                </a:lnTo>
                <a:lnTo>
                  <a:pt x="8742235" y="0"/>
                </a:lnTo>
                <a:lnTo>
                  <a:pt x="64960" y="0"/>
                </a:lnTo>
                <a:lnTo>
                  <a:pt x="20777" y="6515"/>
                </a:lnTo>
                <a:lnTo>
                  <a:pt x="0" y="14732"/>
                </a:lnTo>
                <a:lnTo>
                  <a:pt x="29806" y="19697"/>
                </a:lnTo>
                <a:lnTo>
                  <a:pt x="37350" y="15633"/>
                </a:lnTo>
                <a:lnTo>
                  <a:pt x="46367" y="12242"/>
                </a:lnTo>
                <a:lnTo>
                  <a:pt x="55575" y="10198"/>
                </a:lnTo>
                <a:lnTo>
                  <a:pt x="64960" y="9525"/>
                </a:lnTo>
                <a:lnTo>
                  <a:pt x="8742235" y="9525"/>
                </a:lnTo>
                <a:lnTo>
                  <a:pt x="8783637" y="15633"/>
                </a:lnTo>
                <a:lnTo>
                  <a:pt x="8821623" y="33578"/>
                </a:lnTo>
                <a:lnTo>
                  <a:pt x="8843708" y="51866"/>
                </a:lnTo>
                <a:lnTo>
                  <a:pt x="8852725" y="61798"/>
                </a:lnTo>
                <a:lnTo>
                  <a:pt x="8874227" y="97713"/>
                </a:lnTo>
                <a:lnTo>
                  <a:pt x="8884425" y="138315"/>
                </a:lnTo>
                <a:lnTo>
                  <a:pt x="8885110" y="152387"/>
                </a:lnTo>
                <a:lnTo>
                  <a:pt x="8885110" y="1733537"/>
                </a:lnTo>
                <a:lnTo>
                  <a:pt x="8878989" y="1774952"/>
                </a:lnTo>
                <a:lnTo>
                  <a:pt x="8861044" y="1812937"/>
                </a:lnTo>
                <a:lnTo>
                  <a:pt x="8843708" y="1834070"/>
                </a:lnTo>
                <a:lnTo>
                  <a:pt x="8843264" y="1834578"/>
                </a:lnTo>
                <a:lnTo>
                  <a:pt x="8809647" y="1859534"/>
                </a:lnTo>
                <a:lnTo>
                  <a:pt x="8770112" y="1873694"/>
                </a:lnTo>
                <a:lnTo>
                  <a:pt x="8742235" y="1876425"/>
                </a:lnTo>
                <a:lnTo>
                  <a:pt x="64960" y="1876425"/>
                </a:lnTo>
                <a:lnTo>
                  <a:pt x="55575" y="1875739"/>
                </a:lnTo>
                <a:lnTo>
                  <a:pt x="46367" y="1873694"/>
                </a:lnTo>
                <a:lnTo>
                  <a:pt x="37350" y="1870303"/>
                </a:lnTo>
                <a:lnTo>
                  <a:pt x="29806" y="1866239"/>
                </a:lnTo>
                <a:lnTo>
                  <a:pt x="0" y="1871205"/>
                </a:lnTo>
                <a:lnTo>
                  <a:pt x="49936" y="1885213"/>
                </a:lnTo>
                <a:lnTo>
                  <a:pt x="64960" y="1885950"/>
                </a:lnTo>
                <a:lnTo>
                  <a:pt x="8742235" y="1885950"/>
                </a:lnTo>
                <a:lnTo>
                  <a:pt x="8786406" y="1879422"/>
                </a:lnTo>
                <a:lnTo>
                  <a:pt x="8826919" y="1860283"/>
                </a:lnTo>
                <a:lnTo>
                  <a:pt x="8860091" y="1830171"/>
                </a:lnTo>
                <a:lnTo>
                  <a:pt x="8883028" y="1791868"/>
                </a:lnTo>
                <a:lnTo>
                  <a:pt x="8893899" y="1748561"/>
                </a:lnTo>
                <a:lnTo>
                  <a:pt x="8894635" y="1733537"/>
                </a:lnTo>
                <a:lnTo>
                  <a:pt x="8894635" y="152387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7446" y="2073871"/>
            <a:ext cx="116517" cy="1798290"/>
          </a:xfrm>
          <a:custGeom>
            <a:avLst/>
            <a:gdLst/>
            <a:ahLst/>
            <a:cxnLst/>
            <a:rect l="l" t="t" r="r" b="b"/>
            <a:pathLst>
              <a:path w="117475" h="1856739">
                <a:moveTo>
                  <a:pt x="87693" y="1856720"/>
                </a:moveTo>
                <a:lnTo>
                  <a:pt x="44637" y="1826697"/>
                </a:lnTo>
                <a:lnTo>
                  <a:pt x="18015" y="1790849"/>
                </a:lnTo>
                <a:lnTo>
                  <a:pt x="2900" y="1748671"/>
                </a:lnTo>
                <a:lnTo>
                  <a:pt x="0" y="1718935"/>
                </a:lnTo>
                <a:lnTo>
                  <a:pt x="0" y="137785"/>
                </a:lnTo>
                <a:lnTo>
                  <a:pt x="6525" y="93611"/>
                </a:lnTo>
                <a:lnTo>
                  <a:pt x="25659" y="53100"/>
                </a:lnTo>
                <a:lnTo>
                  <a:pt x="55765" y="19919"/>
                </a:lnTo>
                <a:lnTo>
                  <a:pt x="87692" y="0"/>
                </a:lnTo>
                <a:lnTo>
                  <a:pt x="117476" y="4963"/>
                </a:lnTo>
                <a:lnTo>
                  <a:pt x="115948" y="5785"/>
                </a:lnTo>
                <a:lnTo>
                  <a:pt x="107454" y="11800"/>
                </a:lnTo>
                <a:lnTo>
                  <a:pt x="78734" y="47190"/>
                </a:lnTo>
                <a:lnTo>
                  <a:pt x="64401" y="83110"/>
                </a:lnTo>
                <a:lnTo>
                  <a:pt x="57603" y="123711"/>
                </a:lnTo>
                <a:lnTo>
                  <a:pt x="57149" y="137785"/>
                </a:lnTo>
                <a:lnTo>
                  <a:pt x="57149" y="1718935"/>
                </a:lnTo>
                <a:lnTo>
                  <a:pt x="61228" y="1760347"/>
                </a:lnTo>
                <a:lnTo>
                  <a:pt x="73188" y="1798327"/>
                </a:lnTo>
                <a:lnTo>
                  <a:pt x="99472" y="1837754"/>
                </a:lnTo>
                <a:lnTo>
                  <a:pt x="117476" y="1851757"/>
                </a:lnTo>
                <a:lnTo>
                  <a:pt x="87693" y="1856720"/>
                </a:lnTo>
                <a:close/>
              </a:path>
            </a:pathLst>
          </a:custGeom>
          <a:solidFill>
            <a:srgbClr val="EE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312" y="2318021"/>
            <a:ext cx="207841" cy="20295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82675" y="2120010"/>
            <a:ext cx="8143240" cy="1014094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355"/>
              </a:spcBef>
            </a:pPr>
            <a:r>
              <a:rPr sz="1750" b="1" dirty="0">
                <a:solidFill>
                  <a:srgbClr val="EE4444"/>
                </a:solidFill>
                <a:latin typeface="Gotham Book" panose="02000604040000020004" pitchFamily="50" charset="0"/>
                <a:cs typeface="Arial"/>
              </a:rPr>
              <a:t>O Mecanismo da Acomodação Contínua</a:t>
            </a:r>
            <a:endParaRPr sz="1750" dirty="0">
              <a:latin typeface="Gotham Book" panose="02000604040000020004" pitchFamily="50" charset="0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819"/>
              </a:spcBef>
            </a:pPr>
            <a:r>
              <a:rPr sz="135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Para enxergar de </a:t>
            </a:r>
            <a:r>
              <a:rPr sz="1350" b="1" dirty="0">
                <a:solidFill>
                  <a:srgbClr val="334154"/>
                </a:solidFill>
                <a:latin typeface="Gotham Book" panose="02000604040000020004" pitchFamily="50" charset="0"/>
                <a:cs typeface="Century Gothic"/>
              </a:rPr>
              <a:t>longe</a:t>
            </a:r>
            <a:r>
              <a:rPr sz="135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, o </a:t>
            </a:r>
            <a:r>
              <a:rPr sz="1350" b="1" dirty="0">
                <a:solidFill>
                  <a:srgbClr val="334154"/>
                </a:solidFill>
                <a:latin typeface="Gotham Book" panose="02000604040000020004" pitchFamily="50" charset="0"/>
                <a:cs typeface="Century Gothic"/>
              </a:rPr>
              <a:t>músculo ciliar </a:t>
            </a:r>
            <a:r>
              <a:rPr sz="135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está 100% relaxado. Mas quando olhamos para um smartphone a 30 cm, esse músculo precisa se contrair com força para curvar o cristalino.</a:t>
            </a:r>
            <a:endParaRPr sz="135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2675" y="3222730"/>
            <a:ext cx="8261984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Ficar 8 a 12 horas nessa posição é o mesmo que </a:t>
            </a:r>
            <a:r>
              <a:rPr sz="1350" b="1" dirty="0">
                <a:solidFill>
                  <a:srgbClr val="334154"/>
                </a:solidFill>
                <a:latin typeface="Gotham Book" panose="02000604040000020004" pitchFamily="50" charset="0"/>
                <a:cs typeface="Century Gothic"/>
              </a:rPr>
              <a:t>segurar um haltere de academia com o braço esticado sem soltar o dia inteiro</a:t>
            </a:r>
            <a:r>
              <a:rPr sz="135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. O músculo entra em fadiga espástica crônica!</a:t>
            </a:r>
            <a:endParaRPr sz="135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2542" y="7571231"/>
            <a:ext cx="9523751" cy="2087880"/>
          </a:xfrm>
          <a:custGeom>
            <a:avLst/>
            <a:gdLst/>
            <a:ahLst/>
            <a:cxnLst/>
            <a:rect l="l" t="t" r="r" b="b"/>
            <a:pathLst>
              <a:path w="9516110" h="2087879">
                <a:moveTo>
                  <a:pt x="9515855" y="2087879"/>
                </a:moveTo>
                <a:lnTo>
                  <a:pt x="0" y="2087879"/>
                </a:lnTo>
                <a:lnTo>
                  <a:pt x="0" y="0"/>
                </a:lnTo>
                <a:lnTo>
                  <a:pt x="9515855" y="0"/>
                </a:lnTo>
                <a:lnTo>
                  <a:pt x="9515855" y="239267"/>
                </a:lnTo>
                <a:lnTo>
                  <a:pt x="419480" y="239267"/>
                </a:lnTo>
                <a:lnTo>
                  <a:pt x="405406" y="239947"/>
                </a:lnTo>
                <a:lnTo>
                  <a:pt x="364805" y="250143"/>
                </a:lnTo>
                <a:lnTo>
                  <a:pt x="328885" y="271643"/>
                </a:lnTo>
                <a:lnTo>
                  <a:pt x="300662" y="302748"/>
                </a:lnTo>
                <a:lnTo>
                  <a:pt x="282722" y="340728"/>
                </a:lnTo>
                <a:lnTo>
                  <a:pt x="276605" y="382142"/>
                </a:lnTo>
                <a:lnTo>
                  <a:pt x="276605" y="1629917"/>
                </a:lnTo>
                <a:lnTo>
                  <a:pt x="282722" y="1671329"/>
                </a:lnTo>
                <a:lnTo>
                  <a:pt x="300662" y="1709309"/>
                </a:lnTo>
                <a:lnTo>
                  <a:pt x="328885" y="1740416"/>
                </a:lnTo>
                <a:lnTo>
                  <a:pt x="364805" y="1761914"/>
                </a:lnTo>
                <a:lnTo>
                  <a:pt x="405406" y="1772112"/>
                </a:lnTo>
                <a:lnTo>
                  <a:pt x="419480" y="1772792"/>
                </a:lnTo>
                <a:lnTo>
                  <a:pt x="9515855" y="1772792"/>
                </a:lnTo>
                <a:lnTo>
                  <a:pt x="9515855" y="2087879"/>
                </a:lnTo>
                <a:close/>
              </a:path>
              <a:path w="9516110" h="2087879">
                <a:moveTo>
                  <a:pt x="9515855" y="1772792"/>
                </a:moveTo>
                <a:lnTo>
                  <a:pt x="9096755" y="1772792"/>
                </a:lnTo>
                <a:lnTo>
                  <a:pt x="9110830" y="1772112"/>
                </a:lnTo>
                <a:lnTo>
                  <a:pt x="9124633" y="1770072"/>
                </a:lnTo>
                <a:lnTo>
                  <a:pt x="9164174" y="1755900"/>
                </a:lnTo>
                <a:lnTo>
                  <a:pt x="9197784" y="1730943"/>
                </a:lnTo>
                <a:lnTo>
                  <a:pt x="9222739" y="1697336"/>
                </a:lnTo>
                <a:lnTo>
                  <a:pt x="9236910" y="1657796"/>
                </a:lnTo>
                <a:lnTo>
                  <a:pt x="9239630" y="1629917"/>
                </a:lnTo>
                <a:lnTo>
                  <a:pt x="9239630" y="382142"/>
                </a:lnTo>
                <a:lnTo>
                  <a:pt x="9233512" y="340728"/>
                </a:lnTo>
                <a:lnTo>
                  <a:pt x="9215574" y="302748"/>
                </a:lnTo>
                <a:lnTo>
                  <a:pt x="9187350" y="271643"/>
                </a:lnTo>
                <a:lnTo>
                  <a:pt x="9151430" y="250143"/>
                </a:lnTo>
                <a:lnTo>
                  <a:pt x="9110830" y="239947"/>
                </a:lnTo>
                <a:lnTo>
                  <a:pt x="9096755" y="239267"/>
                </a:lnTo>
                <a:lnTo>
                  <a:pt x="9515855" y="239267"/>
                </a:lnTo>
                <a:lnTo>
                  <a:pt x="9515855" y="1772792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9625" y="7800974"/>
            <a:ext cx="8982075" cy="1552575"/>
          </a:xfrm>
          <a:custGeom>
            <a:avLst/>
            <a:gdLst/>
            <a:ahLst/>
            <a:cxnLst/>
            <a:rect l="l" t="t" r="r" b="b"/>
            <a:pathLst>
              <a:path w="8982075" h="1552575">
                <a:moveTo>
                  <a:pt x="8829675" y="1552575"/>
                </a:moveTo>
                <a:lnTo>
                  <a:pt x="152400" y="1552575"/>
                </a:lnTo>
                <a:lnTo>
                  <a:pt x="137387" y="1551849"/>
                </a:lnTo>
                <a:lnTo>
                  <a:pt x="94079" y="1540974"/>
                </a:lnTo>
                <a:lnTo>
                  <a:pt x="55765" y="1518039"/>
                </a:lnTo>
                <a:lnTo>
                  <a:pt x="25659" y="1484857"/>
                </a:lnTo>
                <a:lnTo>
                  <a:pt x="6525" y="1444347"/>
                </a:lnTo>
                <a:lnTo>
                  <a:pt x="0" y="1400175"/>
                </a:lnTo>
                <a:lnTo>
                  <a:pt x="0" y="152400"/>
                </a:lnTo>
                <a:lnTo>
                  <a:pt x="6525" y="108225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9" y="11600"/>
                </a:lnTo>
                <a:lnTo>
                  <a:pt x="137387" y="725"/>
                </a:lnTo>
                <a:lnTo>
                  <a:pt x="152400" y="0"/>
                </a:lnTo>
                <a:lnTo>
                  <a:pt x="8829675" y="0"/>
                </a:lnTo>
                <a:lnTo>
                  <a:pt x="8873847" y="6525"/>
                </a:lnTo>
                <a:lnTo>
                  <a:pt x="8914359" y="25659"/>
                </a:lnTo>
                <a:lnTo>
                  <a:pt x="8947539" y="55765"/>
                </a:lnTo>
                <a:lnTo>
                  <a:pt x="8970474" y="94079"/>
                </a:lnTo>
                <a:lnTo>
                  <a:pt x="8981349" y="137386"/>
                </a:lnTo>
                <a:lnTo>
                  <a:pt x="8982075" y="152400"/>
                </a:lnTo>
                <a:lnTo>
                  <a:pt x="8982075" y="1400175"/>
                </a:lnTo>
                <a:lnTo>
                  <a:pt x="8975549" y="1444347"/>
                </a:lnTo>
                <a:lnTo>
                  <a:pt x="8956413" y="1484857"/>
                </a:lnTo>
                <a:lnTo>
                  <a:pt x="8926309" y="1518039"/>
                </a:lnTo>
                <a:lnTo>
                  <a:pt x="8887987" y="1540974"/>
                </a:lnTo>
                <a:lnTo>
                  <a:pt x="8844686" y="1551849"/>
                </a:lnTo>
                <a:lnTo>
                  <a:pt x="8829675" y="1552575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9612" y="7800974"/>
            <a:ext cx="8982710" cy="1552575"/>
          </a:xfrm>
          <a:custGeom>
            <a:avLst/>
            <a:gdLst/>
            <a:ahLst/>
            <a:cxnLst/>
            <a:rect l="l" t="t" r="r" b="b"/>
            <a:pathLst>
              <a:path w="8982710" h="1552575">
                <a:moveTo>
                  <a:pt x="9525" y="1369428"/>
                </a:moveTo>
                <a:lnTo>
                  <a:pt x="0" y="1369428"/>
                </a:lnTo>
                <a:lnTo>
                  <a:pt x="0" y="1398003"/>
                </a:lnTo>
                <a:lnTo>
                  <a:pt x="9525" y="1398003"/>
                </a:lnTo>
                <a:lnTo>
                  <a:pt x="9525" y="1369428"/>
                </a:lnTo>
                <a:close/>
              </a:path>
              <a:path w="8982710" h="1552575">
                <a:moveTo>
                  <a:pt x="9525" y="1321841"/>
                </a:moveTo>
                <a:lnTo>
                  <a:pt x="0" y="1321841"/>
                </a:lnTo>
                <a:lnTo>
                  <a:pt x="0" y="1350416"/>
                </a:lnTo>
                <a:lnTo>
                  <a:pt x="9525" y="1350416"/>
                </a:lnTo>
                <a:lnTo>
                  <a:pt x="9525" y="1321841"/>
                </a:lnTo>
                <a:close/>
              </a:path>
              <a:path w="8982710" h="1552575">
                <a:moveTo>
                  <a:pt x="9525" y="1274254"/>
                </a:moveTo>
                <a:lnTo>
                  <a:pt x="0" y="1274254"/>
                </a:lnTo>
                <a:lnTo>
                  <a:pt x="0" y="1302829"/>
                </a:lnTo>
                <a:lnTo>
                  <a:pt x="9525" y="1302829"/>
                </a:lnTo>
                <a:lnTo>
                  <a:pt x="9525" y="1274254"/>
                </a:lnTo>
                <a:close/>
              </a:path>
              <a:path w="8982710" h="1552575">
                <a:moveTo>
                  <a:pt x="9525" y="1226667"/>
                </a:moveTo>
                <a:lnTo>
                  <a:pt x="0" y="1226667"/>
                </a:lnTo>
                <a:lnTo>
                  <a:pt x="0" y="1255242"/>
                </a:lnTo>
                <a:lnTo>
                  <a:pt x="9525" y="1255242"/>
                </a:lnTo>
                <a:lnTo>
                  <a:pt x="9525" y="1226667"/>
                </a:lnTo>
                <a:close/>
              </a:path>
              <a:path w="8982710" h="1552575">
                <a:moveTo>
                  <a:pt x="9525" y="1179093"/>
                </a:moveTo>
                <a:lnTo>
                  <a:pt x="0" y="1179093"/>
                </a:lnTo>
                <a:lnTo>
                  <a:pt x="0" y="1207668"/>
                </a:lnTo>
                <a:lnTo>
                  <a:pt x="9525" y="1207668"/>
                </a:lnTo>
                <a:lnTo>
                  <a:pt x="9525" y="1179093"/>
                </a:lnTo>
                <a:close/>
              </a:path>
              <a:path w="8982710" h="1552575">
                <a:moveTo>
                  <a:pt x="9525" y="1131519"/>
                </a:moveTo>
                <a:lnTo>
                  <a:pt x="0" y="1131519"/>
                </a:lnTo>
                <a:lnTo>
                  <a:pt x="0" y="1160094"/>
                </a:lnTo>
                <a:lnTo>
                  <a:pt x="9525" y="1160094"/>
                </a:lnTo>
                <a:lnTo>
                  <a:pt x="9525" y="1131519"/>
                </a:lnTo>
                <a:close/>
              </a:path>
              <a:path w="8982710" h="1552575">
                <a:moveTo>
                  <a:pt x="9525" y="1083932"/>
                </a:moveTo>
                <a:lnTo>
                  <a:pt x="0" y="1083932"/>
                </a:lnTo>
                <a:lnTo>
                  <a:pt x="0" y="1112507"/>
                </a:lnTo>
                <a:lnTo>
                  <a:pt x="9525" y="1112507"/>
                </a:lnTo>
                <a:lnTo>
                  <a:pt x="9525" y="1083932"/>
                </a:lnTo>
                <a:close/>
              </a:path>
              <a:path w="8982710" h="1552575">
                <a:moveTo>
                  <a:pt x="9525" y="1036358"/>
                </a:moveTo>
                <a:lnTo>
                  <a:pt x="0" y="1036358"/>
                </a:lnTo>
                <a:lnTo>
                  <a:pt x="0" y="1064933"/>
                </a:lnTo>
                <a:lnTo>
                  <a:pt x="9525" y="1064933"/>
                </a:lnTo>
                <a:lnTo>
                  <a:pt x="9525" y="1036358"/>
                </a:lnTo>
                <a:close/>
              </a:path>
              <a:path w="8982710" h="1552575">
                <a:moveTo>
                  <a:pt x="9525" y="988771"/>
                </a:moveTo>
                <a:lnTo>
                  <a:pt x="0" y="988771"/>
                </a:lnTo>
                <a:lnTo>
                  <a:pt x="0" y="1017346"/>
                </a:lnTo>
                <a:lnTo>
                  <a:pt x="9525" y="1017346"/>
                </a:lnTo>
                <a:lnTo>
                  <a:pt x="9525" y="988771"/>
                </a:lnTo>
                <a:close/>
              </a:path>
              <a:path w="8982710" h="1552575">
                <a:moveTo>
                  <a:pt x="9525" y="941184"/>
                </a:moveTo>
                <a:lnTo>
                  <a:pt x="0" y="941184"/>
                </a:lnTo>
                <a:lnTo>
                  <a:pt x="0" y="969759"/>
                </a:lnTo>
                <a:lnTo>
                  <a:pt x="9525" y="969759"/>
                </a:lnTo>
                <a:lnTo>
                  <a:pt x="9525" y="941184"/>
                </a:lnTo>
                <a:close/>
              </a:path>
              <a:path w="8982710" h="1552575">
                <a:moveTo>
                  <a:pt x="9525" y="893597"/>
                </a:moveTo>
                <a:lnTo>
                  <a:pt x="0" y="893597"/>
                </a:lnTo>
                <a:lnTo>
                  <a:pt x="0" y="922172"/>
                </a:lnTo>
                <a:lnTo>
                  <a:pt x="9525" y="922172"/>
                </a:lnTo>
                <a:lnTo>
                  <a:pt x="9525" y="893597"/>
                </a:lnTo>
                <a:close/>
              </a:path>
              <a:path w="8982710" h="1552575">
                <a:moveTo>
                  <a:pt x="9525" y="846023"/>
                </a:moveTo>
                <a:lnTo>
                  <a:pt x="0" y="846023"/>
                </a:lnTo>
                <a:lnTo>
                  <a:pt x="0" y="874598"/>
                </a:lnTo>
                <a:lnTo>
                  <a:pt x="9525" y="874598"/>
                </a:lnTo>
                <a:lnTo>
                  <a:pt x="9525" y="846023"/>
                </a:lnTo>
                <a:close/>
              </a:path>
              <a:path w="8982710" h="1552575">
                <a:moveTo>
                  <a:pt x="9525" y="798449"/>
                </a:moveTo>
                <a:lnTo>
                  <a:pt x="0" y="798449"/>
                </a:lnTo>
                <a:lnTo>
                  <a:pt x="0" y="827024"/>
                </a:lnTo>
                <a:lnTo>
                  <a:pt x="9525" y="827024"/>
                </a:lnTo>
                <a:lnTo>
                  <a:pt x="9525" y="798449"/>
                </a:lnTo>
                <a:close/>
              </a:path>
              <a:path w="8982710" h="1552575">
                <a:moveTo>
                  <a:pt x="9525" y="750862"/>
                </a:moveTo>
                <a:lnTo>
                  <a:pt x="0" y="750862"/>
                </a:lnTo>
                <a:lnTo>
                  <a:pt x="0" y="779437"/>
                </a:lnTo>
                <a:lnTo>
                  <a:pt x="9525" y="779437"/>
                </a:lnTo>
                <a:lnTo>
                  <a:pt x="9525" y="750862"/>
                </a:lnTo>
                <a:close/>
              </a:path>
              <a:path w="8982710" h="1552575">
                <a:moveTo>
                  <a:pt x="9525" y="703287"/>
                </a:moveTo>
                <a:lnTo>
                  <a:pt x="0" y="703287"/>
                </a:lnTo>
                <a:lnTo>
                  <a:pt x="0" y="731862"/>
                </a:lnTo>
                <a:lnTo>
                  <a:pt x="9525" y="731862"/>
                </a:lnTo>
                <a:lnTo>
                  <a:pt x="9525" y="703287"/>
                </a:lnTo>
                <a:close/>
              </a:path>
              <a:path w="8982710" h="1552575">
                <a:moveTo>
                  <a:pt x="9525" y="655701"/>
                </a:moveTo>
                <a:lnTo>
                  <a:pt x="0" y="655701"/>
                </a:lnTo>
                <a:lnTo>
                  <a:pt x="0" y="684276"/>
                </a:lnTo>
                <a:lnTo>
                  <a:pt x="9525" y="684276"/>
                </a:lnTo>
                <a:lnTo>
                  <a:pt x="9525" y="655701"/>
                </a:lnTo>
                <a:close/>
              </a:path>
              <a:path w="8982710" h="1552575">
                <a:moveTo>
                  <a:pt x="9525" y="608114"/>
                </a:moveTo>
                <a:lnTo>
                  <a:pt x="0" y="608114"/>
                </a:lnTo>
                <a:lnTo>
                  <a:pt x="0" y="636689"/>
                </a:lnTo>
                <a:lnTo>
                  <a:pt x="9525" y="636689"/>
                </a:lnTo>
                <a:lnTo>
                  <a:pt x="9525" y="608114"/>
                </a:lnTo>
                <a:close/>
              </a:path>
              <a:path w="8982710" h="1552575">
                <a:moveTo>
                  <a:pt x="9525" y="560527"/>
                </a:moveTo>
                <a:lnTo>
                  <a:pt x="0" y="560527"/>
                </a:lnTo>
                <a:lnTo>
                  <a:pt x="0" y="589102"/>
                </a:lnTo>
                <a:lnTo>
                  <a:pt x="9525" y="589102"/>
                </a:lnTo>
                <a:lnTo>
                  <a:pt x="9525" y="560527"/>
                </a:lnTo>
                <a:close/>
              </a:path>
              <a:path w="8982710" h="1552575">
                <a:moveTo>
                  <a:pt x="9525" y="512953"/>
                </a:moveTo>
                <a:lnTo>
                  <a:pt x="0" y="512953"/>
                </a:lnTo>
                <a:lnTo>
                  <a:pt x="0" y="541528"/>
                </a:lnTo>
                <a:lnTo>
                  <a:pt x="9525" y="541528"/>
                </a:lnTo>
                <a:lnTo>
                  <a:pt x="9525" y="512953"/>
                </a:lnTo>
                <a:close/>
              </a:path>
              <a:path w="8982710" h="1552575">
                <a:moveTo>
                  <a:pt x="9525" y="465378"/>
                </a:moveTo>
                <a:lnTo>
                  <a:pt x="0" y="465378"/>
                </a:lnTo>
                <a:lnTo>
                  <a:pt x="0" y="493953"/>
                </a:lnTo>
                <a:lnTo>
                  <a:pt x="9525" y="493953"/>
                </a:lnTo>
                <a:lnTo>
                  <a:pt x="9525" y="465378"/>
                </a:lnTo>
                <a:close/>
              </a:path>
              <a:path w="8982710" h="1552575">
                <a:moveTo>
                  <a:pt x="9525" y="417791"/>
                </a:moveTo>
                <a:lnTo>
                  <a:pt x="0" y="417791"/>
                </a:lnTo>
                <a:lnTo>
                  <a:pt x="0" y="446366"/>
                </a:lnTo>
                <a:lnTo>
                  <a:pt x="9525" y="446366"/>
                </a:lnTo>
                <a:lnTo>
                  <a:pt x="9525" y="417791"/>
                </a:lnTo>
                <a:close/>
              </a:path>
              <a:path w="8982710" h="1552575">
                <a:moveTo>
                  <a:pt x="9525" y="370217"/>
                </a:moveTo>
                <a:lnTo>
                  <a:pt x="0" y="370217"/>
                </a:lnTo>
                <a:lnTo>
                  <a:pt x="0" y="398792"/>
                </a:lnTo>
                <a:lnTo>
                  <a:pt x="9525" y="398792"/>
                </a:lnTo>
                <a:lnTo>
                  <a:pt x="9525" y="370217"/>
                </a:lnTo>
                <a:close/>
              </a:path>
              <a:path w="8982710" h="1552575">
                <a:moveTo>
                  <a:pt x="9525" y="322630"/>
                </a:moveTo>
                <a:lnTo>
                  <a:pt x="0" y="322630"/>
                </a:lnTo>
                <a:lnTo>
                  <a:pt x="0" y="351205"/>
                </a:lnTo>
                <a:lnTo>
                  <a:pt x="9525" y="351205"/>
                </a:lnTo>
                <a:lnTo>
                  <a:pt x="9525" y="322630"/>
                </a:lnTo>
                <a:close/>
              </a:path>
              <a:path w="8982710" h="1552575">
                <a:moveTo>
                  <a:pt x="9525" y="275043"/>
                </a:moveTo>
                <a:lnTo>
                  <a:pt x="0" y="275043"/>
                </a:lnTo>
                <a:lnTo>
                  <a:pt x="0" y="303618"/>
                </a:lnTo>
                <a:lnTo>
                  <a:pt x="9525" y="303618"/>
                </a:lnTo>
                <a:lnTo>
                  <a:pt x="9525" y="275043"/>
                </a:lnTo>
                <a:close/>
              </a:path>
              <a:path w="8982710" h="1552575">
                <a:moveTo>
                  <a:pt x="9525" y="227457"/>
                </a:moveTo>
                <a:lnTo>
                  <a:pt x="0" y="227457"/>
                </a:lnTo>
                <a:lnTo>
                  <a:pt x="0" y="256032"/>
                </a:lnTo>
                <a:lnTo>
                  <a:pt x="9525" y="256032"/>
                </a:lnTo>
                <a:lnTo>
                  <a:pt x="9525" y="227457"/>
                </a:lnTo>
                <a:close/>
              </a:path>
              <a:path w="8982710" h="1552575">
                <a:moveTo>
                  <a:pt x="9525" y="179882"/>
                </a:moveTo>
                <a:lnTo>
                  <a:pt x="0" y="179882"/>
                </a:lnTo>
                <a:lnTo>
                  <a:pt x="0" y="208457"/>
                </a:lnTo>
                <a:lnTo>
                  <a:pt x="9525" y="208457"/>
                </a:lnTo>
                <a:lnTo>
                  <a:pt x="9525" y="179882"/>
                </a:lnTo>
                <a:close/>
              </a:path>
              <a:path w="8982710" h="1552575">
                <a:moveTo>
                  <a:pt x="10807" y="134251"/>
                </a:moveTo>
                <a:lnTo>
                  <a:pt x="1371" y="133032"/>
                </a:lnTo>
                <a:lnTo>
                  <a:pt x="736" y="137388"/>
                </a:lnTo>
                <a:lnTo>
                  <a:pt x="685" y="138328"/>
                </a:lnTo>
                <a:lnTo>
                  <a:pt x="0" y="152400"/>
                </a:lnTo>
                <a:lnTo>
                  <a:pt x="0" y="160883"/>
                </a:lnTo>
                <a:lnTo>
                  <a:pt x="9525" y="160883"/>
                </a:lnTo>
                <a:lnTo>
                  <a:pt x="9537" y="152400"/>
                </a:lnTo>
                <a:lnTo>
                  <a:pt x="10210" y="138328"/>
                </a:lnTo>
                <a:lnTo>
                  <a:pt x="10807" y="134251"/>
                </a:lnTo>
                <a:close/>
              </a:path>
              <a:path w="8982710" h="1552575">
                <a:moveTo>
                  <a:pt x="15748" y="1441881"/>
                </a:moveTo>
                <a:lnTo>
                  <a:pt x="15646" y="1441589"/>
                </a:lnTo>
                <a:lnTo>
                  <a:pt x="12255" y="1428064"/>
                </a:lnTo>
                <a:lnTo>
                  <a:pt x="10375" y="1415338"/>
                </a:lnTo>
                <a:lnTo>
                  <a:pt x="901" y="1416354"/>
                </a:lnTo>
                <a:lnTo>
                  <a:pt x="2908" y="1429918"/>
                </a:lnTo>
                <a:lnTo>
                  <a:pt x="6527" y="1444358"/>
                </a:lnTo>
                <a:lnTo>
                  <a:pt x="6642" y="1444663"/>
                </a:lnTo>
                <a:lnTo>
                  <a:pt x="15748" y="1441881"/>
                </a:lnTo>
                <a:close/>
              </a:path>
              <a:path w="8982710" h="1552575">
                <a:moveTo>
                  <a:pt x="23609" y="90932"/>
                </a:moveTo>
                <a:lnTo>
                  <a:pt x="15024" y="86829"/>
                </a:lnTo>
                <a:lnTo>
                  <a:pt x="11607" y="94081"/>
                </a:lnTo>
                <a:lnTo>
                  <a:pt x="6527" y="108229"/>
                </a:lnTo>
                <a:lnTo>
                  <a:pt x="5029" y="114223"/>
                </a:lnTo>
                <a:lnTo>
                  <a:pt x="14236" y="116611"/>
                </a:lnTo>
                <a:lnTo>
                  <a:pt x="15646" y="110998"/>
                </a:lnTo>
                <a:lnTo>
                  <a:pt x="20408" y="97726"/>
                </a:lnTo>
                <a:lnTo>
                  <a:pt x="23609" y="90932"/>
                </a:lnTo>
                <a:close/>
              </a:path>
              <a:path w="8982710" h="1552575">
                <a:moveTo>
                  <a:pt x="35547" y="1482204"/>
                </a:moveTo>
                <a:lnTo>
                  <a:pt x="33591" y="1479575"/>
                </a:lnTo>
                <a:lnTo>
                  <a:pt x="26416" y="1467599"/>
                </a:lnTo>
                <a:lnTo>
                  <a:pt x="22313" y="1458899"/>
                </a:lnTo>
                <a:lnTo>
                  <a:pt x="13639" y="1462824"/>
                </a:lnTo>
                <a:lnTo>
                  <a:pt x="18021" y="1472095"/>
                </a:lnTo>
                <a:lnTo>
                  <a:pt x="25666" y="1484858"/>
                </a:lnTo>
                <a:lnTo>
                  <a:pt x="27749" y="1487678"/>
                </a:lnTo>
                <a:lnTo>
                  <a:pt x="35547" y="1482204"/>
                </a:lnTo>
                <a:close/>
              </a:path>
              <a:path w="8982710" h="1552575">
                <a:moveTo>
                  <a:pt x="49022" y="53975"/>
                </a:moveTo>
                <a:lnTo>
                  <a:pt x="42125" y="47409"/>
                </a:lnTo>
                <a:lnTo>
                  <a:pt x="34544" y="55765"/>
                </a:lnTo>
                <a:lnTo>
                  <a:pt x="25666" y="67716"/>
                </a:lnTo>
                <a:lnTo>
                  <a:pt x="24193" y="70180"/>
                </a:lnTo>
                <a:lnTo>
                  <a:pt x="32207" y="75323"/>
                </a:lnTo>
                <a:lnTo>
                  <a:pt x="33591" y="73012"/>
                </a:lnTo>
                <a:lnTo>
                  <a:pt x="41910" y="61810"/>
                </a:lnTo>
                <a:lnTo>
                  <a:pt x="49022" y="53975"/>
                </a:lnTo>
                <a:close/>
              </a:path>
              <a:path w="8982710" h="1552575">
                <a:moveTo>
                  <a:pt x="67106" y="1514614"/>
                </a:moveTo>
                <a:lnTo>
                  <a:pt x="61810" y="1510677"/>
                </a:lnTo>
                <a:lnTo>
                  <a:pt x="51371" y="1501203"/>
                </a:lnTo>
                <a:lnTo>
                  <a:pt x="46913" y="1496288"/>
                </a:lnTo>
                <a:lnTo>
                  <a:pt x="39878" y="1502702"/>
                </a:lnTo>
                <a:lnTo>
                  <a:pt x="44640" y="1507947"/>
                </a:lnTo>
                <a:lnTo>
                  <a:pt x="55765" y="1518043"/>
                </a:lnTo>
                <a:lnTo>
                  <a:pt x="61404" y="1522234"/>
                </a:lnTo>
                <a:lnTo>
                  <a:pt x="67106" y="1514614"/>
                </a:lnTo>
                <a:close/>
              </a:path>
              <a:path w="8982710" h="1552575">
                <a:moveTo>
                  <a:pt x="84759" y="26555"/>
                </a:moveTo>
                <a:lnTo>
                  <a:pt x="80251" y="18161"/>
                </a:lnTo>
                <a:lnTo>
                  <a:pt x="67716" y="25666"/>
                </a:lnTo>
                <a:lnTo>
                  <a:pt x="56273" y="34163"/>
                </a:lnTo>
                <a:lnTo>
                  <a:pt x="62280" y="41554"/>
                </a:lnTo>
                <a:lnTo>
                  <a:pt x="73012" y="33591"/>
                </a:lnTo>
                <a:lnTo>
                  <a:pt x="84759" y="26555"/>
                </a:lnTo>
                <a:close/>
              </a:path>
              <a:path w="8982710" h="1552575">
                <a:moveTo>
                  <a:pt x="106730" y="1535404"/>
                </a:moveTo>
                <a:lnTo>
                  <a:pt x="97726" y="1532178"/>
                </a:lnTo>
                <a:lnTo>
                  <a:pt x="84988" y="1526171"/>
                </a:lnTo>
                <a:lnTo>
                  <a:pt x="82130" y="1524457"/>
                </a:lnTo>
                <a:lnTo>
                  <a:pt x="77431" y="1532737"/>
                </a:lnTo>
                <a:lnTo>
                  <a:pt x="80492" y="1534566"/>
                </a:lnTo>
                <a:lnTo>
                  <a:pt x="94081" y="1540979"/>
                </a:lnTo>
                <a:lnTo>
                  <a:pt x="103682" y="1544421"/>
                </a:lnTo>
                <a:lnTo>
                  <a:pt x="106730" y="1535404"/>
                </a:lnTo>
                <a:close/>
              </a:path>
              <a:path w="8982710" h="1552575">
                <a:moveTo>
                  <a:pt x="127482" y="11811"/>
                </a:moveTo>
                <a:lnTo>
                  <a:pt x="125818" y="2438"/>
                </a:lnTo>
                <a:lnTo>
                  <a:pt x="122669" y="2908"/>
                </a:lnTo>
                <a:lnTo>
                  <a:pt x="108229" y="6527"/>
                </a:lnTo>
                <a:lnTo>
                  <a:pt x="97459" y="10401"/>
                </a:lnTo>
                <a:lnTo>
                  <a:pt x="100888" y="19265"/>
                </a:lnTo>
                <a:lnTo>
                  <a:pt x="110998" y="15646"/>
                </a:lnTo>
                <a:lnTo>
                  <a:pt x="124523" y="12255"/>
                </a:lnTo>
                <a:lnTo>
                  <a:pt x="127482" y="11811"/>
                </a:lnTo>
                <a:close/>
              </a:path>
              <a:path w="8982710" h="1552575">
                <a:moveTo>
                  <a:pt x="150520" y="1542961"/>
                </a:moveTo>
                <a:lnTo>
                  <a:pt x="138328" y="1542376"/>
                </a:lnTo>
                <a:lnTo>
                  <a:pt x="124409" y="1540319"/>
                </a:lnTo>
                <a:lnTo>
                  <a:pt x="122542" y="1549654"/>
                </a:lnTo>
                <a:lnTo>
                  <a:pt x="137388" y="1551851"/>
                </a:lnTo>
                <a:lnTo>
                  <a:pt x="150393" y="1552486"/>
                </a:lnTo>
                <a:lnTo>
                  <a:pt x="150520" y="1542961"/>
                </a:lnTo>
                <a:close/>
              </a:path>
              <a:path w="8982710" h="1552575">
                <a:moveTo>
                  <a:pt x="180987" y="0"/>
                </a:moveTo>
                <a:lnTo>
                  <a:pt x="152400" y="0"/>
                </a:lnTo>
                <a:lnTo>
                  <a:pt x="144399" y="393"/>
                </a:lnTo>
                <a:lnTo>
                  <a:pt x="144907" y="9893"/>
                </a:lnTo>
                <a:lnTo>
                  <a:pt x="152412" y="9525"/>
                </a:lnTo>
                <a:lnTo>
                  <a:pt x="180987" y="9525"/>
                </a:lnTo>
                <a:lnTo>
                  <a:pt x="180987" y="0"/>
                </a:lnTo>
                <a:close/>
              </a:path>
              <a:path w="8982710" h="1552575">
                <a:moveTo>
                  <a:pt x="197866" y="1543050"/>
                </a:moveTo>
                <a:lnTo>
                  <a:pt x="169291" y="1543050"/>
                </a:lnTo>
                <a:lnTo>
                  <a:pt x="169291" y="1552575"/>
                </a:lnTo>
                <a:lnTo>
                  <a:pt x="197866" y="1552575"/>
                </a:lnTo>
                <a:lnTo>
                  <a:pt x="197866" y="1543050"/>
                </a:lnTo>
                <a:close/>
              </a:path>
              <a:path w="8982710" h="1552575">
                <a:moveTo>
                  <a:pt x="228561" y="0"/>
                </a:moveTo>
                <a:lnTo>
                  <a:pt x="199986" y="0"/>
                </a:lnTo>
                <a:lnTo>
                  <a:pt x="199986" y="9525"/>
                </a:lnTo>
                <a:lnTo>
                  <a:pt x="228561" y="9525"/>
                </a:lnTo>
                <a:lnTo>
                  <a:pt x="228561" y="0"/>
                </a:lnTo>
                <a:close/>
              </a:path>
              <a:path w="8982710" h="1552575">
                <a:moveTo>
                  <a:pt x="245440" y="1543050"/>
                </a:moveTo>
                <a:lnTo>
                  <a:pt x="216865" y="1543050"/>
                </a:lnTo>
                <a:lnTo>
                  <a:pt x="216865" y="1552575"/>
                </a:lnTo>
                <a:lnTo>
                  <a:pt x="245440" y="1552575"/>
                </a:lnTo>
                <a:lnTo>
                  <a:pt x="245440" y="1543050"/>
                </a:lnTo>
                <a:close/>
              </a:path>
              <a:path w="8982710" h="1552575">
                <a:moveTo>
                  <a:pt x="276136" y="0"/>
                </a:moveTo>
                <a:lnTo>
                  <a:pt x="247561" y="0"/>
                </a:lnTo>
                <a:lnTo>
                  <a:pt x="247561" y="9525"/>
                </a:lnTo>
                <a:lnTo>
                  <a:pt x="276136" y="9525"/>
                </a:lnTo>
                <a:lnTo>
                  <a:pt x="276136" y="0"/>
                </a:lnTo>
                <a:close/>
              </a:path>
              <a:path w="8982710" h="1552575">
                <a:moveTo>
                  <a:pt x="293027" y="1543050"/>
                </a:moveTo>
                <a:lnTo>
                  <a:pt x="264452" y="1543050"/>
                </a:lnTo>
                <a:lnTo>
                  <a:pt x="264452" y="1552575"/>
                </a:lnTo>
                <a:lnTo>
                  <a:pt x="293027" y="1552575"/>
                </a:lnTo>
                <a:lnTo>
                  <a:pt x="293027" y="1543050"/>
                </a:lnTo>
                <a:close/>
              </a:path>
              <a:path w="8982710" h="1552575">
                <a:moveTo>
                  <a:pt x="323723" y="0"/>
                </a:moveTo>
                <a:lnTo>
                  <a:pt x="295148" y="0"/>
                </a:lnTo>
                <a:lnTo>
                  <a:pt x="295148" y="9525"/>
                </a:lnTo>
                <a:lnTo>
                  <a:pt x="323723" y="9525"/>
                </a:lnTo>
                <a:lnTo>
                  <a:pt x="323723" y="0"/>
                </a:lnTo>
                <a:close/>
              </a:path>
              <a:path w="8982710" h="1552575">
                <a:moveTo>
                  <a:pt x="340601" y="1543050"/>
                </a:moveTo>
                <a:lnTo>
                  <a:pt x="312026" y="1543050"/>
                </a:lnTo>
                <a:lnTo>
                  <a:pt x="312026" y="1552575"/>
                </a:lnTo>
                <a:lnTo>
                  <a:pt x="340601" y="1552575"/>
                </a:lnTo>
                <a:lnTo>
                  <a:pt x="340601" y="1543050"/>
                </a:lnTo>
                <a:close/>
              </a:path>
              <a:path w="8982710" h="1552575">
                <a:moveTo>
                  <a:pt x="371309" y="0"/>
                </a:moveTo>
                <a:lnTo>
                  <a:pt x="342734" y="0"/>
                </a:lnTo>
                <a:lnTo>
                  <a:pt x="342734" y="9525"/>
                </a:lnTo>
                <a:lnTo>
                  <a:pt x="371309" y="9525"/>
                </a:lnTo>
                <a:lnTo>
                  <a:pt x="371309" y="0"/>
                </a:lnTo>
                <a:close/>
              </a:path>
              <a:path w="8982710" h="1552575">
                <a:moveTo>
                  <a:pt x="388188" y="1543050"/>
                </a:moveTo>
                <a:lnTo>
                  <a:pt x="359613" y="1543050"/>
                </a:lnTo>
                <a:lnTo>
                  <a:pt x="359613" y="1552575"/>
                </a:lnTo>
                <a:lnTo>
                  <a:pt x="388188" y="1552575"/>
                </a:lnTo>
                <a:lnTo>
                  <a:pt x="388188" y="1543050"/>
                </a:lnTo>
                <a:close/>
              </a:path>
              <a:path w="8982710" h="1552575">
                <a:moveTo>
                  <a:pt x="418896" y="0"/>
                </a:moveTo>
                <a:lnTo>
                  <a:pt x="390321" y="0"/>
                </a:lnTo>
                <a:lnTo>
                  <a:pt x="390321" y="9525"/>
                </a:lnTo>
                <a:lnTo>
                  <a:pt x="418896" y="9525"/>
                </a:lnTo>
                <a:lnTo>
                  <a:pt x="418896" y="0"/>
                </a:lnTo>
                <a:close/>
              </a:path>
              <a:path w="8982710" h="1552575">
                <a:moveTo>
                  <a:pt x="435775" y="1543050"/>
                </a:moveTo>
                <a:lnTo>
                  <a:pt x="407200" y="1543050"/>
                </a:lnTo>
                <a:lnTo>
                  <a:pt x="407200" y="1552575"/>
                </a:lnTo>
                <a:lnTo>
                  <a:pt x="435775" y="1552575"/>
                </a:lnTo>
                <a:lnTo>
                  <a:pt x="435775" y="1543050"/>
                </a:lnTo>
                <a:close/>
              </a:path>
              <a:path w="8982710" h="1552575">
                <a:moveTo>
                  <a:pt x="466471" y="0"/>
                </a:moveTo>
                <a:lnTo>
                  <a:pt x="437896" y="0"/>
                </a:lnTo>
                <a:lnTo>
                  <a:pt x="437896" y="9525"/>
                </a:lnTo>
                <a:lnTo>
                  <a:pt x="466471" y="9525"/>
                </a:lnTo>
                <a:lnTo>
                  <a:pt x="466471" y="0"/>
                </a:lnTo>
                <a:close/>
              </a:path>
              <a:path w="8982710" h="1552575">
                <a:moveTo>
                  <a:pt x="483349" y="1543050"/>
                </a:moveTo>
                <a:lnTo>
                  <a:pt x="454774" y="1543050"/>
                </a:lnTo>
                <a:lnTo>
                  <a:pt x="454774" y="1552575"/>
                </a:lnTo>
                <a:lnTo>
                  <a:pt x="483349" y="1552575"/>
                </a:lnTo>
                <a:lnTo>
                  <a:pt x="483349" y="1543050"/>
                </a:lnTo>
                <a:close/>
              </a:path>
              <a:path w="8982710" h="1552575">
                <a:moveTo>
                  <a:pt x="514057" y="0"/>
                </a:moveTo>
                <a:lnTo>
                  <a:pt x="485482" y="0"/>
                </a:lnTo>
                <a:lnTo>
                  <a:pt x="485482" y="9525"/>
                </a:lnTo>
                <a:lnTo>
                  <a:pt x="514057" y="9525"/>
                </a:lnTo>
                <a:lnTo>
                  <a:pt x="514057" y="0"/>
                </a:lnTo>
                <a:close/>
              </a:path>
              <a:path w="8982710" h="1552575">
                <a:moveTo>
                  <a:pt x="530936" y="1543050"/>
                </a:moveTo>
                <a:lnTo>
                  <a:pt x="502361" y="1543050"/>
                </a:lnTo>
                <a:lnTo>
                  <a:pt x="502361" y="1552575"/>
                </a:lnTo>
                <a:lnTo>
                  <a:pt x="530936" y="1552575"/>
                </a:lnTo>
                <a:lnTo>
                  <a:pt x="530936" y="1543050"/>
                </a:lnTo>
                <a:close/>
              </a:path>
              <a:path w="8982710" h="1552575">
                <a:moveTo>
                  <a:pt x="561632" y="0"/>
                </a:moveTo>
                <a:lnTo>
                  <a:pt x="533057" y="0"/>
                </a:lnTo>
                <a:lnTo>
                  <a:pt x="533057" y="9525"/>
                </a:lnTo>
                <a:lnTo>
                  <a:pt x="561632" y="9525"/>
                </a:lnTo>
                <a:lnTo>
                  <a:pt x="561632" y="0"/>
                </a:lnTo>
                <a:close/>
              </a:path>
              <a:path w="8982710" h="1552575">
                <a:moveTo>
                  <a:pt x="578510" y="1543050"/>
                </a:moveTo>
                <a:lnTo>
                  <a:pt x="549935" y="1543050"/>
                </a:lnTo>
                <a:lnTo>
                  <a:pt x="549935" y="1552575"/>
                </a:lnTo>
                <a:lnTo>
                  <a:pt x="578510" y="1552575"/>
                </a:lnTo>
                <a:lnTo>
                  <a:pt x="578510" y="1543050"/>
                </a:lnTo>
                <a:close/>
              </a:path>
              <a:path w="8982710" h="1552575">
                <a:moveTo>
                  <a:pt x="609206" y="0"/>
                </a:moveTo>
                <a:lnTo>
                  <a:pt x="580631" y="0"/>
                </a:lnTo>
                <a:lnTo>
                  <a:pt x="580631" y="9525"/>
                </a:lnTo>
                <a:lnTo>
                  <a:pt x="609206" y="9525"/>
                </a:lnTo>
                <a:lnTo>
                  <a:pt x="609206" y="0"/>
                </a:lnTo>
                <a:close/>
              </a:path>
              <a:path w="8982710" h="1552575">
                <a:moveTo>
                  <a:pt x="626097" y="1543050"/>
                </a:moveTo>
                <a:lnTo>
                  <a:pt x="597522" y="1543050"/>
                </a:lnTo>
                <a:lnTo>
                  <a:pt x="597522" y="1552575"/>
                </a:lnTo>
                <a:lnTo>
                  <a:pt x="626097" y="1552575"/>
                </a:lnTo>
                <a:lnTo>
                  <a:pt x="626097" y="1543050"/>
                </a:lnTo>
                <a:close/>
              </a:path>
              <a:path w="8982710" h="1552575">
                <a:moveTo>
                  <a:pt x="656793" y="0"/>
                </a:moveTo>
                <a:lnTo>
                  <a:pt x="628218" y="0"/>
                </a:lnTo>
                <a:lnTo>
                  <a:pt x="628218" y="9525"/>
                </a:lnTo>
                <a:lnTo>
                  <a:pt x="656793" y="9525"/>
                </a:lnTo>
                <a:lnTo>
                  <a:pt x="656793" y="0"/>
                </a:lnTo>
                <a:close/>
              </a:path>
              <a:path w="8982710" h="1552575">
                <a:moveTo>
                  <a:pt x="673671" y="1543050"/>
                </a:moveTo>
                <a:lnTo>
                  <a:pt x="645096" y="1543050"/>
                </a:lnTo>
                <a:lnTo>
                  <a:pt x="645096" y="1552575"/>
                </a:lnTo>
                <a:lnTo>
                  <a:pt x="673671" y="1552575"/>
                </a:lnTo>
                <a:lnTo>
                  <a:pt x="673671" y="1543050"/>
                </a:lnTo>
                <a:close/>
              </a:path>
              <a:path w="8982710" h="1552575">
                <a:moveTo>
                  <a:pt x="704380" y="0"/>
                </a:moveTo>
                <a:lnTo>
                  <a:pt x="675805" y="0"/>
                </a:lnTo>
                <a:lnTo>
                  <a:pt x="675805" y="9525"/>
                </a:lnTo>
                <a:lnTo>
                  <a:pt x="704380" y="9525"/>
                </a:lnTo>
                <a:lnTo>
                  <a:pt x="704380" y="0"/>
                </a:lnTo>
                <a:close/>
              </a:path>
              <a:path w="8982710" h="1552575">
                <a:moveTo>
                  <a:pt x="721258" y="1543050"/>
                </a:moveTo>
                <a:lnTo>
                  <a:pt x="692683" y="1543050"/>
                </a:lnTo>
                <a:lnTo>
                  <a:pt x="692683" y="1552575"/>
                </a:lnTo>
                <a:lnTo>
                  <a:pt x="721258" y="1552575"/>
                </a:lnTo>
                <a:lnTo>
                  <a:pt x="721258" y="1543050"/>
                </a:lnTo>
                <a:close/>
              </a:path>
              <a:path w="8982710" h="1552575">
                <a:moveTo>
                  <a:pt x="751967" y="0"/>
                </a:moveTo>
                <a:lnTo>
                  <a:pt x="723392" y="0"/>
                </a:lnTo>
                <a:lnTo>
                  <a:pt x="723392" y="9525"/>
                </a:lnTo>
                <a:lnTo>
                  <a:pt x="751967" y="9525"/>
                </a:lnTo>
                <a:lnTo>
                  <a:pt x="751967" y="0"/>
                </a:lnTo>
                <a:close/>
              </a:path>
              <a:path w="8982710" h="1552575">
                <a:moveTo>
                  <a:pt x="768845" y="1543050"/>
                </a:moveTo>
                <a:lnTo>
                  <a:pt x="740270" y="1543050"/>
                </a:lnTo>
                <a:lnTo>
                  <a:pt x="740270" y="1552575"/>
                </a:lnTo>
                <a:lnTo>
                  <a:pt x="768845" y="1552575"/>
                </a:lnTo>
                <a:lnTo>
                  <a:pt x="768845" y="1543050"/>
                </a:lnTo>
                <a:close/>
              </a:path>
              <a:path w="8982710" h="1552575">
                <a:moveTo>
                  <a:pt x="799541" y="0"/>
                </a:moveTo>
                <a:lnTo>
                  <a:pt x="770966" y="0"/>
                </a:lnTo>
                <a:lnTo>
                  <a:pt x="770966" y="9525"/>
                </a:lnTo>
                <a:lnTo>
                  <a:pt x="799541" y="9525"/>
                </a:lnTo>
                <a:lnTo>
                  <a:pt x="799541" y="0"/>
                </a:lnTo>
                <a:close/>
              </a:path>
              <a:path w="8982710" h="1552575">
                <a:moveTo>
                  <a:pt x="816419" y="1543050"/>
                </a:moveTo>
                <a:lnTo>
                  <a:pt x="787844" y="1543050"/>
                </a:lnTo>
                <a:lnTo>
                  <a:pt x="787844" y="1552575"/>
                </a:lnTo>
                <a:lnTo>
                  <a:pt x="816419" y="1552575"/>
                </a:lnTo>
                <a:lnTo>
                  <a:pt x="816419" y="1543050"/>
                </a:lnTo>
                <a:close/>
              </a:path>
              <a:path w="8982710" h="1552575">
                <a:moveTo>
                  <a:pt x="847128" y="0"/>
                </a:moveTo>
                <a:lnTo>
                  <a:pt x="818553" y="0"/>
                </a:lnTo>
                <a:lnTo>
                  <a:pt x="818553" y="9525"/>
                </a:lnTo>
                <a:lnTo>
                  <a:pt x="847128" y="9525"/>
                </a:lnTo>
                <a:lnTo>
                  <a:pt x="847128" y="0"/>
                </a:lnTo>
                <a:close/>
              </a:path>
              <a:path w="8982710" h="1552575">
                <a:moveTo>
                  <a:pt x="864006" y="1543050"/>
                </a:moveTo>
                <a:lnTo>
                  <a:pt x="835431" y="1543050"/>
                </a:lnTo>
                <a:lnTo>
                  <a:pt x="835431" y="1552575"/>
                </a:lnTo>
                <a:lnTo>
                  <a:pt x="864006" y="1552575"/>
                </a:lnTo>
                <a:lnTo>
                  <a:pt x="864006" y="1543050"/>
                </a:lnTo>
                <a:close/>
              </a:path>
              <a:path w="8982710" h="1552575">
                <a:moveTo>
                  <a:pt x="894702" y="0"/>
                </a:moveTo>
                <a:lnTo>
                  <a:pt x="866127" y="0"/>
                </a:lnTo>
                <a:lnTo>
                  <a:pt x="866127" y="9525"/>
                </a:lnTo>
                <a:lnTo>
                  <a:pt x="894702" y="9525"/>
                </a:lnTo>
                <a:lnTo>
                  <a:pt x="894702" y="0"/>
                </a:lnTo>
                <a:close/>
              </a:path>
              <a:path w="8982710" h="1552575">
                <a:moveTo>
                  <a:pt x="911580" y="1543050"/>
                </a:moveTo>
                <a:lnTo>
                  <a:pt x="883005" y="1543050"/>
                </a:lnTo>
                <a:lnTo>
                  <a:pt x="883005" y="1552575"/>
                </a:lnTo>
                <a:lnTo>
                  <a:pt x="911580" y="1552575"/>
                </a:lnTo>
                <a:lnTo>
                  <a:pt x="911580" y="1543050"/>
                </a:lnTo>
                <a:close/>
              </a:path>
              <a:path w="8982710" h="1552575">
                <a:moveTo>
                  <a:pt x="942276" y="0"/>
                </a:moveTo>
                <a:lnTo>
                  <a:pt x="913701" y="0"/>
                </a:lnTo>
                <a:lnTo>
                  <a:pt x="913701" y="9525"/>
                </a:lnTo>
                <a:lnTo>
                  <a:pt x="942276" y="9525"/>
                </a:lnTo>
                <a:lnTo>
                  <a:pt x="942276" y="0"/>
                </a:lnTo>
                <a:close/>
              </a:path>
              <a:path w="8982710" h="1552575">
                <a:moveTo>
                  <a:pt x="959167" y="1543050"/>
                </a:moveTo>
                <a:lnTo>
                  <a:pt x="930592" y="1543050"/>
                </a:lnTo>
                <a:lnTo>
                  <a:pt x="930592" y="1552575"/>
                </a:lnTo>
                <a:lnTo>
                  <a:pt x="959167" y="1552575"/>
                </a:lnTo>
                <a:lnTo>
                  <a:pt x="959167" y="1543050"/>
                </a:lnTo>
                <a:close/>
              </a:path>
              <a:path w="8982710" h="1552575">
                <a:moveTo>
                  <a:pt x="989863" y="0"/>
                </a:moveTo>
                <a:lnTo>
                  <a:pt x="961288" y="0"/>
                </a:lnTo>
                <a:lnTo>
                  <a:pt x="961288" y="9525"/>
                </a:lnTo>
                <a:lnTo>
                  <a:pt x="989863" y="9525"/>
                </a:lnTo>
                <a:lnTo>
                  <a:pt x="989863" y="0"/>
                </a:lnTo>
                <a:close/>
              </a:path>
              <a:path w="8982710" h="1552575">
                <a:moveTo>
                  <a:pt x="1006741" y="1543050"/>
                </a:moveTo>
                <a:lnTo>
                  <a:pt x="978166" y="1543050"/>
                </a:lnTo>
                <a:lnTo>
                  <a:pt x="978166" y="1552575"/>
                </a:lnTo>
                <a:lnTo>
                  <a:pt x="1006741" y="1552575"/>
                </a:lnTo>
                <a:lnTo>
                  <a:pt x="1006741" y="1543050"/>
                </a:lnTo>
                <a:close/>
              </a:path>
              <a:path w="8982710" h="1552575">
                <a:moveTo>
                  <a:pt x="1037450" y="0"/>
                </a:moveTo>
                <a:lnTo>
                  <a:pt x="1008875" y="0"/>
                </a:lnTo>
                <a:lnTo>
                  <a:pt x="1008875" y="9525"/>
                </a:lnTo>
                <a:lnTo>
                  <a:pt x="1037450" y="9525"/>
                </a:lnTo>
                <a:lnTo>
                  <a:pt x="1037450" y="0"/>
                </a:lnTo>
                <a:close/>
              </a:path>
              <a:path w="8982710" h="1552575">
                <a:moveTo>
                  <a:pt x="1054328" y="1543050"/>
                </a:moveTo>
                <a:lnTo>
                  <a:pt x="1025753" y="1543050"/>
                </a:lnTo>
                <a:lnTo>
                  <a:pt x="1025753" y="1552575"/>
                </a:lnTo>
                <a:lnTo>
                  <a:pt x="1054328" y="1552575"/>
                </a:lnTo>
                <a:lnTo>
                  <a:pt x="1054328" y="1543050"/>
                </a:lnTo>
                <a:close/>
              </a:path>
              <a:path w="8982710" h="1552575">
                <a:moveTo>
                  <a:pt x="1085037" y="0"/>
                </a:moveTo>
                <a:lnTo>
                  <a:pt x="1056462" y="0"/>
                </a:lnTo>
                <a:lnTo>
                  <a:pt x="1056462" y="9525"/>
                </a:lnTo>
                <a:lnTo>
                  <a:pt x="1085037" y="9525"/>
                </a:lnTo>
                <a:lnTo>
                  <a:pt x="1085037" y="0"/>
                </a:lnTo>
                <a:close/>
              </a:path>
              <a:path w="8982710" h="1552575">
                <a:moveTo>
                  <a:pt x="1101915" y="1543050"/>
                </a:moveTo>
                <a:lnTo>
                  <a:pt x="1073340" y="1543050"/>
                </a:lnTo>
                <a:lnTo>
                  <a:pt x="1073340" y="1552575"/>
                </a:lnTo>
                <a:lnTo>
                  <a:pt x="1101915" y="1552575"/>
                </a:lnTo>
                <a:lnTo>
                  <a:pt x="1101915" y="1543050"/>
                </a:lnTo>
                <a:close/>
              </a:path>
              <a:path w="8982710" h="1552575">
                <a:moveTo>
                  <a:pt x="1132611" y="0"/>
                </a:moveTo>
                <a:lnTo>
                  <a:pt x="1104036" y="0"/>
                </a:lnTo>
                <a:lnTo>
                  <a:pt x="1104036" y="9525"/>
                </a:lnTo>
                <a:lnTo>
                  <a:pt x="1132611" y="9525"/>
                </a:lnTo>
                <a:lnTo>
                  <a:pt x="1132611" y="0"/>
                </a:lnTo>
                <a:close/>
              </a:path>
              <a:path w="8982710" h="1552575">
                <a:moveTo>
                  <a:pt x="1149489" y="1543050"/>
                </a:moveTo>
                <a:lnTo>
                  <a:pt x="1120914" y="1543050"/>
                </a:lnTo>
                <a:lnTo>
                  <a:pt x="1120914" y="1552575"/>
                </a:lnTo>
                <a:lnTo>
                  <a:pt x="1149489" y="1552575"/>
                </a:lnTo>
                <a:lnTo>
                  <a:pt x="1149489" y="1543050"/>
                </a:lnTo>
                <a:close/>
              </a:path>
              <a:path w="8982710" h="1552575">
                <a:moveTo>
                  <a:pt x="1180185" y="0"/>
                </a:moveTo>
                <a:lnTo>
                  <a:pt x="1151610" y="0"/>
                </a:lnTo>
                <a:lnTo>
                  <a:pt x="1151610" y="9525"/>
                </a:lnTo>
                <a:lnTo>
                  <a:pt x="1180185" y="9525"/>
                </a:lnTo>
                <a:lnTo>
                  <a:pt x="1180185" y="0"/>
                </a:lnTo>
                <a:close/>
              </a:path>
              <a:path w="8982710" h="1552575">
                <a:moveTo>
                  <a:pt x="1197076" y="1543050"/>
                </a:moveTo>
                <a:lnTo>
                  <a:pt x="1168501" y="1543050"/>
                </a:lnTo>
                <a:lnTo>
                  <a:pt x="1168501" y="1552575"/>
                </a:lnTo>
                <a:lnTo>
                  <a:pt x="1197076" y="1552575"/>
                </a:lnTo>
                <a:lnTo>
                  <a:pt x="1197076" y="1543050"/>
                </a:lnTo>
                <a:close/>
              </a:path>
              <a:path w="8982710" h="1552575">
                <a:moveTo>
                  <a:pt x="1227772" y="0"/>
                </a:moveTo>
                <a:lnTo>
                  <a:pt x="1199197" y="0"/>
                </a:lnTo>
                <a:lnTo>
                  <a:pt x="1199197" y="9525"/>
                </a:lnTo>
                <a:lnTo>
                  <a:pt x="1227772" y="9525"/>
                </a:lnTo>
                <a:lnTo>
                  <a:pt x="1227772" y="0"/>
                </a:lnTo>
                <a:close/>
              </a:path>
              <a:path w="8982710" h="1552575">
                <a:moveTo>
                  <a:pt x="1244650" y="1543050"/>
                </a:moveTo>
                <a:lnTo>
                  <a:pt x="1216075" y="1543050"/>
                </a:lnTo>
                <a:lnTo>
                  <a:pt x="1216075" y="1552575"/>
                </a:lnTo>
                <a:lnTo>
                  <a:pt x="1244650" y="1552575"/>
                </a:lnTo>
                <a:lnTo>
                  <a:pt x="1244650" y="1543050"/>
                </a:lnTo>
                <a:close/>
              </a:path>
              <a:path w="8982710" h="1552575">
                <a:moveTo>
                  <a:pt x="1275346" y="0"/>
                </a:moveTo>
                <a:lnTo>
                  <a:pt x="1246771" y="0"/>
                </a:lnTo>
                <a:lnTo>
                  <a:pt x="1246771" y="9525"/>
                </a:lnTo>
                <a:lnTo>
                  <a:pt x="1275346" y="9525"/>
                </a:lnTo>
                <a:lnTo>
                  <a:pt x="1275346" y="0"/>
                </a:lnTo>
                <a:close/>
              </a:path>
              <a:path w="8982710" h="1552575">
                <a:moveTo>
                  <a:pt x="1292237" y="1543050"/>
                </a:moveTo>
                <a:lnTo>
                  <a:pt x="1263662" y="1543050"/>
                </a:lnTo>
                <a:lnTo>
                  <a:pt x="1263662" y="1552575"/>
                </a:lnTo>
                <a:lnTo>
                  <a:pt x="1292237" y="1552575"/>
                </a:lnTo>
                <a:lnTo>
                  <a:pt x="1292237" y="1543050"/>
                </a:lnTo>
                <a:close/>
              </a:path>
              <a:path w="8982710" h="1552575">
                <a:moveTo>
                  <a:pt x="1322933" y="0"/>
                </a:moveTo>
                <a:lnTo>
                  <a:pt x="1294358" y="0"/>
                </a:lnTo>
                <a:lnTo>
                  <a:pt x="1294358" y="9525"/>
                </a:lnTo>
                <a:lnTo>
                  <a:pt x="1322933" y="9525"/>
                </a:lnTo>
                <a:lnTo>
                  <a:pt x="1322933" y="0"/>
                </a:lnTo>
                <a:close/>
              </a:path>
              <a:path w="8982710" h="1552575">
                <a:moveTo>
                  <a:pt x="1339811" y="1543050"/>
                </a:moveTo>
                <a:lnTo>
                  <a:pt x="1311236" y="1543050"/>
                </a:lnTo>
                <a:lnTo>
                  <a:pt x="1311236" y="1552575"/>
                </a:lnTo>
                <a:lnTo>
                  <a:pt x="1339811" y="1552575"/>
                </a:lnTo>
                <a:lnTo>
                  <a:pt x="1339811" y="1543050"/>
                </a:lnTo>
                <a:close/>
              </a:path>
              <a:path w="8982710" h="1552575">
                <a:moveTo>
                  <a:pt x="1370520" y="0"/>
                </a:moveTo>
                <a:lnTo>
                  <a:pt x="1341945" y="0"/>
                </a:lnTo>
                <a:lnTo>
                  <a:pt x="1341945" y="9525"/>
                </a:lnTo>
                <a:lnTo>
                  <a:pt x="1370520" y="9525"/>
                </a:lnTo>
                <a:lnTo>
                  <a:pt x="1370520" y="0"/>
                </a:lnTo>
                <a:close/>
              </a:path>
              <a:path w="8982710" h="1552575">
                <a:moveTo>
                  <a:pt x="1387398" y="1543050"/>
                </a:moveTo>
                <a:lnTo>
                  <a:pt x="1358823" y="1543050"/>
                </a:lnTo>
                <a:lnTo>
                  <a:pt x="1358823" y="1552575"/>
                </a:lnTo>
                <a:lnTo>
                  <a:pt x="1387398" y="1552575"/>
                </a:lnTo>
                <a:lnTo>
                  <a:pt x="1387398" y="1543050"/>
                </a:lnTo>
                <a:close/>
              </a:path>
              <a:path w="8982710" h="1552575">
                <a:moveTo>
                  <a:pt x="1418107" y="0"/>
                </a:moveTo>
                <a:lnTo>
                  <a:pt x="1389532" y="0"/>
                </a:lnTo>
                <a:lnTo>
                  <a:pt x="1389532" y="9525"/>
                </a:lnTo>
                <a:lnTo>
                  <a:pt x="1418107" y="9525"/>
                </a:lnTo>
                <a:lnTo>
                  <a:pt x="1418107" y="0"/>
                </a:lnTo>
                <a:close/>
              </a:path>
              <a:path w="8982710" h="1552575">
                <a:moveTo>
                  <a:pt x="1434985" y="1543050"/>
                </a:moveTo>
                <a:lnTo>
                  <a:pt x="1406410" y="1543050"/>
                </a:lnTo>
                <a:lnTo>
                  <a:pt x="1406410" y="1552575"/>
                </a:lnTo>
                <a:lnTo>
                  <a:pt x="1434985" y="1552575"/>
                </a:lnTo>
                <a:lnTo>
                  <a:pt x="1434985" y="1543050"/>
                </a:lnTo>
                <a:close/>
              </a:path>
              <a:path w="8982710" h="1552575">
                <a:moveTo>
                  <a:pt x="1465681" y="0"/>
                </a:moveTo>
                <a:lnTo>
                  <a:pt x="1437106" y="0"/>
                </a:lnTo>
                <a:lnTo>
                  <a:pt x="1437106" y="9525"/>
                </a:lnTo>
                <a:lnTo>
                  <a:pt x="1465681" y="9525"/>
                </a:lnTo>
                <a:lnTo>
                  <a:pt x="1465681" y="0"/>
                </a:lnTo>
                <a:close/>
              </a:path>
              <a:path w="8982710" h="1552575">
                <a:moveTo>
                  <a:pt x="1482559" y="1543050"/>
                </a:moveTo>
                <a:lnTo>
                  <a:pt x="1453984" y="1543050"/>
                </a:lnTo>
                <a:lnTo>
                  <a:pt x="1453984" y="1552575"/>
                </a:lnTo>
                <a:lnTo>
                  <a:pt x="1482559" y="1552575"/>
                </a:lnTo>
                <a:lnTo>
                  <a:pt x="1482559" y="1543050"/>
                </a:lnTo>
                <a:close/>
              </a:path>
              <a:path w="8982710" h="1552575">
                <a:moveTo>
                  <a:pt x="1513255" y="0"/>
                </a:moveTo>
                <a:lnTo>
                  <a:pt x="1484680" y="0"/>
                </a:lnTo>
                <a:lnTo>
                  <a:pt x="1484680" y="9525"/>
                </a:lnTo>
                <a:lnTo>
                  <a:pt x="1513255" y="9525"/>
                </a:lnTo>
                <a:lnTo>
                  <a:pt x="1513255" y="0"/>
                </a:lnTo>
                <a:close/>
              </a:path>
              <a:path w="8982710" h="1552575">
                <a:moveTo>
                  <a:pt x="1530146" y="1543050"/>
                </a:moveTo>
                <a:lnTo>
                  <a:pt x="1501571" y="1543050"/>
                </a:lnTo>
                <a:lnTo>
                  <a:pt x="1501571" y="1552575"/>
                </a:lnTo>
                <a:lnTo>
                  <a:pt x="1530146" y="1552575"/>
                </a:lnTo>
                <a:lnTo>
                  <a:pt x="1530146" y="1543050"/>
                </a:lnTo>
                <a:close/>
              </a:path>
              <a:path w="8982710" h="1552575">
                <a:moveTo>
                  <a:pt x="1560842" y="0"/>
                </a:moveTo>
                <a:lnTo>
                  <a:pt x="1532267" y="0"/>
                </a:lnTo>
                <a:lnTo>
                  <a:pt x="1532267" y="9525"/>
                </a:lnTo>
                <a:lnTo>
                  <a:pt x="1560842" y="9525"/>
                </a:lnTo>
                <a:lnTo>
                  <a:pt x="1560842" y="0"/>
                </a:lnTo>
                <a:close/>
              </a:path>
              <a:path w="8982710" h="1552575">
                <a:moveTo>
                  <a:pt x="1577721" y="1543050"/>
                </a:moveTo>
                <a:lnTo>
                  <a:pt x="1549146" y="1543050"/>
                </a:lnTo>
                <a:lnTo>
                  <a:pt x="1549146" y="1552575"/>
                </a:lnTo>
                <a:lnTo>
                  <a:pt x="1577721" y="1552575"/>
                </a:lnTo>
                <a:lnTo>
                  <a:pt x="1577721" y="1543050"/>
                </a:lnTo>
                <a:close/>
              </a:path>
              <a:path w="8982710" h="1552575">
                <a:moveTo>
                  <a:pt x="1608416" y="0"/>
                </a:moveTo>
                <a:lnTo>
                  <a:pt x="1579841" y="0"/>
                </a:lnTo>
                <a:lnTo>
                  <a:pt x="1579841" y="9525"/>
                </a:lnTo>
                <a:lnTo>
                  <a:pt x="1608416" y="9525"/>
                </a:lnTo>
                <a:lnTo>
                  <a:pt x="1608416" y="0"/>
                </a:lnTo>
                <a:close/>
              </a:path>
              <a:path w="8982710" h="1552575">
                <a:moveTo>
                  <a:pt x="1625307" y="1543050"/>
                </a:moveTo>
                <a:lnTo>
                  <a:pt x="1596732" y="1543050"/>
                </a:lnTo>
                <a:lnTo>
                  <a:pt x="1596732" y="1552575"/>
                </a:lnTo>
                <a:lnTo>
                  <a:pt x="1625307" y="1552575"/>
                </a:lnTo>
                <a:lnTo>
                  <a:pt x="1625307" y="1543050"/>
                </a:lnTo>
                <a:close/>
              </a:path>
              <a:path w="8982710" h="1552575">
                <a:moveTo>
                  <a:pt x="1656003" y="0"/>
                </a:moveTo>
                <a:lnTo>
                  <a:pt x="1627428" y="0"/>
                </a:lnTo>
                <a:lnTo>
                  <a:pt x="1627428" y="9525"/>
                </a:lnTo>
                <a:lnTo>
                  <a:pt x="1656003" y="9525"/>
                </a:lnTo>
                <a:lnTo>
                  <a:pt x="1656003" y="0"/>
                </a:lnTo>
                <a:close/>
              </a:path>
              <a:path w="8982710" h="1552575">
                <a:moveTo>
                  <a:pt x="1672882" y="1543050"/>
                </a:moveTo>
                <a:lnTo>
                  <a:pt x="1644307" y="1543050"/>
                </a:lnTo>
                <a:lnTo>
                  <a:pt x="1644307" y="1552575"/>
                </a:lnTo>
                <a:lnTo>
                  <a:pt x="1672882" y="1552575"/>
                </a:lnTo>
                <a:lnTo>
                  <a:pt x="1672882" y="1543050"/>
                </a:lnTo>
                <a:close/>
              </a:path>
              <a:path w="8982710" h="1552575">
                <a:moveTo>
                  <a:pt x="1703590" y="0"/>
                </a:moveTo>
                <a:lnTo>
                  <a:pt x="1675015" y="0"/>
                </a:lnTo>
                <a:lnTo>
                  <a:pt x="1675015" y="9525"/>
                </a:lnTo>
                <a:lnTo>
                  <a:pt x="1703590" y="9525"/>
                </a:lnTo>
                <a:lnTo>
                  <a:pt x="1703590" y="0"/>
                </a:lnTo>
                <a:close/>
              </a:path>
              <a:path w="8982710" h="1552575">
                <a:moveTo>
                  <a:pt x="1720469" y="1543050"/>
                </a:moveTo>
                <a:lnTo>
                  <a:pt x="1691894" y="1543050"/>
                </a:lnTo>
                <a:lnTo>
                  <a:pt x="1691894" y="1552575"/>
                </a:lnTo>
                <a:lnTo>
                  <a:pt x="1720469" y="1552575"/>
                </a:lnTo>
                <a:lnTo>
                  <a:pt x="1720469" y="1543050"/>
                </a:lnTo>
                <a:close/>
              </a:path>
              <a:path w="8982710" h="1552575">
                <a:moveTo>
                  <a:pt x="1751177" y="0"/>
                </a:moveTo>
                <a:lnTo>
                  <a:pt x="1722602" y="0"/>
                </a:lnTo>
                <a:lnTo>
                  <a:pt x="1722602" y="9525"/>
                </a:lnTo>
                <a:lnTo>
                  <a:pt x="1751177" y="9525"/>
                </a:lnTo>
                <a:lnTo>
                  <a:pt x="1751177" y="0"/>
                </a:lnTo>
                <a:close/>
              </a:path>
              <a:path w="8982710" h="1552575">
                <a:moveTo>
                  <a:pt x="1768055" y="1543050"/>
                </a:moveTo>
                <a:lnTo>
                  <a:pt x="1739480" y="1543050"/>
                </a:lnTo>
                <a:lnTo>
                  <a:pt x="1739480" y="1552575"/>
                </a:lnTo>
                <a:lnTo>
                  <a:pt x="1768055" y="1552575"/>
                </a:lnTo>
                <a:lnTo>
                  <a:pt x="1768055" y="1543050"/>
                </a:lnTo>
                <a:close/>
              </a:path>
              <a:path w="8982710" h="1552575">
                <a:moveTo>
                  <a:pt x="1798751" y="0"/>
                </a:moveTo>
                <a:lnTo>
                  <a:pt x="1770176" y="0"/>
                </a:lnTo>
                <a:lnTo>
                  <a:pt x="1770176" y="9525"/>
                </a:lnTo>
                <a:lnTo>
                  <a:pt x="1798751" y="9525"/>
                </a:lnTo>
                <a:lnTo>
                  <a:pt x="1798751" y="0"/>
                </a:lnTo>
                <a:close/>
              </a:path>
              <a:path w="8982710" h="1552575">
                <a:moveTo>
                  <a:pt x="1815630" y="1543050"/>
                </a:moveTo>
                <a:lnTo>
                  <a:pt x="1787055" y="1543050"/>
                </a:lnTo>
                <a:lnTo>
                  <a:pt x="1787055" y="1552575"/>
                </a:lnTo>
                <a:lnTo>
                  <a:pt x="1815630" y="1552575"/>
                </a:lnTo>
                <a:lnTo>
                  <a:pt x="1815630" y="1543050"/>
                </a:lnTo>
                <a:close/>
              </a:path>
              <a:path w="8982710" h="1552575">
                <a:moveTo>
                  <a:pt x="1846326" y="0"/>
                </a:moveTo>
                <a:lnTo>
                  <a:pt x="1817751" y="0"/>
                </a:lnTo>
                <a:lnTo>
                  <a:pt x="1817751" y="9525"/>
                </a:lnTo>
                <a:lnTo>
                  <a:pt x="1846326" y="9525"/>
                </a:lnTo>
                <a:lnTo>
                  <a:pt x="1846326" y="0"/>
                </a:lnTo>
                <a:close/>
              </a:path>
              <a:path w="8982710" h="1552575">
                <a:moveTo>
                  <a:pt x="1863217" y="1543050"/>
                </a:moveTo>
                <a:lnTo>
                  <a:pt x="1834642" y="1543050"/>
                </a:lnTo>
                <a:lnTo>
                  <a:pt x="1834642" y="1552575"/>
                </a:lnTo>
                <a:lnTo>
                  <a:pt x="1863217" y="1552575"/>
                </a:lnTo>
                <a:lnTo>
                  <a:pt x="1863217" y="1543050"/>
                </a:lnTo>
                <a:close/>
              </a:path>
              <a:path w="8982710" h="1552575">
                <a:moveTo>
                  <a:pt x="1893912" y="0"/>
                </a:moveTo>
                <a:lnTo>
                  <a:pt x="1865337" y="0"/>
                </a:lnTo>
                <a:lnTo>
                  <a:pt x="1865337" y="9525"/>
                </a:lnTo>
                <a:lnTo>
                  <a:pt x="1893912" y="9525"/>
                </a:lnTo>
                <a:lnTo>
                  <a:pt x="1893912" y="0"/>
                </a:lnTo>
                <a:close/>
              </a:path>
              <a:path w="8982710" h="1552575">
                <a:moveTo>
                  <a:pt x="1910791" y="1543050"/>
                </a:moveTo>
                <a:lnTo>
                  <a:pt x="1882216" y="1543050"/>
                </a:lnTo>
                <a:lnTo>
                  <a:pt x="1882216" y="1552575"/>
                </a:lnTo>
                <a:lnTo>
                  <a:pt x="1910791" y="1552575"/>
                </a:lnTo>
                <a:lnTo>
                  <a:pt x="1910791" y="1543050"/>
                </a:lnTo>
                <a:close/>
              </a:path>
              <a:path w="8982710" h="1552575">
                <a:moveTo>
                  <a:pt x="1941487" y="0"/>
                </a:moveTo>
                <a:lnTo>
                  <a:pt x="1912912" y="0"/>
                </a:lnTo>
                <a:lnTo>
                  <a:pt x="1912912" y="9525"/>
                </a:lnTo>
                <a:lnTo>
                  <a:pt x="1941487" y="9525"/>
                </a:lnTo>
                <a:lnTo>
                  <a:pt x="1941487" y="0"/>
                </a:lnTo>
                <a:close/>
              </a:path>
              <a:path w="8982710" h="1552575">
                <a:moveTo>
                  <a:pt x="1958378" y="1543050"/>
                </a:moveTo>
                <a:lnTo>
                  <a:pt x="1929803" y="1543050"/>
                </a:lnTo>
                <a:lnTo>
                  <a:pt x="1929803" y="1552575"/>
                </a:lnTo>
                <a:lnTo>
                  <a:pt x="1958378" y="1552575"/>
                </a:lnTo>
                <a:lnTo>
                  <a:pt x="1958378" y="1543050"/>
                </a:lnTo>
                <a:close/>
              </a:path>
              <a:path w="8982710" h="1552575">
                <a:moveTo>
                  <a:pt x="1989074" y="0"/>
                </a:moveTo>
                <a:lnTo>
                  <a:pt x="1960499" y="0"/>
                </a:lnTo>
                <a:lnTo>
                  <a:pt x="1960499" y="9525"/>
                </a:lnTo>
                <a:lnTo>
                  <a:pt x="1989074" y="9525"/>
                </a:lnTo>
                <a:lnTo>
                  <a:pt x="1989074" y="0"/>
                </a:lnTo>
                <a:close/>
              </a:path>
              <a:path w="8982710" h="1552575">
                <a:moveTo>
                  <a:pt x="2005952" y="1543050"/>
                </a:moveTo>
                <a:lnTo>
                  <a:pt x="1977377" y="1543050"/>
                </a:lnTo>
                <a:lnTo>
                  <a:pt x="1977377" y="1552575"/>
                </a:lnTo>
                <a:lnTo>
                  <a:pt x="2005952" y="1552575"/>
                </a:lnTo>
                <a:lnTo>
                  <a:pt x="2005952" y="1543050"/>
                </a:lnTo>
                <a:close/>
              </a:path>
              <a:path w="8982710" h="1552575">
                <a:moveTo>
                  <a:pt x="2036660" y="0"/>
                </a:moveTo>
                <a:lnTo>
                  <a:pt x="2008085" y="0"/>
                </a:lnTo>
                <a:lnTo>
                  <a:pt x="2008085" y="9525"/>
                </a:lnTo>
                <a:lnTo>
                  <a:pt x="2036660" y="9525"/>
                </a:lnTo>
                <a:lnTo>
                  <a:pt x="2036660" y="0"/>
                </a:lnTo>
                <a:close/>
              </a:path>
              <a:path w="8982710" h="1552575">
                <a:moveTo>
                  <a:pt x="2053539" y="1543050"/>
                </a:moveTo>
                <a:lnTo>
                  <a:pt x="2024964" y="1543050"/>
                </a:lnTo>
                <a:lnTo>
                  <a:pt x="2024964" y="1552575"/>
                </a:lnTo>
                <a:lnTo>
                  <a:pt x="2053539" y="1552575"/>
                </a:lnTo>
                <a:lnTo>
                  <a:pt x="2053539" y="1543050"/>
                </a:lnTo>
                <a:close/>
              </a:path>
              <a:path w="8982710" h="1552575">
                <a:moveTo>
                  <a:pt x="2084247" y="0"/>
                </a:moveTo>
                <a:lnTo>
                  <a:pt x="2055672" y="0"/>
                </a:lnTo>
                <a:lnTo>
                  <a:pt x="2055672" y="9525"/>
                </a:lnTo>
                <a:lnTo>
                  <a:pt x="2084247" y="9525"/>
                </a:lnTo>
                <a:lnTo>
                  <a:pt x="2084247" y="0"/>
                </a:lnTo>
                <a:close/>
              </a:path>
              <a:path w="8982710" h="1552575">
                <a:moveTo>
                  <a:pt x="2101126" y="1543050"/>
                </a:moveTo>
                <a:lnTo>
                  <a:pt x="2072551" y="1543050"/>
                </a:lnTo>
                <a:lnTo>
                  <a:pt x="2072551" y="1552575"/>
                </a:lnTo>
                <a:lnTo>
                  <a:pt x="2101126" y="1552575"/>
                </a:lnTo>
                <a:lnTo>
                  <a:pt x="2101126" y="1543050"/>
                </a:lnTo>
                <a:close/>
              </a:path>
              <a:path w="8982710" h="1552575">
                <a:moveTo>
                  <a:pt x="2131822" y="0"/>
                </a:moveTo>
                <a:lnTo>
                  <a:pt x="2103247" y="0"/>
                </a:lnTo>
                <a:lnTo>
                  <a:pt x="2103247" y="9525"/>
                </a:lnTo>
                <a:lnTo>
                  <a:pt x="2131822" y="9525"/>
                </a:lnTo>
                <a:lnTo>
                  <a:pt x="2131822" y="0"/>
                </a:lnTo>
                <a:close/>
              </a:path>
              <a:path w="8982710" h="1552575">
                <a:moveTo>
                  <a:pt x="2148700" y="1543050"/>
                </a:moveTo>
                <a:lnTo>
                  <a:pt x="2120125" y="1543050"/>
                </a:lnTo>
                <a:lnTo>
                  <a:pt x="2120125" y="1552575"/>
                </a:lnTo>
                <a:lnTo>
                  <a:pt x="2148700" y="1552575"/>
                </a:lnTo>
                <a:lnTo>
                  <a:pt x="2148700" y="1543050"/>
                </a:lnTo>
                <a:close/>
              </a:path>
              <a:path w="8982710" h="1552575">
                <a:moveTo>
                  <a:pt x="2179396" y="0"/>
                </a:moveTo>
                <a:lnTo>
                  <a:pt x="2150821" y="0"/>
                </a:lnTo>
                <a:lnTo>
                  <a:pt x="2150821" y="9525"/>
                </a:lnTo>
                <a:lnTo>
                  <a:pt x="2179396" y="9525"/>
                </a:lnTo>
                <a:lnTo>
                  <a:pt x="2179396" y="0"/>
                </a:lnTo>
                <a:close/>
              </a:path>
              <a:path w="8982710" h="1552575">
                <a:moveTo>
                  <a:pt x="2196287" y="1543050"/>
                </a:moveTo>
                <a:lnTo>
                  <a:pt x="2167712" y="1543050"/>
                </a:lnTo>
                <a:lnTo>
                  <a:pt x="2167712" y="1552575"/>
                </a:lnTo>
                <a:lnTo>
                  <a:pt x="2196287" y="1552575"/>
                </a:lnTo>
                <a:lnTo>
                  <a:pt x="2196287" y="1543050"/>
                </a:lnTo>
                <a:close/>
              </a:path>
              <a:path w="8982710" h="1552575">
                <a:moveTo>
                  <a:pt x="2226983" y="0"/>
                </a:moveTo>
                <a:lnTo>
                  <a:pt x="2198408" y="0"/>
                </a:lnTo>
                <a:lnTo>
                  <a:pt x="2198408" y="9525"/>
                </a:lnTo>
                <a:lnTo>
                  <a:pt x="2226983" y="9525"/>
                </a:lnTo>
                <a:lnTo>
                  <a:pt x="2226983" y="0"/>
                </a:lnTo>
                <a:close/>
              </a:path>
              <a:path w="8982710" h="1552575">
                <a:moveTo>
                  <a:pt x="2243861" y="1543050"/>
                </a:moveTo>
                <a:lnTo>
                  <a:pt x="2215286" y="1543050"/>
                </a:lnTo>
                <a:lnTo>
                  <a:pt x="2215286" y="1552575"/>
                </a:lnTo>
                <a:lnTo>
                  <a:pt x="2243861" y="1552575"/>
                </a:lnTo>
                <a:lnTo>
                  <a:pt x="2243861" y="1543050"/>
                </a:lnTo>
                <a:close/>
              </a:path>
              <a:path w="8982710" h="1552575">
                <a:moveTo>
                  <a:pt x="2274557" y="0"/>
                </a:moveTo>
                <a:lnTo>
                  <a:pt x="2245982" y="0"/>
                </a:lnTo>
                <a:lnTo>
                  <a:pt x="2245982" y="9525"/>
                </a:lnTo>
                <a:lnTo>
                  <a:pt x="2274557" y="9525"/>
                </a:lnTo>
                <a:lnTo>
                  <a:pt x="2274557" y="0"/>
                </a:lnTo>
                <a:close/>
              </a:path>
              <a:path w="8982710" h="1552575">
                <a:moveTo>
                  <a:pt x="2291448" y="1543050"/>
                </a:moveTo>
                <a:lnTo>
                  <a:pt x="2262873" y="1543050"/>
                </a:lnTo>
                <a:lnTo>
                  <a:pt x="2262873" y="1552575"/>
                </a:lnTo>
                <a:lnTo>
                  <a:pt x="2291448" y="1552575"/>
                </a:lnTo>
                <a:lnTo>
                  <a:pt x="2291448" y="1543050"/>
                </a:lnTo>
                <a:close/>
              </a:path>
              <a:path w="8982710" h="1552575">
                <a:moveTo>
                  <a:pt x="2322144" y="0"/>
                </a:moveTo>
                <a:lnTo>
                  <a:pt x="2293569" y="0"/>
                </a:lnTo>
                <a:lnTo>
                  <a:pt x="2293569" y="9525"/>
                </a:lnTo>
                <a:lnTo>
                  <a:pt x="2322144" y="9525"/>
                </a:lnTo>
                <a:lnTo>
                  <a:pt x="2322144" y="0"/>
                </a:lnTo>
                <a:close/>
              </a:path>
              <a:path w="8982710" h="1552575">
                <a:moveTo>
                  <a:pt x="2339022" y="1543050"/>
                </a:moveTo>
                <a:lnTo>
                  <a:pt x="2310447" y="1543050"/>
                </a:lnTo>
                <a:lnTo>
                  <a:pt x="2310447" y="1552575"/>
                </a:lnTo>
                <a:lnTo>
                  <a:pt x="2339022" y="1552575"/>
                </a:lnTo>
                <a:lnTo>
                  <a:pt x="2339022" y="1543050"/>
                </a:lnTo>
                <a:close/>
              </a:path>
              <a:path w="8982710" h="1552575">
                <a:moveTo>
                  <a:pt x="2369731" y="0"/>
                </a:moveTo>
                <a:lnTo>
                  <a:pt x="2341156" y="0"/>
                </a:lnTo>
                <a:lnTo>
                  <a:pt x="2341156" y="9525"/>
                </a:lnTo>
                <a:lnTo>
                  <a:pt x="2369731" y="9525"/>
                </a:lnTo>
                <a:lnTo>
                  <a:pt x="2369731" y="0"/>
                </a:lnTo>
                <a:close/>
              </a:path>
              <a:path w="8982710" h="1552575">
                <a:moveTo>
                  <a:pt x="2386609" y="1543050"/>
                </a:moveTo>
                <a:lnTo>
                  <a:pt x="2358034" y="1543050"/>
                </a:lnTo>
                <a:lnTo>
                  <a:pt x="2358034" y="1552575"/>
                </a:lnTo>
                <a:lnTo>
                  <a:pt x="2386609" y="1552575"/>
                </a:lnTo>
                <a:lnTo>
                  <a:pt x="2386609" y="1543050"/>
                </a:lnTo>
                <a:close/>
              </a:path>
              <a:path w="8982710" h="1552575">
                <a:moveTo>
                  <a:pt x="2417305" y="0"/>
                </a:moveTo>
                <a:lnTo>
                  <a:pt x="2388730" y="0"/>
                </a:lnTo>
                <a:lnTo>
                  <a:pt x="2388730" y="9525"/>
                </a:lnTo>
                <a:lnTo>
                  <a:pt x="2417305" y="9525"/>
                </a:lnTo>
                <a:lnTo>
                  <a:pt x="2417305" y="0"/>
                </a:lnTo>
                <a:close/>
              </a:path>
              <a:path w="8982710" h="1552575">
                <a:moveTo>
                  <a:pt x="2434196" y="1543050"/>
                </a:moveTo>
                <a:lnTo>
                  <a:pt x="2405621" y="1543050"/>
                </a:lnTo>
                <a:lnTo>
                  <a:pt x="2405621" y="1552575"/>
                </a:lnTo>
                <a:lnTo>
                  <a:pt x="2434196" y="1552575"/>
                </a:lnTo>
                <a:lnTo>
                  <a:pt x="2434196" y="1543050"/>
                </a:lnTo>
                <a:close/>
              </a:path>
              <a:path w="8982710" h="1552575">
                <a:moveTo>
                  <a:pt x="2464892" y="0"/>
                </a:moveTo>
                <a:lnTo>
                  <a:pt x="2436317" y="0"/>
                </a:lnTo>
                <a:lnTo>
                  <a:pt x="2436317" y="9525"/>
                </a:lnTo>
                <a:lnTo>
                  <a:pt x="2464892" y="9525"/>
                </a:lnTo>
                <a:lnTo>
                  <a:pt x="2464892" y="0"/>
                </a:lnTo>
                <a:close/>
              </a:path>
              <a:path w="8982710" h="1552575">
                <a:moveTo>
                  <a:pt x="2481770" y="1543050"/>
                </a:moveTo>
                <a:lnTo>
                  <a:pt x="2453195" y="1543050"/>
                </a:lnTo>
                <a:lnTo>
                  <a:pt x="2453195" y="1552575"/>
                </a:lnTo>
                <a:lnTo>
                  <a:pt x="2481770" y="1552575"/>
                </a:lnTo>
                <a:lnTo>
                  <a:pt x="2481770" y="1543050"/>
                </a:lnTo>
                <a:close/>
              </a:path>
              <a:path w="8982710" h="1552575">
                <a:moveTo>
                  <a:pt x="2512466" y="0"/>
                </a:moveTo>
                <a:lnTo>
                  <a:pt x="2483891" y="0"/>
                </a:lnTo>
                <a:lnTo>
                  <a:pt x="2483891" y="9525"/>
                </a:lnTo>
                <a:lnTo>
                  <a:pt x="2512466" y="9525"/>
                </a:lnTo>
                <a:lnTo>
                  <a:pt x="2512466" y="0"/>
                </a:lnTo>
                <a:close/>
              </a:path>
              <a:path w="8982710" h="1552575">
                <a:moveTo>
                  <a:pt x="2529357" y="1543050"/>
                </a:moveTo>
                <a:lnTo>
                  <a:pt x="2500782" y="1543050"/>
                </a:lnTo>
                <a:lnTo>
                  <a:pt x="2500782" y="1552575"/>
                </a:lnTo>
                <a:lnTo>
                  <a:pt x="2529357" y="1552575"/>
                </a:lnTo>
                <a:lnTo>
                  <a:pt x="2529357" y="1543050"/>
                </a:lnTo>
                <a:close/>
              </a:path>
              <a:path w="8982710" h="1552575">
                <a:moveTo>
                  <a:pt x="2560053" y="0"/>
                </a:moveTo>
                <a:lnTo>
                  <a:pt x="2531478" y="0"/>
                </a:lnTo>
                <a:lnTo>
                  <a:pt x="2531478" y="9525"/>
                </a:lnTo>
                <a:lnTo>
                  <a:pt x="2560053" y="9525"/>
                </a:lnTo>
                <a:lnTo>
                  <a:pt x="2560053" y="0"/>
                </a:lnTo>
                <a:close/>
              </a:path>
              <a:path w="8982710" h="1552575">
                <a:moveTo>
                  <a:pt x="2576931" y="1543050"/>
                </a:moveTo>
                <a:lnTo>
                  <a:pt x="2548356" y="1543050"/>
                </a:lnTo>
                <a:lnTo>
                  <a:pt x="2548356" y="1552575"/>
                </a:lnTo>
                <a:lnTo>
                  <a:pt x="2576931" y="1552575"/>
                </a:lnTo>
                <a:lnTo>
                  <a:pt x="2576931" y="1543050"/>
                </a:lnTo>
                <a:close/>
              </a:path>
              <a:path w="8982710" h="1552575">
                <a:moveTo>
                  <a:pt x="2607627" y="0"/>
                </a:moveTo>
                <a:lnTo>
                  <a:pt x="2579052" y="0"/>
                </a:lnTo>
                <a:lnTo>
                  <a:pt x="2579052" y="9525"/>
                </a:lnTo>
                <a:lnTo>
                  <a:pt x="2607627" y="9525"/>
                </a:lnTo>
                <a:lnTo>
                  <a:pt x="2607627" y="0"/>
                </a:lnTo>
                <a:close/>
              </a:path>
              <a:path w="8982710" h="1552575">
                <a:moveTo>
                  <a:pt x="2624518" y="1543050"/>
                </a:moveTo>
                <a:lnTo>
                  <a:pt x="2595943" y="1543050"/>
                </a:lnTo>
                <a:lnTo>
                  <a:pt x="2595943" y="1552575"/>
                </a:lnTo>
                <a:lnTo>
                  <a:pt x="2624518" y="1552575"/>
                </a:lnTo>
                <a:lnTo>
                  <a:pt x="2624518" y="1543050"/>
                </a:lnTo>
                <a:close/>
              </a:path>
              <a:path w="8982710" h="1552575">
                <a:moveTo>
                  <a:pt x="2655214" y="0"/>
                </a:moveTo>
                <a:lnTo>
                  <a:pt x="2626639" y="0"/>
                </a:lnTo>
                <a:lnTo>
                  <a:pt x="2626639" y="9525"/>
                </a:lnTo>
                <a:lnTo>
                  <a:pt x="2655214" y="9525"/>
                </a:lnTo>
                <a:lnTo>
                  <a:pt x="2655214" y="0"/>
                </a:lnTo>
                <a:close/>
              </a:path>
              <a:path w="8982710" h="1552575">
                <a:moveTo>
                  <a:pt x="2672092" y="1543050"/>
                </a:moveTo>
                <a:lnTo>
                  <a:pt x="2643517" y="1543050"/>
                </a:lnTo>
                <a:lnTo>
                  <a:pt x="2643517" y="1552575"/>
                </a:lnTo>
                <a:lnTo>
                  <a:pt x="2672092" y="1552575"/>
                </a:lnTo>
                <a:lnTo>
                  <a:pt x="2672092" y="1543050"/>
                </a:lnTo>
                <a:close/>
              </a:path>
              <a:path w="8982710" h="1552575">
                <a:moveTo>
                  <a:pt x="2702801" y="0"/>
                </a:moveTo>
                <a:lnTo>
                  <a:pt x="2674226" y="0"/>
                </a:lnTo>
                <a:lnTo>
                  <a:pt x="2674226" y="9525"/>
                </a:lnTo>
                <a:lnTo>
                  <a:pt x="2702801" y="9525"/>
                </a:lnTo>
                <a:lnTo>
                  <a:pt x="2702801" y="0"/>
                </a:lnTo>
                <a:close/>
              </a:path>
              <a:path w="8982710" h="1552575">
                <a:moveTo>
                  <a:pt x="2719679" y="1543050"/>
                </a:moveTo>
                <a:lnTo>
                  <a:pt x="2691104" y="1543050"/>
                </a:lnTo>
                <a:lnTo>
                  <a:pt x="2691104" y="1552575"/>
                </a:lnTo>
                <a:lnTo>
                  <a:pt x="2719679" y="1552575"/>
                </a:lnTo>
                <a:lnTo>
                  <a:pt x="2719679" y="1543050"/>
                </a:lnTo>
                <a:close/>
              </a:path>
              <a:path w="8982710" h="1552575">
                <a:moveTo>
                  <a:pt x="2750375" y="0"/>
                </a:moveTo>
                <a:lnTo>
                  <a:pt x="2721800" y="0"/>
                </a:lnTo>
                <a:lnTo>
                  <a:pt x="2721800" y="9525"/>
                </a:lnTo>
                <a:lnTo>
                  <a:pt x="2750375" y="9525"/>
                </a:lnTo>
                <a:lnTo>
                  <a:pt x="2750375" y="0"/>
                </a:lnTo>
                <a:close/>
              </a:path>
              <a:path w="8982710" h="1552575">
                <a:moveTo>
                  <a:pt x="2767266" y="1543050"/>
                </a:moveTo>
                <a:lnTo>
                  <a:pt x="2738691" y="1543050"/>
                </a:lnTo>
                <a:lnTo>
                  <a:pt x="2738691" y="1552575"/>
                </a:lnTo>
                <a:lnTo>
                  <a:pt x="2767266" y="1552575"/>
                </a:lnTo>
                <a:lnTo>
                  <a:pt x="2767266" y="1543050"/>
                </a:lnTo>
                <a:close/>
              </a:path>
              <a:path w="8982710" h="1552575">
                <a:moveTo>
                  <a:pt x="2797962" y="0"/>
                </a:moveTo>
                <a:lnTo>
                  <a:pt x="2769387" y="0"/>
                </a:lnTo>
                <a:lnTo>
                  <a:pt x="2769387" y="9525"/>
                </a:lnTo>
                <a:lnTo>
                  <a:pt x="2797962" y="9525"/>
                </a:lnTo>
                <a:lnTo>
                  <a:pt x="2797962" y="0"/>
                </a:lnTo>
                <a:close/>
              </a:path>
              <a:path w="8982710" h="1552575">
                <a:moveTo>
                  <a:pt x="2814840" y="1543050"/>
                </a:moveTo>
                <a:lnTo>
                  <a:pt x="2786265" y="1543050"/>
                </a:lnTo>
                <a:lnTo>
                  <a:pt x="2786265" y="1552575"/>
                </a:lnTo>
                <a:lnTo>
                  <a:pt x="2814840" y="1552575"/>
                </a:lnTo>
                <a:lnTo>
                  <a:pt x="2814840" y="1543050"/>
                </a:lnTo>
                <a:close/>
              </a:path>
              <a:path w="8982710" h="1552575">
                <a:moveTo>
                  <a:pt x="2845536" y="0"/>
                </a:moveTo>
                <a:lnTo>
                  <a:pt x="2816961" y="0"/>
                </a:lnTo>
                <a:lnTo>
                  <a:pt x="2816961" y="9525"/>
                </a:lnTo>
                <a:lnTo>
                  <a:pt x="2845536" y="9525"/>
                </a:lnTo>
                <a:lnTo>
                  <a:pt x="2845536" y="0"/>
                </a:lnTo>
                <a:close/>
              </a:path>
              <a:path w="8982710" h="1552575">
                <a:moveTo>
                  <a:pt x="2862427" y="1543050"/>
                </a:moveTo>
                <a:lnTo>
                  <a:pt x="2833852" y="1543050"/>
                </a:lnTo>
                <a:lnTo>
                  <a:pt x="2833852" y="1552575"/>
                </a:lnTo>
                <a:lnTo>
                  <a:pt x="2862427" y="1552575"/>
                </a:lnTo>
                <a:lnTo>
                  <a:pt x="2862427" y="1543050"/>
                </a:lnTo>
                <a:close/>
              </a:path>
              <a:path w="8982710" h="1552575">
                <a:moveTo>
                  <a:pt x="2893123" y="0"/>
                </a:moveTo>
                <a:lnTo>
                  <a:pt x="2864548" y="0"/>
                </a:lnTo>
                <a:lnTo>
                  <a:pt x="2864548" y="9525"/>
                </a:lnTo>
                <a:lnTo>
                  <a:pt x="2893123" y="9525"/>
                </a:lnTo>
                <a:lnTo>
                  <a:pt x="2893123" y="0"/>
                </a:lnTo>
                <a:close/>
              </a:path>
              <a:path w="8982710" h="1552575">
                <a:moveTo>
                  <a:pt x="2910001" y="1543050"/>
                </a:moveTo>
                <a:lnTo>
                  <a:pt x="2881426" y="1543050"/>
                </a:lnTo>
                <a:lnTo>
                  <a:pt x="2881426" y="1552575"/>
                </a:lnTo>
                <a:lnTo>
                  <a:pt x="2910001" y="1552575"/>
                </a:lnTo>
                <a:lnTo>
                  <a:pt x="2910001" y="1543050"/>
                </a:lnTo>
                <a:close/>
              </a:path>
              <a:path w="8982710" h="1552575">
                <a:moveTo>
                  <a:pt x="2940697" y="0"/>
                </a:moveTo>
                <a:lnTo>
                  <a:pt x="2912122" y="0"/>
                </a:lnTo>
                <a:lnTo>
                  <a:pt x="2912122" y="9525"/>
                </a:lnTo>
                <a:lnTo>
                  <a:pt x="2940697" y="9525"/>
                </a:lnTo>
                <a:lnTo>
                  <a:pt x="2940697" y="0"/>
                </a:lnTo>
                <a:close/>
              </a:path>
              <a:path w="8982710" h="1552575">
                <a:moveTo>
                  <a:pt x="2957576" y="1543050"/>
                </a:moveTo>
                <a:lnTo>
                  <a:pt x="2929001" y="1543050"/>
                </a:lnTo>
                <a:lnTo>
                  <a:pt x="2929001" y="1552575"/>
                </a:lnTo>
                <a:lnTo>
                  <a:pt x="2957576" y="1552575"/>
                </a:lnTo>
                <a:lnTo>
                  <a:pt x="2957576" y="1543050"/>
                </a:lnTo>
                <a:close/>
              </a:path>
              <a:path w="8982710" h="1552575">
                <a:moveTo>
                  <a:pt x="2988284" y="0"/>
                </a:moveTo>
                <a:lnTo>
                  <a:pt x="2959709" y="0"/>
                </a:lnTo>
                <a:lnTo>
                  <a:pt x="2959709" y="9525"/>
                </a:lnTo>
                <a:lnTo>
                  <a:pt x="2988284" y="9525"/>
                </a:lnTo>
                <a:lnTo>
                  <a:pt x="2988284" y="0"/>
                </a:lnTo>
                <a:close/>
              </a:path>
              <a:path w="8982710" h="1552575">
                <a:moveTo>
                  <a:pt x="3005163" y="1543050"/>
                </a:moveTo>
                <a:lnTo>
                  <a:pt x="2976588" y="1543050"/>
                </a:lnTo>
                <a:lnTo>
                  <a:pt x="2976588" y="1552575"/>
                </a:lnTo>
                <a:lnTo>
                  <a:pt x="3005163" y="1552575"/>
                </a:lnTo>
                <a:lnTo>
                  <a:pt x="3005163" y="1543050"/>
                </a:lnTo>
                <a:close/>
              </a:path>
              <a:path w="8982710" h="1552575">
                <a:moveTo>
                  <a:pt x="3035871" y="0"/>
                </a:moveTo>
                <a:lnTo>
                  <a:pt x="3007296" y="0"/>
                </a:lnTo>
                <a:lnTo>
                  <a:pt x="3007296" y="9525"/>
                </a:lnTo>
                <a:lnTo>
                  <a:pt x="3035871" y="9525"/>
                </a:lnTo>
                <a:lnTo>
                  <a:pt x="3035871" y="0"/>
                </a:lnTo>
                <a:close/>
              </a:path>
              <a:path w="8982710" h="1552575">
                <a:moveTo>
                  <a:pt x="3052749" y="1543050"/>
                </a:moveTo>
                <a:lnTo>
                  <a:pt x="3024174" y="1543050"/>
                </a:lnTo>
                <a:lnTo>
                  <a:pt x="3024174" y="1552575"/>
                </a:lnTo>
                <a:lnTo>
                  <a:pt x="3052749" y="1552575"/>
                </a:lnTo>
                <a:lnTo>
                  <a:pt x="3052749" y="1543050"/>
                </a:lnTo>
                <a:close/>
              </a:path>
              <a:path w="8982710" h="1552575">
                <a:moveTo>
                  <a:pt x="3083445" y="0"/>
                </a:moveTo>
                <a:lnTo>
                  <a:pt x="3054870" y="0"/>
                </a:lnTo>
                <a:lnTo>
                  <a:pt x="3054870" y="9525"/>
                </a:lnTo>
                <a:lnTo>
                  <a:pt x="3083445" y="9525"/>
                </a:lnTo>
                <a:lnTo>
                  <a:pt x="3083445" y="0"/>
                </a:lnTo>
                <a:close/>
              </a:path>
              <a:path w="8982710" h="1552575">
                <a:moveTo>
                  <a:pt x="3100336" y="1543050"/>
                </a:moveTo>
                <a:lnTo>
                  <a:pt x="3071761" y="1543050"/>
                </a:lnTo>
                <a:lnTo>
                  <a:pt x="3071761" y="1552575"/>
                </a:lnTo>
                <a:lnTo>
                  <a:pt x="3100336" y="1552575"/>
                </a:lnTo>
                <a:lnTo>
                  <a:pt x="3100336" y="1543050"/>
                </a:lnTo>
                <a:close/>
              </a:path>
              <a:path w="8982710" h="1552575">
                <a:moveTo>
                  <a:pt x="3131032" y="0"/>
                </a:moveTo>
                <a:lnTo>
                  <a:pt x="3102457" y="0"/>
                </a:lnTo>
                <a:lnTo>
                  <a:pt x="3102457" y="9525"/>
                </a:lnTo>
                <a:lnTo>
                  <a:pt x="3131032" y="9525"/>
                </a:lnTo>
                <a:lnTo>
                  <a:pt x="3131032" y="0"/>
                </a:lnTo>
                <a:close/>
              </a:path>
              <a:path w="8982710" h="1552575">
                <a:moveTo>
                  <a:pt x="3147911" y="1543050"/>
                </a:moveTo>
                <a:lnTo>
                  <a:pt x="3119336" y="1543050"/>
                </a:lnTo>
                <a:lnTo>
                  <a:pt x="3119336" y="1552575"/>
                </a:lnTo>
                <a:lnTo>
                  <a:pt x="3147911" y="1552575"/>
                </a:lnTo>
                <a:lnTo>
                  <a:pt x="3147911" y="1543050"/>
                </a:lnTo>
                <a:close/>
              </a:path>
              <a:path w="8982710" h="1552575">
                <a:moveTo>
                  <a:pt x="3178606" y="0"/>
                </a:moveTo>
                <a:lnTo>
                  <a:pt x="3150031" y="0"/>
                </a:lnTo>
                <a:lnTo>
                  <a:pt x="3150031" y="9525"/>
                </a:lnTo>
                <a:lnTo>
                  <a:pt x="3178606" y="9525"/>
                </a:lnTo>
                <a:lnTo>
                  <a:pt x="3178606" y="0"/>
                </a:lnTo>
                <a:close/>
              </a:path>
              <a:path w="8982710" h="1552575">
                <a:moveTo>
                  <a:pt x="3195497" y="1543050"/>
                </a:moveTo>
                <a:lnTo>
                  <a:pt x="3166922" y="1543050"/>
                </a:lnTo>
                <a:lnTo>
                  <a:pt x="3166922" y="1552575"/>
                </a:lnTo>
                <a:lnTo>
                  <a:pt x="3195497" y="1552575"/>
                </a:lnTo>
                <a:lnTo>
                  <a:pt x="3195497" y="1543050"/>
                </a:lnTo>
                <a:close/>
              </a:path>
              <a:path w="8982710" h="1552575">
                <a:moveTo>
                  <a:pt x="3226193" y="0"/>
                </a:moveTo>
                <a:lnTo>
                  <a:pt x="3197618" y="0"/>
                </a:lnTo>
                <a:lnTo>
                  <a:pt x="3197618" y="9525"/>
                </a:lnTo>
                <a:lnTo>
                  <a:pt x="3226193" y="9525"/>
                </a:lnTo>
                <a:lnTo>
                  <a:pt x="3226193" y="0"/>
                </a:lnTo>
                <a:close/>
              </a:path>
              <a:path w="8982710" h="1552575">
                <a:moveTo>
                  <a:pt x="3243072" y="1543050"/>
                </a:moveTo>
                <a:lnTo>
                  <a:pt x="3214497" y="1543050"/>
                </a:lnTo>
                <a:lnTo>
                  <a:pt x="3214497" y="1552575"/>
                </a:lnTo>
                <a:lnTo>
                  <a:pt x="3243072" y="1552575"/>
                </a:lnTo>
                <a:lnTo>
                  <a:pt x="3243072" y="1543050"/>
                </a:lnTo>
                <a:close/>
              </a:path>
              <a:path w="8982710" h="1552575">
                <a:moveTo>
                  <a:pt x="3273768" y="0"/>
                </a:moveTo>
                <a:lnTo>
                  <a:pt x="3245193" y="0"/>
                </a:lnTo>
                <a:lnTo>
                  <a:pt x="3245193" y="9525"/>
                </a:lnTo>
                <a:lnTo>
                  <a:pt x="3273768" y="9525"/>
                </a:lnTo>
                <a:lnTo>
                  <a:pt x="3273768" y="0"/>
                </a:lnTo>
                <a:close/>
              </a:path>
              <a:path w="8982710" h="1552575">
                <a:moveTo>
                  <a:pt x="3290646" y="1543050"/>
                </a:moveTo>
                <a:lnTo>
                  <a:pt x="3262071" y="1543050"/>
                </a:lnTo>
                <a:lnTo>
                  <a:pt x="3262071" y="1552575"/>
                </a:lnTo>
                <a:lnTo>
                  <a:pt x="3290646" y="1552575"/>
                </a:lnTo>
                <a:lnTo>
                  <a:pt x="3290646" y="1543050"/>
                </a:lnTo>
                <a:close/>
              </a:path>
              <a:path w="8982710" h="1552575">
                <a:moveTo>
                  <a:pt x="3321354" y="0"/>
                </a:moveTo>
                <a:lnTo>
                  <a:pt x="3292779" y="0"/>
                </a:lnTo>
                <a:lnTo>
                  <a:pt x="3292779" y="9525"/>
                </a:lnTo>
                <a:lnTo>
                  <a:pt x="3321354" y="9525"/>
                </a:lnTo>
                <a:lnTo>
                  <a:pt x="3321354" y="0"/>
                </a:lnTo>
                <a:close/>
              </a:path>
              <a:path w="8982710" h="1552575">
                <a:moveTo>
                  <a:pt x="3338233" y="1543050"/>
                </a:moveTo>
                <a:lnTo>
                  <a:pt x="3309658" y="1543050"/>
                </a:lnTo>
                <a:lnTo>
                  <a:pt x="3309658" y="1552575"/>
                </a:lnTo>
                <a:lnTo>
                  <a:pt x="3338233" y="1552575"/>
                </a:lnTo>
                <a:lnTo>
                  <a:pt x="3338233" y="1543050"/>
                </a:lnTo>
                <a:close/>
              </a:path>
              <a:path w="8982710" h="1552575">
                <a:moveTo>
                  <a:pt x="3368941" y="0"/>
                </a:moveTo>
                <a:lnTo>
                  <a:pt x="3340366" y="0"/>
                </a:lnTo>
                <a:lnTo>
                  <a:pt x="3340366" y="9525"/>
                </a:lnTo>
                <a:lnTo>
                  <a:pt x="3368941" y="9525"/>
                </a:lnTo>
                <a:lnTo>
                  <a:pt x="3368941" y="0"/>
                </a:lnTo>
                <a:close/>
              </a:path>
              <a:path w="8982710" h="1552575">
                <a:moveTo>
                  <a:pt x="3385820" y="1543050"/>
                </a:moveTo>
                <a:lnTo>
                  <a:pt x="3357245" y="1543050"/>
                </a:lnTo>
                <a:lnTo>
                  <a:pt x="3357245" y="1552575"/>
                </a:lnTo>
                <a:lnTo>
                  <a:pt x="3385820" y="1552575"/>
                </a:lnTo>
                <a:lnTo>
                  <a:pt x="3385820" y="1543050"/>
                </a:lnTo>
                <a:close/>
              </a:path>
              <a:path w="8982710" h="1552575">
                <a:moveTo>
                  <a:pt x="3416516" y="0"/>
                </a:moveTo>
                <a:lnTo>
                  <a:pt x="3387941" y="0"/>
                </a:lnTo>
                <a:lnTo>
                  <a:pt x="3387941" y="9525"/>
                </a:lnTo>
                <a:lnTo>
                  <a:pt x="3416516" y="9525"/>
                </a:lnTo>
                <a:lnTo>
                  <a:pt x="3416516" y="0"/>
                </a:lnTo>
                <a:close/>
              </a:path>
              <a:path w="8982710" h="1552575">
                <a:moveTo>
                  <a:pt x="3433407" y="1543050"/>
                </a:moveTo>
                <a:lnTo>
                  <a:pt x="3404832" y="1543050"/>
                </a:lnTo>
                <a:lnTo>
                  <a:pt x="3404832" y="1552575"/>
                </a:lnTo>
                <a:lnTo>
                  <a:pt x="3433407" y="1552575"/>
                </a:lnTo>
                <a:lnTo>
                  <a:pt x="3433407" y="1543050"/>
                </a:lnTo>
                <a:close/>
              </a:path>
              <a:path w="8982710" h="1552575">
                <a:moveTo>
                  <a:pt x="3464102" y="0"/>
                </a:moveTo>
                <a:lnTo>
                  <a:pt x="3435527" y="0"/>
                </a:lnTo>
                <a:lnTo>
                  <a:pt x="3435527" y="9525"/>
                </a:lnTo>
                <a:lnTo>
                  <a:pt x="3464102" y="9525"/>
                </a:lnTo>
                <a:lnTo>
                  <a:pt x="3464102" y="0"/>
                </a:lnTo>
                <a:close/>
              </a:path>
              <a:path w="8982710" h="1552575">
                <a:moveTo>
                  <a:pt x="3480981" y="1543050"/>
                </a:moveTo>
                <a:lnTo>
                  <a:pt x="3452406" y="1543050"/>
                </a:lnTo>
                <a:lnTo>
                  <a:pt x="3452406" y="1552575"/>
                </a:lnTo>
                <a:lnTo>
                  <a:pt x="3480981" y="1552575"/>
                </a:lnTo>
                <a:lnTo>
                  <a:pt x="3480981" y="1543050"/>
                </a:lnTo>
                <a:close/>
              </a:path>
              <a:path w="8982710" h="1552575">
                <a:moveTo>
                  <a:pt x="3511677" y="0"/>
                </a:moveTo>
                <a:lnTo>
                  <a:pt x="3483102" y="0"/>
                </a:lnTo>
                <a:lnTo>
                  <a:pt x="3483102" y="9525"/>
                </a:lnTo>
                <a:lnTo>
                  <a:pt x="3511677" y="9525"/>
                </a:lnTo>
                <a:lnTo>
                  <a:pt x="3511677" y="0"/>
                </a:lnTo>
                <a:close/>
              </a:path>
              <a:path w="8982710" h="1552575">
                <a:moveTo>
                  <a:pt x="3528555" y="1543050"/>
                </a:moveTo>
                <a:lnTo>
                  <a:pt x="3499980" y="1543050"/>
                </a:lnTo>
                <a:lnTo>
                  <a:pt x="3499980" y="1552575"/>
                </a:lnTo>
                <a:lnTo>
                  <a:pt x="3528555" y="1552575"/>
                </a:lnTo>
                <a:lnTo>
                  <a:pt x="3528555" y="1543050"/>
                </a:lnTo>
                <a:close/>
              </a:path>
              <a:path w="8982710" h="1552575">
                <a:moveTo>
                  <a:pt x="3559264" y="0"/>
                </a:moveTo>
                <a:lnTo>
                  <a:pt x="3530689" y="0"/>
                </a:lnTo>
                <a:lnTo>
                  <a:pt x="3530689" y="9525"/>
                </a:lnTo>
                <a:lnTo>
                  <a:pt x="3559264" y="9525"/>
                </a:lnTo>
                <a:lnTo>
                  <a:pt x="3559264" y="0"/>
                </a:lnTo>
                <a:close/>
              </a:path>
              <a:path w="8982710" h="1552575">
                <a:moveTo>
                  <a:pt x="3576142" y="1543050"/>
                </a:moveTo>
                <a:lnTo>
                  <a:pt x="3547567" y="1543050"/>
                </a:lnTo>
                <a:lnTo>
                  <a:pt x="3547567" y="1552575"/>
                </a:lnTo>
                <a:lnTo>
                  <a:pt x="3576142" y="1552575"/>
                </a:lnTo>
                <a:lnTo>
                  <a:pt x="3576142" y="1543050"/>
                </a:lnTo>
                <a:close/>
              </a:path>
              <a:path w="8982710" h="1552575">
                <a:moveTo>
                  <a:pt x="3606838" y="0"/>
                </a:moveTo>
                <a:lnTo>
                  <a:pt x="3578263" y="0"/>
                </a:lnTo>
                <a:lnTo>
                  <a:pt x="3578263" y="9525"/>
                </a:lnTo>
                <a:lnTo>
                  <a:pt x="3606838" y="9525"/>
                </a:lnTo>
                <a:lnTo>
                  <a:pt x="3606838" y="0"/>
                </a:lnTo>
                <a:close/>
              </a:path>
              <a:path w="8982710" h="1552575">
                <a:moveTo>
                  <a:pt x="3623716" y="1543050"/>
                </a:moveTo>
                <a:lnTo>
                  <a:pt x="3595141" y="1543050"/>
                </a:lnTo>
                <a:lnTo>
                  <a:pt x="3595141" y="1552575"/>
                </a:lnTo>
                <a:lnTo>
                  <a:pt x="3623716" y="1552575"/>
                </a:lnTo>
                <a:lnTo>
                  <a:pt x="3623716" y="1543050"/>
                </a:lnTo>
                <a:close/>
              </a:path>
              <a:path w="8982710" h="1552575">
                <a:moveTo>
                  <a:pt x="3654425" y="0"/>
                </a:moveTo>
                <a:lnTo>
                  <a:pt x="3625850" y="0"/>
                </a:lnTo>
                <a:lnTo>
                  <a:pt x="3625850" y="9525"/>
                </a:lnTo>
                <a:lnTo>
                  <a:pt x="3654425" y="9525"/>
                </a:lnTo>
                <a:lnTo>
                  <a:pt x="3654425" y="0"/>
                </a:lnTo>
                <a:close/>
              </a:path>
              <a:path w="8982710" h="1552575">
                <a:moveTo>
                  <a:pt x="3671303" y="1543050"/>
                </a:moveTo>
                <a:lnTo>
                  <a:pt x="3642728" y="1543050"/>
                </a:lnTo>
                <a:lnTo>
                  <a:pt x="3642728" y="1552575"/>
                </a:lnTo>
                <a:lnTo>
                  <a:pt x="3671303" y="1552575"/>
                </a:lnTo>
                <a:lnTo>
                  <a:pt x="3671303" y="1543050"/>
                </a:lnTo>
                <a:close/>
              </a:path>
              <a:path w="8982710" h="1552575">
                <a:moveTo>
                  <a:pt x="3702012" y="0"/>
                </a:moveTo>
                <a:lnTo>
                  <a:pt x="3673437" y="0"/>
                </a:lnTo>
                <a:lnTo>
                  <a:pt x="3673437" y="9525"/>
                </a:lnTo>
                <a:lnTo>
                  <a:pt x="3702012" y="9525"/>
                </a:lnTo>
                <a:lnTo>
                  <a:pt x="3702012" y="0"/>
                </a:lnTo>
                <a:close/>
              </a:path>
              <a:path w="8982710" h="1552575">
                <a:moveTo>
                  <a:pt x="3718890" y="1543050"/>
                </a:moveTo>
                <a:lnTo>
                  <a:pt x="3690315" y="1543050"/>
                </a:lnTo>
                <a:lnTo>
                  <a:pt x="3690315" y="1552575"/>
                </a:lnTo>
                <a:lnTo>
                  <a:pt x="3718890" y="1552575"/>
                </a:lnTo>
                <a:lnTo>
                  <a:pt x="3718890" y="1543050"/>
                </a:lnTo>
                <a:close/>
              </a:path>
              <a:path w="8982710" h="1552575">
                <a:moveTo>
                  <a:pt x="3749586" y="0"/>
                </a:moveTo>
                <a:lnTo>
                  <a:pt x="3721011" y="0"/>
                </a:lnTo>
                <a:lnTo>
                  <a:pt x="3721011" y="9525"/>
                </a:lnTo>
                <a:lnTo>
                  <a:pt x="3749586" y="9525"/>
                </a:lnTo>
                <a:lnTo>
                  <a:pt x="3749586" y="0"/>
                </a:lnTo>
                <a:close/>
              </a:path>
              <a:path w="8982710" h="1552575">
                <a:moveTo>
                  <a:pt x="3766477" y="1543050"/>
                </a:moveTo>
                <a:lnTo>
                  <a:pt x="3737902" y="1543050"/>
                </a:lnTo>
                <a:lnTo>
                  <a:pt x="3737902" y="1552575"/>
                </a:lnTo>
                <a:lnTo>
                  <a:pt x="3766477" y="1552575"/>
                </a:lnTo>
                <a:lnTo>
                  <a:pt x="3766477" y="1543050"/>
                </a:lnTo>
                <a:close/>
              </a:path>
              <a:path w="8982710" h="1552575">
                <a:moveTo>
                  <a:pt x="3797173" y="0"/>
                </a:moveTo>
                <a:lnTo>
                  <a:pt x="3768598" y="0"/>
                </a:lnTo>
                <a:lnTo>
                  <a:pt x="3768598" y="9525"/>
                </a:lnTo>
                <a:lnTo>
                  <a:pt x="3797173" y="9525"/>
                </a:lnTo>
                <a:lnTo>
                  <a:pt x="3797173" y="0"/>
                </a:lnTo>
                <a:close/>
              </a:path>
              <a:path w="8982710" h="1552575">
                <a:moveTo>
                  <a:pt x="3814051" y="1543050"/>
                </a:moveTo>
                <a:lnTo>
                  <a:pt x="3785476" y="1543050"/>
                </a:lnTo>
                <a:lnTo>
                  <a:pt x="3785476" y="1552575"/>
                </a:lnTo>
                <a:lnTo>
                  <a:pt x="3814051" y="1552575"/>
                </a:lnTo>
                <a:lnTo>
                  <a:pt x="3814051" y="1543050"/>
                </a:lnTo>
                <a:close/>
              </a:path>
              <a:path w="8982710" h="1552575">
                <a:moveTo>
                  <a:pt x="3844747" y="0"/>
                </a:moveTo>
                <a:lnTo>
                  <a:pt x="3816172" y="0"/>
                </a:lnTo>
                <a:lnTo>
                  <a:pt x="3816172" y="9525"/>
                </a:lnTo>
                <a:lnTo>
                  <a:pt x="3844747" y="9525"/>
                </a:lnTo>
                <a:lnTo>
                  <a:pt x="3844747" y="0"/>
                </a:lnTo>
                <a:close/>
              </a:path>
              <a:path w="8982710" h="1552575">
                <a:moveTo>
                  <a:pt x="3861625" y="1543050"/>
                </a:moveTo>
                <a:lnTo>
                  <a:pt x="3833050" y="1543050"/>
                </a:lnTo>
                <a:lnTo>
                  <a:pt x="3833050" y="1552575"/>
                </a:lnTo>
                <a:lnTo>
                  <a:pt x="3861625" y="1552575"/>
                </a:lnTo>
                <a:lnTo>
                  <a:pt x="3861625" y="1543050"/>
                </a:lnTo>
                <a:close/>
              </a:path>
              <a:path w="8982710" h="1552575">
                <a:moveTo>
                  <a:pt x="3892334" y="0"/>
                </a:moveTo>
                <a:lnTo>
                  <a:pt x="3863759" y="0"/>
                </a:lnTo>
                <a:lnTo>
                  <a:pt x="3863759" y="9525"/>
                </a:lnTo>
                <a:lnTo>
                  <a:pt x="3892334" y="9525"/>
                </a:lnTo>
                <a:lnTo>
                  <a:pt x="3892334" y="0"/>
                </a:lnTo>
                <a:close/>
              </a:path>
              <a:path w="8982710" h="1552575">
                <a:moveTo>
                  <a:pt x="3909212" y="1543050"/>
                </a:moveTo>
                <a:lnTo>
                  <a:pt x="3880637" y="1543050"/>
                </a:lnTo>
                <a:lnTo>
                  <a:pt x="3880637" y="1552575"/>
                </a:lnTo>
                <a:lnTo>
                  <a:pt x="3909212" y="1552575"/>
                </a:lnTo>
                <a:lnTo>
                  <a:pt x="3909212" y="1543050"/>
                </a:lnTo>
                <a:close/>
              </a:path>
              <a:path w="8982710" h="1552575">
                <a:moveTo>
                  <a:pt x="3939908" y="0"/>
                </a:moveTo>
                <a:lnTo>
                  <a:pt x="3911333" y="0"/>
                </a:lnTo>
                <a:lnTo>
                  <a:pt x="3911333" y="9525"/>
                </a:lnTo>
                <a:lnTo>
                  <a:pt x="3939908" y="9525"/>
                </a:lnTo>
                <a:lnTo>
                  <a:pt x="3939908" y="0"/>
                </a:lnTo>
                <a:close/>
              </a:path>
              <a:path w="8982710" h="1552575">
                <a:moveTo>
                  <a:pt x="3956786" y="1543050"/>
                </a:moveTo>
                <a:lnTo>
                  <a:pt x="3928211" y="1543050"/>
                </a:lnTo>
                <a:lnTo>
                  <a:pt x="3928211" y="1552575"/>
                </a:lnTo>
                <a:lnTo>
                  <a:pt x="3956786" y="1552575"/>
                </a:lnTo>
                <a:lnTo>
                  <a:pt x="3956786" y="1543050"/>
                </a:lnTo>
                <a:close/>
              </a:path>
              <a:path w="8982710" h="1552575">
                <a:moveTo>
                  <a:pt x="3987495" y="0"/>
                </a:moveTo>
                <a:lnTo>
                  <a:pt x="3958920" y="0"/>
                </a:lnTo>
                <a:lnTo>
                  <a:pt x="3958920" y="9525"/>
                </a:lnTo>
                <a:lnTo>
                  <a:pt x="3987495" y="9525"/>
                </a:lnTo>
                <a:lnTo>
                  <a:pt x="3987495" y="0"/>
                </a:lnTo>
                <a:close/>
              </a:path>
              <a:path w="8982710" h="1552575">
                <a:moveTo>
                  <a:pt x="4004373" y="1543050"/>
                </a:moveTo>
                <a:lnTo>
                  <a:pt x="3975798" y="1543050"/>
                </a:lnTo>
                <a:lnTo>
                  <a:pt x="3975798" y="1552575"/>
                </a:lnTo>
                <a:lnTo>
                  <a:pt x="4004373" y="1552575"/>
                </a:lnTo>
                <a:lnTo>
                  <a:pt x="4004373" y="1543050"/>
                </a:lnTo>
                <a:close/>
              </a:path>
              <a:path w="8982710" h="1552575">
                <a:moveTo>
                  <a:pt x="4035082" y="0"/>
                </a:moveTo>
                <a:lnTo>
                  <a:pt x="4006507" y="0"/>
                </a:lnTo>
                <a:lnTo>
                  <a:pt x="4006507" y="9525"/>
                </a:lnTo>
                <a:lnTo>
                  <a:pt x="4035082" y="9525"/>
                </a:lnTo>
                <a:lnTo>
                  <a:pt x="4035082" y="0"/>
                </a:lnTo>
                <a:close/>
              </a:path>
              <a:path w="8982710" h="1552575">
                <a:moveTo>
                  <a:pt x="4051960" y="1543050"/>
                </a:moveTo>
                <a:lnTo>
                  <a:pt x="4023385" y="1543050"/>
                </a:lnTo>
                <a:lnTo>
                  <a:pt x="4023385" y="1552575"/>
                </a:lnTo>
                <a:lnTo>
                  <a:pt x="4051960" y="1552575"/>
                </a:lnTo>
                <a:lnTo>
                  <a:pt x="4051960" y="1543050"/>
                </a:lnTo>
                <a:close/>
              </a:path>
              <a:path w="8982710" h="1552575">
                <a:moveTo>
                  <a:pt x="4082656" y="0"/>
                </a:moveTo>
                <a:lnTo>
                  <a:pt x="4054081" y="0"/>
                </a:lnTo>
                <a:lnTo>
                  <a:pt x="4054081" y="9525"/>
                </a:lnTo>
                <a:lnTo>
                  <a:pt x="4082656" y="9525"/>
                </a:lnTo>
                <a:lnTo>
                  <a:pt x="4082656" y="0"/>
                </a:lnTo>
                <a:close/>
              </a:path>
              <a:path w="8982710" h="1552575">
                <a:moveTo>
                  <a:pt x="4099547" y="1543050"/>
                </a:moveTo>
                <a:lnTo>
                  <a:pt x="4070972" y="1543050"/>
                </a:lnTo>
                <a:lnTo>
                  <a:pt x="4070972" y="1552575"/>
                </a:lnTo>
                <a:lnTo>
                  <a:pt x="4099547" y="1552575"/>
                </a:lnTo>
                <a:lnTo>
                  <a:pt x="4099547" y="1543050"/>
                </a:lnTo>
                <a:close/>
              </a:path>
              <a:path w="8982710" h="1552575">
                <a:moveTo>
                  <a:pt x="4130243" y="0"/>
                </a:moveTo>
                <a:lnTo>
                  <a:pt x="4101668" y="0"/>
                </a:lnTo>
                <a:lnTo>
                  <a:pt x="4101668" y="9525"/>
                </a:lnTo>
                <a:lnTo>
                  <a:pt x="4130243" y="9525"/>
                </a:lnTo>
                <a:lnTo>
                  <a:pt x="4130243" y="0"/>
                </a:lnTo>
                <a:close/>
              </a:path>
              <a:path w="8982710" h="1552575">
                <a:moveTo>
                  <a:pt x="4147121" y="1543050"/>
                </a:moveTo>
                <a:lnTo>
                  <a:pt x="4118546" y="1543050"/>
                </a:lnTo>
                <a:lnTo>
                  <a:pt x="4118546" y="1552575"/>
                </a:lnTo>
                <a:lnTo>
                  <a:pt x="4147121" y="1552575"/>
                </a:lnTo>
                <a:lnTo>
                  <a:pt x="4147121" y="1543050"/>
                </a:lnTo>
                <a:close/>
              </a:path>
              <a:path w="8982710" h="1552575">
                <a:moveTo>
                  <a:pt x="4177817" y="0"/>
                </a:moveTo>
                <a:lnTo>
                  <a:pt x="4149242" y="0"/>
                </a:lnTo>
                <a:lnTo>
                  <a:pt x="4149242" y="9525"/>
                </a:lnTo>
                <a:lnTo>
                  <a:pt x="4177817" y="9525"/>
                </a:lnTo>
                <a:lnTo>
                  <a:pt x="4177817" y="0"/>
                </a:lnTo>
                <a:close/>
              </a:path>
              <a:path w="8982710" h="1552575">
                <a:moveTo>
                  <a:pt x="4194708" y="1543050"/>
                </a:moveTo>
                <a:lnTo>
                  <a:pt x="4166133" y="1543050"/>
                </a:lnTo>
                <a:lnTo>
                  <a:pt x="4166133" y="1552575"/>
                </a:lnTo>
                <a:lnTo>
                  <a:pt x="4194708" y="1552575"/>
                </a:lnTo>
                <a:lnTo>
                  <a:pt x="4194708" y="1543050"/>
                </a:lnTo>
                <a:close/>
              </a:path>
              <a:path w="8982710" h="1552575">
                <a:moveTo>
                  <a:pt x="4225404" y="0"/>
                </a:moveTo>
                <a:lnTo>
                  <a:pt x="4196829" y="0"/>
                </a:lnTo>
                <a:lnTo>
                  <a:pt x="4196829" y="9525"/>
                </a:lnTo>
                <a:lnTo>
                  <a:pt x="4225404" y="9525"/>
                </a:lnTo>
                <a:lnTo>
                  <a:pt x="4225404" y="0"/>
                </a:lnTo>
                <a:close/>
              </a:path>
              <a:path w="8982710" h="1552575">
                <a:moveTo>
                  <a:pt x="4242282" y="1543050"/>
                </a:moveTo>
                <a:lnTo>
                  <a:pt x="4213707" y="1543050"/>
                </a:lnTo>
                <a:lnTo>
                  <a:pt x="4213707" y="1552575"/>
                </a:lnTo>
                <a:lnTo>
                  <a:pt x="4242282" y="1552575"/>
                </a:lnTo>
                <a:lnTo>
                  <a:pt x="4242282" y="1543050"/>
                </a:lnTo>
                <a:close/>
              </a:path>
              <a:path w="8982710" h="1552575">
                <a:moveTo>
                  <a:pt x="4272978" y="0"/>
                </a:moveTo>
                <a:lnTo>
                  <a:pt x="4244403" y="0"/>
                </a:lnTo>
                <a:lnTo>
                  <a:pt x="4244403" y="9525"/>
                </a:lnTo>
                <a:lnTo>
                  <a:pt x="4272978" y="9525"/>
                </a:lnTo>
                <a:lnTo>
                  <a:pt x="4272978" y="0"/>
                </a:lnTo>
                <a:close/>
              </a:path>
              <a:path w="8982710" h="1552575">
                <a:moveTo>
                  <a:pt x="4289857" y="1543050"/>
                </a:moveTo>
                <a:lnTo>
                  <a:pt x="4261282" y="1543050"/>
                </a:lnTo>
                <a:lnTo>
                  <a:pt x="4261282" y="1552575"/>
                </a:lnTo>
                <a:lnTo>
                  <a:pt x="4289857" y="1552575"/>
                </a:lnTo>
                <a:lnTo>
                  <a:pt x="4289857" y="1543050"/>
                </a:lnTo>
                <a:close/>
              </a:path>
              <a:path w="8982710" h="1552575">
                <a:moveTo>
                  <a:pt x="4320565" y="0"/>
                </a:moveTo>
                <a:lnTo>
                  <a:pt x="4291990" y="0"/>
                </a:lnTo>
                <a:lnTo>
                  <a:pt x="4291990" y="9525"/>
                </a:lnTo>
                <a:lnTo>
                  <a:pt x="4320565" y="9525"/>
                </a:lnTo>
                <a:lnTo>
                  <a:pt x="4320565" y="0"/>
                </a:lnTo>
                <a:close/>
              </a:path>
              <a:path w="8982710" h="1552575">
                <a:moveTo>
                  <a:pt x="4337443" y="1543050"/>
                </a:moveTo>
                <a:lnTo>
                  <a:pt x="4308868" y="1543050"/>
                </a:lnTo>
                <a:lnTo>
                  <a:pt x="4308868" y="1552575"/>
                </a:lnTo>
                <a:lnTo>
                  <a:pt x="4337443" y="1552575"/>
                </a:lnTo>
                <a:lnTo>
                  <a:pt x="4337443" y="1543050"/>
                </a:lnTo>
                <a:close/>
              </a:path>
              <a:path w="8982710" h="1552575">
                <a:moveTo>
                  <a:pt x="4368152" y="0"/>
                </a:moveTo>
                <a:lnTo>
                  <a:pt x="4339577" y="0"/>
                </a:lnTo>
                <a:lnTo>
                  <a:pt x="4339577" y="9525"/>
                </a:lnTo>
                <a:lnTo>
                  <a:pt x="4368152" y="9525"/>
                </a:lnTo>
                <a:lnTo>
                  <a:pt x="4368152" y="0"/>
                </a:lnTo>
                <a:close/>
              </a:path>
              <a:path w="8982710" h="1552575">
                <a:moveTo>
                  <a:pt x="4385030" y="1543050"/>
                </a:moveTo>
                <a:lnTo>
                  <a:pt x="4356455" y="1543050"/>
                </a:lnTo>
                <a:lnTo>
                  <a:pt x="4356455" y="1552575"/>
                </a:lnTo>
                <a:lnTo>
                  <a:pt x="4385030" y="1552575"/>
                </a:lnTo>
                <a:lnTo>
                  <a:pt x="4385030" y="1543050"/>
                </a:lnTo>
                <a:close/>
              </a:path>
              <a:path w="8982710" h="1552575">
                <a:moveTo>
                  <a:pt x="4415726" y="0"/>
                </a:moveTo>
                <a:lnTo>
                  <a:pt x="4387151" y="0"/>
                </a:lnTo>
                <a:lnTo>
                  <a:pt x="4387151" y="9525"/>
                </a:lnTo>
                <a:lnTo>
                  <a:pt x="4415726" y="9525"/>
                </a:lnTo>
                <a:lnTo>
                  <a:pt x="4415726" y="0"/>
                </a:lnTo>
                <a:close/>
              </a:path>
              <a:path w="8982710" h="1552575">
                <a:moveTo>
                  <a:pt x="4432617" y="1543050"/>
                </a:moveTo>
                <a:lnTo>
                  <a:pt x="4404042" y="1543050"/>
                </a:lnTo>
                <a:lnTo>
                  <a:pt x="4404042" y="1552575"/>
                </a:lnTo>
                <a:lnTo>
                  <a:pt x="4432617" y="1552575"/>
                </a:lnTo>
                <a:lnTo>
                  <a:pt x="4432617" y="1543050"/>
                </a:lnTo>
                <a:close/>
              </a:path>
              <a:path w="8982710" h="1552575">
                <a:moveTo>
                  <a:pt x="4463313" y="0"/>
                </a:moveTo>
                <a:lnTo>
                  <a:pt x="4434738" y="0"/>
                </a:lnTo>
                <a:lnTo>
                  <a:pt x="4434738" y="9525"/>
                </a:lnTo>
                <a:lnTo>
                  <a:pt x="4463313" y="9525"/>
                </a:lnTo>
                <a:lnTo>
                  <a:pt x="4463313" y="0"/>
                </a:lnTo>
                <a:close/>
              </a:path>
              <a:path w="8982710" h="1552575">
                <a:moveTo>
                  <a:pt x="4480191" y="1543050"/>
                </a:moveTo>
                <a:lnTo>
                  <a:pt x="4451616" y="1543050"/>
                </a:lnTo>
                <a:lnTo>
                  <a:pt x="4451616" y="1552575"/>
                </a:lnTo>
                <a:lnTo>
                  <a:pt x="4480191" y="1552575"/>
                </a:lnTo>
                <a:lnTo>
                  <a:pt x="4480191" y="1543050"/>
                </a:lnTo>
                <a:close/>
              </a:path>
              <a:path w="8982710" h="1552575">
                <a:moveTo>
                  <a:pt x="4510887" y="0"/>
                </a:moveTo>
                <a:lnTo>
                  <a:pt x="4482312" y="0"/>
                </a:lnTo>
                <a:lnTo>
                  <a:pt x="4482312" y="9525"/>
                </a:lnTo>
                <a:lnTo>
                  <a:pt x="4510887" y="9525"/>
                </a:lnTo>
                <a:lnTo>
                  <a:pt x="4510887" y="0"/>
                </a:lnTo>
                <a:close/>
              </a:path>
              <a:path w="8982710" h="1552575">
                <a:moveTo>
                  <a:pt x="4527766" y="1543050"/>
                </a:moveTo>
                <a:lnTo>
                  <a:pt x="4499191" y="1543050"/>
                </a:lnTo>
                <a:lnTo>
                  <a:pt x="4499191" y="1552575"/>
                </a:lnTo>
                <a:lnTo>
                  <a:pt x="4527766" y="1552575"/>
                </a:lnTo>
                <a:lnTo>
                  <a:pt x="4527766" y="1543050"/>
                </a:lnTo>
                <a:close/>
              </a:path>
              <a:path w="8982710" h="1552575">
                <a:moveTo>
                  <a:pt x="4558474" y="0"/>
                </a:moveTo>
                <a:lnTo>
                  <a:pt x="4529899" y="0"/>
                </a:lnTo>
                <a:lnTo>
                  <a:pt x="4529899" y="9525"/>
                </a:lnTo>
                <a:lnTo>
                  <a:pt x="4558474" y="9525"/>
                </a:lnTo>
                <a:lnTo>
                  <a:pt x="4558474" y="0"/>
                </a:lnTo>
                <a:close/>
              </a:path>
              <a:path w="8982710" h="1552575">
                <a:moveTo>
                  <a:pt x="4575353" y="1543050"/>
                </a:moveTo>
                <a:lnTo>
                  <a:pt x="4546778" y="1543050"/>
                </a:lnTo>
                <a:lnTo>
                  <a:pt x="4546778" y="1552575"/>
                </a:lnTo>
                <a:lnTo>
                  <a:pt x="4575353" y="1552575"/>
                </a:lnTo>
                <a:lnTo>
                  <a:pt x="4575353" y="1543050"/>
                </a:lnTo>
                <a:close/>
              </a:path>
              <a:path w="8982710" h="1552575">
                <a:moveTo>
                  <a:pt x="4606048" y="0"/>
                </a:moveTo>
                <a:lnTo>
                  <a:pt x="4577473" y="0"/>
                </a:lnTo>
                <a:lnTo>
                  <a:pt x="4577473" y="9525"/>
                </a:lnTo>
                <a:lnTo>
                  <a:pt x="4606048" y="9525"/>
                </a:lnTo>
                <a:lnTo>
                  <a:pt x="4606048" y="0"/>
                </a:lnTo>
                <a:close/>
              </a:path>
              <a:path w="8982710" h="1552575">
                <a:moveTo>
                  <a:pt x="4622927" y="1543050"/>
                </a:moveTo>
                <a:lnTo>
                  <a:pt x="4594352" y="1543050"/>
                </a:lnTo>
                <a:lnTo>
                  <a:pt x="4594352" y="1552575"/>
                </a:lnTo>
                <a:lnTo>
                  <a:pt x="4622927" y="1552575"/>
                </a:lnTo>
                <a:lnTo>
                  <a:pt x="4622927" y="1543050"/>
                </a:lnTo>
                <a:close/>
              </a:path>
              <a:path w="8982710" h="1552575">
                <a:moveTo>
                  <a:pt x="4653635" y="0"/>
                </a:moveTo>
                <a:lnTo>
                  <a:pt x="4625060" y="0"/>
                </a:lnTo>
                <a:lnTo>
                  <a:pt x="4625060" y="9525"/>
                </a:lnTo>
                <a:lnTo>
                  <a:pt x="4653635" y="9525"/>
                </a:lnTo>
                <a:lnTo>
                  <a:pt x="4653635" y="0"/>
                </a:lnTo>
                <a:close/>
              </a:path>
              <a:path w="8982710" h="1552575">
                <a:moveTo>
                  <a:pt x="4670514" y="1543050"/>
                </a:moveTo>
                <a:lnTo>
                  <a:pt x="4641939" y="1543050"/>
                </a:lnTo>
                <a:lnTo>
                  <a:pt x="4641939" y="1552575"/>
                </a:lnTo>
                <a:lnTo>
                  <a:pt x="4670514" y="1552575"/>
                </a:lnTo>
                <a:lnTo>
                  <a:pt x="4670514" y="1543050"/>
                </a:lnTo>
                <a:close/>
              </a:path>
              <a:path w="8982710" h="1552575">
                <a:moveTo>
                  <a:pt x="4701222" y="0"/>
                </a:moveTo>
                <a:lnTo>
                  <a:pt x="4672647" y="0"/>
                </a:lnTo>
                <a:lnTo>
                  <a:pt x="4672647" y="9525"/>
                </a:lnTo>
                <a:lnTo>
                  <a:pt x="4701222" y="9525"/>
                </a:lnTo>
                <a:lnTo>
                  <a:pt x="4701222" y="0"/>
                </a:lnTo>
                <a:close/>
              </a:path>
              <a:path w="8982710" h="1552575">
                <a:moveTo>
                  <a:pt x="4718101" y="1543050"/>
                </a:moveTo>
                <a:lnTo>
                  <a:pt x="4689526" y="1543050"/>
                </a:lnTo>
                <a:lnTo>
                  <a:pt x="4689526" y="1552575"/>
                </a:lnTo>
                <a:lnTo>
                  <a:pt x="4718101" y="1552575"/>
                </a:lnTo>
                <a:lnTo>
                  <a:pt x="4718101" y="1543050"/>
                </a:lnTo>
                <a:close/>
              </a:path>
              <a:path w="8982710" h="1552575">
                <a:moveTo>
                  <a:pt x="4748796" y="0"/>
                </a:moveTo>
                <a:lnTo>
                  <a:pt x="4720221" y="0"/>
                </a:lnTo>
                <a:lnTo>
                  <a:pt x="4720221" y="9525"/>
                </a:lnTo>
                <a:lnTo>
                  <a:pt x="4748796" y="9525"/>
                </a:lnTo>
                <a:lnTo>
                  <a:pt x="4748796" y="0"/>
                </a:lnTo>
                <a:close/>
              </a:path>
              <a:path w="8982710" h="1552575">
                <a:moveTo>
                  <a:pt x="4765687" y="1543050"/>
                </a:moveTo>
                <a:lnTo>
                  <a:pt x="4737112" y="1543050"/>
                </a:lnTo>
                <a:lnTo>
                  <a:pt x="4737112" y="1552575"/>
                </a:lnTo>
                <a:lnTo>
                  <a:pt x="4765687" y="1552575"/>
                </a:lnTo>
                <a:lnTo>
                  <a:pt x="4765687" y="1543050"/>
                </a:lnTo>
                <a:close/>
              </a:path>
              <a:path w="8982710" h="1552575">
                <a:moveTo>
                  <a:pt x="4796383" y="0"/>
                </a:moveTo>
                <a:lnTo>
                  <a:pt x="4767808" y="0"/>
                </a:lnTo>
                <a:lnTo>
                  <a:pt x="4767808" y="9525"/>
                </a:lnTo>
                <a:lnTo>
                  <a:pt x="4796383" y="9525"/>
                </a:lnTo>
                <a:lnTo>
                  <a:pt x="4796383" y="0"/>
                </a:lnTo>
                <a:close/>
              </a:path>
              <a:path w="8982710" h="1552575">
                <a:moveTo>
                  <a:pt x="4813262" y="1543050"/>
                </a:moveTo>
                <a:lnTo>
                  <a:pt x="4784687" y="1543050"/>
                </a:lnTo>
                <a:lnTo>
                  <a:pt x="4784687" y="1552575"/>
                </a:lnTo>
                <a:lnTo>
                  <a:pt x="4813262" y="1552575"/>
                </a:lnTo>
                <a:lnTo>
                  <a:pt x="4813262" y="1543050"/>
                </a:lnTo>
                <a:close/>
              </a:path>
              <a:path w="8982710" h="1552575">
                <a:moveTo>
                  <a:pt x="4843958" y="0"/>
                </a:moveTo>
                <a:lnTo>
                  <a:pt x="4815383" y="0"/>
                </a:lnTo>
                <a:lnTo>
                  <a:pt x="4815383" y="9525"/>
                </a:lnTo>
                <a:lnTo>
                  <a:pt x="4843958" y="9525"/>
                </a:lnTo>
                <a:lnTo>
                  <a:pt x="4843958" y="0"/>
                </a:lnTo>
                <a:close/>
              </a:path>
              <a:path w="8982710" h="1552575">
                <a:moveTo>
                  <a:pt x="4860836" y="1543050"/>
                </a:moveTo>
                <a:lnTo>
                  <a:pt x="4832261" y="1543050"/>
                </a:lnTo>
                <a:lnTo>
                  <a:pt x="4832261" y="1552575"/>
                </a:lnTo>
                <a:lnTo>
                  <a:pt x="4860836" y="1552575"/>
                </a:lnTo>
                <a:lnTo>
                  <a:pt x="4860836" y="1543050"/>
                </a:lnTo>
                <a:close/>
              </a:path>
              <a:path w="8982710" h="1552575">
                <a:moveTo>
                  <a:pt x="4891532" y="0"/>
                </a:moveTo>
                <a:lnTo>
                  <a:pt x="4862957" y="0"/>
                </a:lnTo>
                <a:lnTo>
                  <a:pt x="4862957" y="9525"/>
                </a:lnTo>
                <a:lnTo>
                  <a:pt x="4891532" y="9525"/>
                </a:lnTo>
                <a:lnTo>
                  <a:pt x="4891532" y="0"/>
                </a:lnTo>
                <a:close/>
              </a:path>
              <a:path w="8982710" h="1552575">
                <a:moveTo>
                  <a:pt x="4908423" y="1543050"/>
                </a:moveTo>
                <a:lnTo>
                  <a:pt x="4879848" y="1543050"/>
                </a:lnTo>
                <a:lnTo>
                  <a:pt x="4879848" y="1552575"/>
                </a:lnTo>
                <a:lnTo>
                  <a:pt x="4908423" y="1552575"/>
                </a:lnTo>
                <a:lnTo>
                  <a:pt x="4908423" y="1543050"/>
                </a:lnTo>
                <a:close/>
              </a:path>
              <a:path w="8982710" h="1552575">
                <a:moveTo>
                  <a:pt x="4939119" y="0"/>
                </a:moveTo>
                <a:lnTo>
                  <a:pt x="4910544" y="0"/>
                </a:lnTo>
                <a:lnTo>
                  <a:pt x="4910544" y="9525"/>
                </a:lnTo>
                <a:lnTo>
                  <a:pt x="4939119" y="9525"/>
                </a:lnTo>
                <a:lnTo>
                  <a:pt x="4939119" y="0"/>
                </a:lnTo>
                <a:close/>
              </a:path>
              <a:path w="8982710" h="1552575">
                <a:moveTo>
                  <a:pt x="4955997" y="1543050"/>
                </a:moveTo>
                <a:lnTo>
                  <a:pt x="4927422" y="1543050"/>
                </a:lnTo>
                <a:lnTo>
                  <a:pt x="4927422" y="1552575"/>
                </a:lnTo>
                <a:lnTo>
                  <a:pt x="4955997" y="1552575"/>
                </a:lnTo>
                <a:lnTo>
                  <a:pt x="4955997" y="1543050"/>
                </a:lnTo>
                <a:close/>
              </a:path>
              <a:path w="8982710" h="1552575">
                <a:moveTo>
                  <a:pt x="4986706" y="0"/>
                </a:moveTo>
                <a:lnTo>
                  <a:pt x="4958131" y="0"/>
                </a:lnTo>
                <a:lnTo>
                  <a:pt x="4958131" y="9525"/>
                </a:lnTo>
                <a:lnTo>
                  <a:pt x="4986706" y="9525"/>
                </a:lnTo>
                <a:lnTo>
                  <a:pt x="4986706" y="0"/>
                </a:lnTo>
                <a:close/>
              </a:path>
              <a:path w="8982710" h="1552575">
                <a:moveTo>
                  <a:pt x="5003584" y="1543050"/>
                </a:moveTo>
                <a:lnTo>
                  <a:pt x="4975009" y="1543050"/>
                </a:lnTo>
                <a:lnTo>
                  <a:pt x="4975009" y="1552575"/>
                </a:lnTo>
                <a:lnTo>
                  <a:pt x="5003584" y="1552575"/>
                </a:lnTo>
                <a:lnTo>
                  <a:pt x="5003584" y="1543050"/>
                </a:lnTo>
                <a:close/>
              </a:path>
              <a:path w="8982710" h="1552575">
                <a:moveTo>
                  <a:pt x="5034292" y="0"/>
                </a:moveTo>
                <a:lnTo>
                  <a:pt x="5005717" y="0"/>
                </a:lnTo>
                <a:lnTo>
                  <a:pt x="5005717" y="9525"/>
                </a:lnTo>
                <a:lnTo>
                  <a:pt x="5034292" y="9525"/>
                </a:lnTo>
                <a:lnTo>
                  <a:pt x="5034292" y="0"/>
                </a:lnTo>
                <a:close/>
              </a:path>
              <a:path w="8982710" h="1552575">
                <a:moveTo>
                  <a:pt x="5051171" y="1543050"/>
                </a:moveTo>
                <a:lnTo>
                  <a:pt x="5022596" y="1543050"/>
                </a:lnTo>
                <a:lnTo>
                  <a:pt x="5022596" y="1552575"/>
                </a:lnTo>
                <a:lnTo>
                  <a:pt x="5051171" y="1552575"/>
                </a:lnTo>
                <a:lnTo>
                  <a:pt x="5051171" y="1543050"/>
                </a:lnTo>
                <a:close/>
              </a:path>
              <a:path w="8982710" h="1552575">
                <a:moveTo>
                  <a:pt x="5081867" y="0"/>
                </a:moveTo>
                <a:lnTo>
                  <a:pt x="5053292" y="0"/>
                </a:lnTo>
                <a:lnTo>
                  <a:pt x="5053292" y="9525"/>
                </a:lnTo>
                <a:lnTo>
                  <a:pt x="5081867" y="9525"/>
                </a:lnTo>
                <a:lnTo>
                  <a:pt x="5081867" y="0"/>
                </a:lnTo>
                <a:close/>
              </a:path>
              <a:path w="8982710" h="1552575">
                <a:moveTo>
                  <a:pt x="5098745" y="1543050"/>
                </a:moveTo>
                <a:lnTo>
                  <a:pt x="5070170" y="1543050"/>
                </a:lnTo>
                <a:lnTo>
                  <a:pt x="5070170" y="1552575"/>
                </a:lnTo>
                <a:lnTo>
                  <a:pt x="5098745" y="1552575"/>
                </a:lnTo>
                <a:lnTo>
                  <a:pt x="5098745" y="1543050"/>
                </a:lnTo>
                <a:close/>
              </a:path>
              <a:path w="8982710" h="1552575">
                <a:moveTo>
                  <a:pt x="5129454" y="0"/>
                </a:moveTo>
                <a:lnTo>
                  <a:pt x="5100879" y="0"/>
                </a:lnTo>
                <a:lnTo>
                  <a:pt x="5100879" y="9525"/>
                </a:lnTo>
                <a:lnTo>
                  <a:pt x="5129454" y="9525"/>
                </a:lnTo>
                <a:lnTo>
                  <a:pt x="5129454" y="0"/>
                </a:lnTo>
                <a:close/>
              </a:path>
              <a:path w="8982710" h="1552575">
                <a:moveTo>
                  <a:pt x="5146332" y="1543050"/>
                </a:moveTo>
                <a:lnTo>
                  <a:pt x="5117757" y="1543050"/>
                </a:lnTo>
                <a:lnTo>
                  <a:pt x="5117757" y="1552575"/>
                </a:lnTo>
                <a:lnTo>
                  <a:pt x="5146332" y="1552575"/>
                </a:lnTo>
                <a:lnTo>
                  <a:pt x="5146332" y="1543050"/>
                </a:lnTo>
                <a:close/>
              </a:path>
              <a:path w="8982710" h="1552575">
                <a:moveTo>
                  <a:pt x="5177028" y="0"/>
                </a:moveTo>
                <a:lnTo>
                  <a:pt x="5148453" y="0"/>
                </a:lnTo>
                <a:lnTo>
                  <a:pt x="5148453" y="9525"/>
                </a:lnTo>
                <a:lnTo>
                  <a:pt x="5177028" y="9525"/>
                </a:lnTo>
                <a:lnTo>
                  <a:pt x="5177028" y="0"/>
                </a:lnTo>
                <a:close/>
              </a:path>
              <a:path w="8982710" h="1552575">
                <a:moveTo>
                  <a:pt x="5193906" y="1543050"/>
                </a:moveTo>
                <a:lnTo>
                  <a:pt x="5165331" y="1543050"/>
                </a:lnTo>
                <a:lnTo>
                  <a:pt x="5165331" y="1552575"/>
                </a:lnTo>
                <a:lnTo>
                  <a:pt x="5193906" y="1552575"/>
                </a:lnTo>
                <a:lnTo>
                  <a:pt x="5193906" y="1543050"/>
                </a:lnTo>
                <a:close/>
              </a:path>
              <a:path w="8982710" h="1552575">
                <a:moveTo>
                  <a:pt x="5224602" y="0"/>
                </a:moveTo>
                <a:lnTo>
                  <a:pt x="5196027" y="0"/>
                </a:lnTo>
                <a:lnTo>
                  <a:pt x="5196027" y="9525"/>
                </a:lnTo>
                <a:lnTo>
                  <a:pt x="5224602" y="9525"/>
                </a:lnTo>
                <a:lnTo>
                  <a:pt x="5224602" y="0"/>
                </a:lnTo>
                <a:close/>
              </a:path>
              <a:path w="8982710" h="1552575">
                <a:moveTo>
                  <a:pt x="5241493" y="1543050"/>
                </a:moveTo>
                <a:lnTo>
                  <a:pt x="5212918" y="1543050"/>
                </a:lnTo>
                <a:lnTo>
                  <a:pt x="5212918" y="1552575"/>
                </a:lnTo>
                <a:lnTo>
                  <a:pt x="5241493" y="1552575"/>
                </a:lnTo>
                <a:lnTo>
                  <a:pt x="5241493" y="1543050"/>
                </a:lnTo>
                <a:close/>
              </a:path>
              <a:path w="8982710" h="1552575">
                <a:moveTo>
                  <a:pt x="5272189" y="0"/>
                </a:moveTo>
                <a:lnTo>
                  <a:pt x="5243614" y="0"/>
                </a:lnTo>
                <a:lnTo>
                  <a:pt x="5243614" y="9525"/>
                </a:lnTo>
                <a:lnTo>
                  <a:pt x="5272189" y="9525"/>
                </a:lnTo>
                <a:lnTo>
                  <a:pt x="5272189" y="0"/>
                </a:lnTo>
                <a:close/>
              </a:path>
              <a:path w="8982710" h="1552575">
                <a:moveTo>
                  <a:pt x="5289067" y="1543050"/>
                </a:moveTo>
                <a:lnTo>
                  <a:pt x="5260492" y="1543050"/>
                </a:lnTo>
                <a:lnTo>
                  <a:pt x="5260492" y="1552575"/>
                </a:lnTo>
                <a:lnTo>
                  <a:pt x="5289067" y="1552575"/>
                </a:lnTo>
                <a:lnTo>
                  <a:pt x="5289067" y="1543050"/>
                </a:lnTo>
                <a:close/>
              </a:path>
              <a:path w="8982710" h="1552575">
                <a:moveTo>
                  <a:pt x="5319776" y="0"/>
                </a:moveTo>
                <a:lnTo>
                  <a:pt x="5291201" y="0"/>
                </a:lnTo>
                <a:lnTo>
                  <a:pt x="5291201" y="9525"/>
                </a:lnTo>
                <a:lnTo>
                  <a:pt x="5319776" y="9525"/>
                </a:lnTo>
                <a:lnTo>
                  <a:pt x="5319776" y="0"/>
                </a:lnTo>
                <a:close/>
              </a:path>
              <a:path w="8982710" h="1552575">
                <a:moveTo>
                  <a:pt x="5336654" y="1543050"/>
                </a:moveTo>
                <a:lnTo>
                  <a:pt x="5308079" y="1543050"/>
                </a:lnTo>
                <a:lnTo>
                  <a:pt x="5308079" y="1552575"/>
                </a:lnTo>
                <a:lnTo>
                  <a:pt x="5336654" y="1552575"/>
                </a:lnTo>
                <a:lnTo>
                  <a:pt x="5336654" y="1543050"/>
                </a:lnTo>
                <a:close/>
              </a:path>
              <a:path w="8982710" h="1552575">
                <a:moveTo>
                  <a:pt x="5367363" y="0"/>
                </a:moveTo>
                <a:lnTo>
                  <a:pt x="5338788" y="0"/>
                </a:lnTo>
                <a:lnTo>
                  <a:pt x="5338788" y="9525"/>
                </a:lnTo>
                <a:lnTo>
                  <a:pt x="5367363" y="9525"/>
                </a:lnTo>
                <a:lnTo>
                  <a:pt x="5367363" y="0"/>
                </a:lnTo>
                <a:close/>
              </a:path>
              <a:path w="8982710" h="1552575">
                <a:moveTo>
                  <a:pt x="5384241" y="1543050"/>
                </a:moveTo>
                <a:lnTo>
                  <a:pt x="5355666" y="1543050"/>
                </a:lnTo>
                <a:lnTo>
                  <a:pt x="5355666" y="1552575"/>
                </a:lnTo>
                <a:lnTo>
                  <a:pt x="5384241" y="1552575"/>
                </a:lnTo>
                <a:lnTo>
                  <a:pt x="5384241" y="1543050"/>
                </a:lnTo>
                <a:close/>
              </a:path>
              <a:path w="8982710" h="1552575">
                <a:moveTo>
                  <a:pt x="5414937" y="0"/>
                </a:moveTo>
                <a:lnTo>
                  <a:pt x="5386362" y="0"/>
                </a:lnTo>
                <a:lnTo>
                  <a:pt x="5386362" y="9525"/>
                </a:lnTo>
                <a:lnTo>
                  <a:pt x="5414937" y="9525"/>
                </a:lnTo>
                <a:lnTo>
                  <a:pt x="5414937" y="0"/>
                </a:lnTo>
                <a:close/>
              </a:path>
              <a:path w="8982710" h="1552575">
                <a:moveTo>
                  <a:pt x="5431815" y="1543050"/>
                </a:moveTo>
                <a:lnTo>
                  <a:pt x="5403240" y="1543050"/>
                </a:lnTo>
                <a:lnTo>
                  <a:pt x="5403240" y="1552575"/>
                </a:lnTo>
                <a:lnTo>
                  <a:pt x="5431815" y="1552575"/>
                </a:lnTo>
                <a:lnTo>
                  <a:pt x="5431815" y="1543050"/>
                </a:lnTo>
                <a:close/>
              </a:path>
              <a:path w="8982710" h="1552575">
                <a:moveTo>
                  <a:pt x="5462524" y="0"/>
                </a:moveTo>
                <a:lnTo>
                  <a:pt x="5433949" y="0"/>
                </a:lnTo>
                <a:lnTo>
                  <a:pt x="5433949" y="9525"/>
                </a:lnTo>
                <a:lnTo>
                  <a:pt x="5462524" y="9525"/>
                </a:lnTo>
                <a:lnTo>
                  <a:pt x="5462524" y="0"/>
                </a:lnTo>
                <a:close/>
              </a:path>
              <a:path w="8982710" h="1552575">
                <a:moveTo>
                  <a:pt x="5479402" y="1543050"/>
                </a:moveTo>
                <a:lnTo>
                  <a:pt x="5450827" y="1543050"/>
                </a:lnTo>
                <a:lnTo>
                  <a:pt x="5450827" y="1552575"/>
                </a:lnTo>
                <a:lnTo>
                  <a:pt x="5479402" y="1552575"/>
                </a:lnTo>
                <a:lnTo>
                  <a:pt x="5479402" y="1543050"/>
                </a:lnTo>
                <a:close/>
              </a:path>
              <a:path w="8982710" h="1552575">
                <a:moveTo>
                  <a:pt x="5510098" y="0"/>
                </a:moveTo>
                <a:lnTo>
                  <a:pt x="5481523" y="0"/>
                </a:lnTo>
                <a:lnTo>
                  <a:pt x="5481523" y="9525"/>
                </a:lnTo>
                <a:lnTo>
                  <a:pt x="5510098" y="9525"/>
                </a:lnTo>
                <a:lnTo>
                  <a:pt x="5510098" y="0"/>
                </a:lnTo>
                <a:close/>
              </a:path>
              <a:path w="8982710" h="1552575">
                <a:moveTo>
                  <a:pt x="5526976" y="1543050"/>
                </a:moveTo>
                <a:lnTo>
                  <a:pt x="5498401" y="1543050"/>
                </a:lnTo>
                <a:lnTo>
                  <a:pt x="5498401" y="1552575"/>
                </a:lnTo>
                <a:lnTo>
                  <a:pt x="5526976" y="1552575"/>
                </a:lnTo>
                <a:lnTo>
                  <a:pt x="5526976" y="1543050"/>
                </a:lnTo>
                <a:close/>
              </a:path>
              <a:path w="8982710" h="1552575">
                <a:moveTo>
                  <a:pt x="5557672" y="0"/>
                </a:moveTo>
                <a:lnTo>
                  <a:pt x="5529097" y="0"/>
                </a:lnTo>
                <a:lnTo>
                  <a:pt x="5529097" y="9525"/>
                </a:lnTo>
                <a:lnTo>
                  <a:pt x="5557672" y="9525"/>
                </a:lnTo>
                <a:lnTo>
                  <a:pt x="5557672" y="0"/>
                </a:lnTo>
                <a:close/>
              </a:path>
              <a:path w="8982710" h="1552575">
                <a:moveTo>
                  <a:pt x="5574563" y="1543050"/>
                </a:moveTo>
                <a:lnTo>
                  <a:pt x="5545988" y="1543050"/>
                </a:lnTo>
                <a:lnTo>
                  <a:pt x="5545988" y="1552575"/>
                </a:lnTo>
                <a:lnTo>
                  <a:pt x="5574563" y="1552575"/>
                </a:lnTo>
                <a:lnTo>
                  <a:pt x="5574563" y="1543050"/>
                </a:lnTo>
                <a:close/>
              </a:path>
              <a:path w="8982710" h="1552575">
                <a:moveTo>
                  <a:pt x="5605259" y="0"/>
                </a:moveTo>
                <a:lnTo>
                  <a:pt x="5576684" y="0"/>
                </a:lnTo>
                <a:lnTo>
                  <a:pt x="5576684" y="9525"/>
                </a:lnTo>
                <a:lnTo>
                  <a:pt x="5605259" y="9525"/>
                </a:lnTo>
                <a:lnTo>
                  <a:pt x="5605259" y="0"/>
                </a:lnTo>
                <a:close/>
              </a:path>
              <a:path w="8982710" h="1552575">
                <a:moveTo>
                  <a:pt x="5622137" y="1543050"/>
                </a:moveTo>
                <a:lnTo>
                  <a:pt x="5593562" y="1543050"/>
                </a:lnTo>
                <a:lnTo>
                  <a:pt x="5593562" y="1552575"/>
                </a:lnTo>
                <a:lnTo>
                  <a:pt x="5622137" y="1552575"/>
                </a:lnTo>
                <a:lnTo>
                  <a:pt x="5622137" y="1543050"/>
                </a:lnTo>
                <a:close/>
              </a:path>
              <a:path w="8982710" h="1552575">
                <a:moveTo>
                  <a:pt x="5652846" y="0"/>
                </a:moveTo>
                <a:lnTo>
                  <a:pt x="5624271" y="0"/>
                </a:lnTo>
                <a:lnTo>
                  <a:pt x="5624271" y="9525"/>
                </a:lnTo>
                <a:lnTo>
                  <a:pt x="5652846" y="9525"/>
                </a:lnTo>
                <a:lnTo>
                  <a:pt x="5652846" y="0"/>
                </a:lnTo>
                <a:close/>
              </a:path>
              <a:path w="8982710" h="1552575">
                <a:moveTo>
                  <a:pt x="5669724" y="1543050"/>
                </a:moveTo>
                <a:lnTo>
                  <a:pt x="5641149" y="1543050"/>
                </a:lnTo>
                <a:lnTo>
                  <a:pt x="5641149" y="1552575"/>
                </a:lnTo>
                <a:lnTo>
                  <a:pt x="5669724" y="1552575"/>
                </a:lnTo>
                <a:lnTo>
                  <a:pt x="5669724" y="1543050"/>
                </a:lnTo>
                <a:close/>
              </a:path>
              <a:path w="8982710" h="1552575">
                <a:moveTo>
                  <a:pt x="5700433" y="0"/>
                </a:moveTo>
                <a:lnTo>
                  <a:pt x="5671858" y="0"/>
                </a:lnTo>
                <a:lnTo>
                  <a:pt x="5671858" y="9525"/>
                </a:lnTo>
                <a:lnTo>
                  <a:pt x="5700433" y="9525"/>
                </a:lnTo>
                <a:lnTo>
                  <a:pt x="5700433" y="0"/>
                </a:lnTo>
                <a:close/>
              </a:path>
              <a:path w="8982710" h="1552575">
                <a:moveTo>
                  <a:pt x="5717311" y="1543050"/>
                </a:moveTo>
                <a:lnTo>
                  <a:pt x="5688736" y="1543050"/>
                </a:lnTo>
                <a:lnTo>
                  <a:pt x="5688736" y="1552575"/>
                </a:lnTo>
                <a:lnTo>
                  <a:pt x="5717311" y="1552575"/>
                </a:lnTo>
                <a:lnTo>
                  <a:pt x="5717311" y="1543050"/>
                </a:lnTo>
                <a:close/>
              </a:path>
              <a:path w="8982710" h="1552575">
                <a:moveTo>
                  <a:pt x="5748007" y="0"/>
                </a:moveTo>
                <a:lnTo>
                  <a:pt x="5719432" y="0"/>
                </a:lnTo>
                <a:lnTo>
                  <a:pt x="5719432" y="9525"/>
                </a:lnTo>
                <a:lnTo>
                  <a:pt x="5748007" y="9525"/>
                </a:lnTo>
                <a:lnTo>
                  <a:pt x="5748007" y="0"/>
                </a:lnTo>
                <a:close/>
              </a:path>
              <a:path w="8982710" h="1552575">
                <a:moveTo>
                  <a:pt x="5764885" y="1543050"/>
                </a:moveTo>
                <a:lnTo>
                  <a:pt x="5736310" y="1543050"/>
                </a:lnTo>
                <a:lnTo>
                  <a:pt x="5736310" y="1552575"/>
                </a:lnTo>
                <a:lnTo>
                  <a:pt x="5764885" y="1552575"/>
                </a:lnTo>
                <a:lnTo>
                  <a:pt x="5764885" y="1543050"/>
                </a:lnTo>
                <a:close/>
              </a:path>
              <a:path w="8982710" h="1552575">
                <a:moveTo>
                  <a:pt x="5795594" y="0"/>
                </a:moveTo>
                <a:lnTo>
                  <a:pt x="5767019" y="0"/>
                </a:lnTo>
                <a:lnTo>
                  <a:pt x="5767019" y="9525"/>
                </a:lnTo>
                <a:lnTo>
                  <a:pt x="5795594" y="9525"/>
                </a:lnTo>
                <a:lnTo>
                  <a:pt x="5795594" y="0"/>
                </a:lnTo>
                <a:close/>
              </a:path>
              <a:path w="8982710" h="1552575">
                <a:moveTo>
                  <a:pt x="5812472" y="1543050"/>
                </a:moveTo>
                <a:lnTo>
                  <a:pt x="5783897" y="1543050"/>
                </a:lnTo>
                <a:lnTo>
                  <a:pt x="5783897" y="1552575"/>
                </a:lnTo>
                <a:lnTo>
                  <a:pt x="5812472" y="1552575"/>
                </a:lnTo>
                <a:lnTo>
                  <a:pt x="5812472" y="1543050"/>
                </a:lnTo>
                <a:close/>
              </a:path>
              <a:path w="8982710" h="1552575">
                <a:moveTo>
                  <a:pt x="5843168" y="0"/>
                </a:moveTo>
                <a:lnTo>
                  <a:pt x="5814593" y="0"/>
                </a:lnTo>
                <a:lnTo>
                  <a:pt x="5814593" y="9525"/>
                </a:lnTo>
                <a:lnTo>
                  <a:pt x="5843168" y="9525"/>
                </a:lnTo>
                <a:lnTo>
                  <a:pt x="5843168" y="0"/>
                </a:lnTo>
                <a:close/>
              </a:path>
              <a:path w="8982710" h="1552575">
                <a:moveTo>
                  <a:pt x="5860046" y="1543050"/>
                </a:moveTo>
                <a:lnTo>
                  <a:pt x="5831471" y="1543050"/>
                </a:lnTo>
                <a:lnTo>
                  <a:pt x="5831471" y="1552575"/>
                </a:lnTo>
                <a:lnTo>
                  <a:pt x="5860046" y="1552575"/>
                </a:lnTo>
                <a:lnTo>
                  <a:pt x="5860046" y="1543050"/>
                </a:lnTo>
                <a:close/>
              </a:path>
              <a:path w="8982710" h="1552575">
                <a:moveTo>
                  <a:pt x="5890742" y="0"/>
                </a:moveTo>
                <a:lnTo>
                  <a:pt x="5862167" y="0"/>
                </a:lnTo>
                <a:lnTo>
                  <a:pt x="5862167" y="9525"/>
                </a:lnTo>
                <a:lnTo>
                  <a:pt x="5890742" y="9525"/>
                </a:lnTo>
                <a:lnTo>
                  <a:pt x="5890742" y="0"/>
                </a:lnTo>
                <a:close/>
              </a:path>
              <a:path w="8982710" h="1552575">
                <a:moveTo>
                  <a:pt x="5907633" y="1543050"/>
                </a:moveTo>
                <a:lnTo>
                  <a:pt x="5879058" y="1543050"/>
                </a:lnTo>
                <a:lnTo>
                  <a:pt x="5879058" y="1552575"/>
                </a:lnTo>
                <a:lnTo>
                  <a:pt x="5907633" y="1552575"/>
                </a:lnTo>
                <a:lnTo>
                  <a:pt x="5907633" y="1543050"/>
                </a:lnTo>
                <a:close/>
              </a:path>
              <a:path w="8982710" h="1552575">
                <a:moveTo>
                  <a:pt x="5938329" y="0"/>
                </a:moveTo>
                <a:lnTo>
                  <a:pt x="5909754" y="0"/>
                </a:lnTo>
                <a:lnTo>
                  <a:pt x="5909754" y="9525"/>
                </a:lnTo>
                <a:lnTo>
                  <a:pt x="5938329" y="9525"/>
                </a:lnTo>
                <a:lnTo>
                  <a:pt x="5938329" y="0"/>
                </a:lnTo>
                <a:close/>
              </a:path>
              <a:path w="8982710" h="1552575">
                <a:moveTo>
                  <a:pt x="5955208" y="1543050"/>
                </a:moveTo>
                <a:lnTo>
                  <a:pt x="5926633" y="1543050"/>
                </a:lnTo>
                <a:lnTo>
                  <a:pt x="5926633" y="1552575"/>
                </a:lnTo>
                <a:lnTo>
                  <a:pt x="5955208" y="1552575"/>
                </a:lnTo>
                <a:lnTo>
                  <a:pt x="5955208" y="1543050"/>
                </a:lnTo>
                <a:close/>
              </a:path>
              <a:path w="8982710" h="1552575">
                <a:moveTo>
                  <a:pt x="5985916" y="0"/>
                </a:moveTo>
                <a:lnTo>
                  <a:pt x="5957341" y="0"/>
                </a:lnTo>
                <a:lnTo>
                  <a:pt x="5957341" y="9525"/>
                </a:lnTo>
                <a:lnTo>
                  <a:pt x="5985916" y="9525"/>
                </a:lnTo>
                <a:lnTo>
                  <a:pt x="5985916" y="0"/>
                </a:lnTo>
                <a:close/>
              </a:path>
              <a:path w="8982710" h="1552575">
                <a:moveTo>
                  <a:pt x="6002794" y="1543050"/>
                </a:moveTo>
                <a:lnTo>
                  <a:pt x="5974219" y="1543050"/>
                </a:lnTo>
                <a:lnTo>
                  <a:pt x="5974219" y="1552575"/>
                </a:lnTo>
                <a:lnTo>
                  <a:pt x="6002794" y="1552575"/>
                </a:lnTo>
                <a:lnTo>
                  <a:pt x="6002794" y="1543050"/>
                </a:lnTo>
                <a:close/>
              </a:path>
              <a:path w="8982710" h="1552575">
                <a:moveTo>
                  <a:pt x="6033503" y="0"/>
                </a:moveTo>
                <a:lnTo>
                  <a:pt x="6004928" y="0"/>
                </a:lnTo>
                <a:lnTo>
                  <a:pt x="6004928" y="9525"/>
                </a:lnTo>
                <a:lnTo>
                  <a:pt x="6033503" y="9525"/>
                </a:lnTo>
                <a:lnTo>
                  <a:pt x="6033503" y="0"/>
                </a:lnTo>
                <a:close/>
              </a:path>
              <a:path w="8982710" h="1552575">
                <a:moveTo>
                  <a:pt x="6050381" y="1543050"/>
                </a:moveTo>
                <a:lnTo>
                  <a:pt x="6021806" y="1543050"/>
                </a:lnTo>
                <a:lnTo>
                  <a:pt x="6021806" y="1552575"/>
                </a:lnTo>
                <a:lnTo>
                  <a:pt x="6050381" y="1552575"/>
                </a:lnTo>
                <a:lnTo>
                  <a:pt x="6050381" y="1543050"/>
                </a:lnTo>
                <a:close/>
              </a:path>
              <a:path w="8982710" h="1552575">
                <a:moveTo>
                  <a:pt x="6081077" y="0"/>
                </a:moveTo>
                <a:lnTo>
                  <a:pt x="6052502" y="0"/>
                </a:lnTo>
                <a:lnTo>
                  <a:pt x="6052502" y="9525"/>
                </a:lnTo>
                <a:lnTo>
                  <a:pt x="6081077" y="9525"/>
                </a:lnTo>
                <a:lnTo>
                  <a:pt x="6081077" y="0"/>
                </a:lnTo>
                <a:close/>
              </a:path>
              <a:path w="8982710" h="1552575">
                <a:moveTo>
                  <a:pt x="6097956" y="1543050"/>
                </a:moveTo>
                <a:lnTo>
                  <a:pt x="6069381" y="1543050"/>
                </a:lnTo>
                <a:lnTo>
                  <a:pt x="6069381" y="1552575"/>
                </a:lnTo>
                <a:lnTo>
                  <a:pt x="6097956" y="1552575"/>
                </a:lnTo>
                <a:lnTo>
                  <a:pt x="6097956" y="1543050"/>
                </a:lnTo>
                <a:close/>
              </a:path>
              <a:path w="8982710" h="1552575">
                <a:moveTo>
                  <a:pt x="6128651" y="0"/>
                </a:moveTo>
                <a:lnTo>
                  <a:pt x="6100076" y="0"/>
                </a:lnTo>
                <a:lnTo>
                  <a:pt x="6100076" y="9525"/>
                </a:lnTo>
                <a:lnTo>
                  <a:pt x="6128651" y="9525"/>
                </a:lnTo>
                <a:lnTo>
                  <a:pt x="6128651" y="0"/>
                </a:lnTo>
                <a:close/>
              </a:path>
              <a:path w="8982710" h="1552575">
                <a:moveTo>
                  <a:pt x="6145542" y="1543050"/>
                </a:moveTo>
                <a:lnTo>
                  <a:pt x="6116967" y="1543050"/>
                </a:lnTo>
                <a:lnTo>
                  <a:pt x="6116967" y="1552575"/>
                </a:lnTo>
                <a:lnTo>
                  <a:pt x="6145542" y="1552575"/>
                </a:lnTo>
                <a:lnTo>
                  <a:pt x="6145542" y="1543050"/>
                </a:lnTo>
                <a:close/>
              </a:path>
              <a:path w="8982710" h="1552575">
                <a:moveTo>
                  <a:pt x="6176238" y="0"/>
                </a:moveTo>
                <a:lnTo>
                  <a:pt x="6147663" y="0"/>
                </a:lnTo>
                <a:lnTo>
                  <a:pt x="6147663" y="9525"/>
                </a:lnTo>
                <a:lnTo>
                  <a:pt x="6176238" y="9525"/>
                </a:lnTo>
                <a:lnTo>
                  <a:pt x="6176238" y="0"/>
                </a:lnTo>
                <a:close/>
              </a:path>
              <a:path w="8982710" h="1552575">
                <a:moveTo>
                  <a:pt x="6193117" y="1543050"/>
                </a:moveTo>
                <a:lnTo>
                  <a:pt x="6164542" y="1543050"/>
                </a:lnTo>
                <a:lnTo>
                  <a:pt x="6164542" y="1552575"/>
                </a:lnTo>
                <a:lnTo>
                  <a:pt x="6193117" y="1552575"/>
                </a:lnTo>
                <a:lnTo>
                  <a:pt x="6193117" y="1543050"/>
                </a:lnTo>
                <a:close/>
              </a:path>
              <a:path w="8982710" h="1552575">
                <a:moveTo>
                  <a:pt x="6223813" y="0"/>
                </a:moveTo>
                <a:lnTo>
                  <a:pt x="6195238" y="0"/>
                </a:lnTo>
                <a:lnTo>
                  <a:pt x="6195238" y="9525"/>
                </a:lnTo>
                <a:lnTo>
                  <a:pt x="6223813" y="9525"/>
                </a:lnTo>
                <a:lnTo>
                  <a:pt x="6223813" y="0"/>
                </a:lnTo>
                <a:close/>
              </a:path>
              <a:path w="8982710" h="1552575">
                <a:moveTo>
                  <a:pt x="6240704" y="1543050"/>
                </a:moveTo>
                <a:lnTo>
                  <a:pt x="6212129" y="1543050"/>
                </a:lnTo>
                <a:lnTo>
                  <a:pt x="6212129" y="1552575"/>
                </a:lnTo>
                <a:lnTo>
                  <a:pt x="6240704" y="1552575"/>
                </a:lnTo>
                <a:lnTo>
                  <a:pt x="6240704" y="1543050"/>
                </a:lnTo>
                <a:close/>
              </a:path>
              <a:path w="8982710" h="1552575">
                <a:moveTo>
                  <a:pt x="6271399" y="0"/>
                </a:moveTo>
                <a:lnTo>
                  <a:pt x="6242824" y="0"/>
                </a:lnTo>
                <a:lnTo>
                  <a:pt x="6242824" y="9525"/>
                </a:lnTo>
                <a:lnTo>
                  <a:pt x="6271399" y="9525"/>
                </a:lnTo>
                <a:lnTo>
                  <a:pt x="6271399" y="0"/>
                </a:lnTo>
                <a:close/>
              </a:path>
              <a:path w="8982710" h="1552575">
                <a:moveTo>
                  <a:pt x="6288278" y="1543050"/>
                </a:moveTo>
                <a:lnTo>
                  <a:pt x="6259703" y="1543050"/>
                </a:lnTo>
                <a:lnTo>
                  <a:pt x="6259703" y="1552575"/>
                </a:lnTo>
                <a:lnTo>
                  <a:pt x="6288278" y="1552575"/>
                </a:lnTo>
                <a:lnTo>
                  <a:pt x="6288278" y="1543050"/>
                </a:lnTo>
                <a:close/>
              </a:path>
              <a:path w="8982710" h="1552575">
                <a:moveTo>
                  <a:pt x="6318986" y="0"/>
                </a:moveTo>
                <a:lnTo>
                  <a:pt x="6290411" y="0"/>
                </a:lnTo>
                <a:lnTo>
                  <a:pt x="6290411" y="9525"/>
                </a:lnTo>
                <a:lnTo>
                  <a:pt x="6318986" y="9525"/>
                </a:lnTo>
                <a:lnTo>
                  <a:pt x="6318986" y="0"/>
                </a:lnTo>
                <a:close/>
              </a:path>
              <a:path w="8982710" h="1552575">
                <a:moveTo>
                  <a:pt x="6335865" y="1543050"/>
                </a:moveTo>
                <a:lnTo>
                  <a:pt x="6307290" y="1543050"/>
                </a:lnTo>
                <a:lnTo>
                  <a:pt x="6307290" y="1552575"/>
                </a:lnTo>
                <a:lnTo>
                  <a:pt x="6335865" y="1552575"/>
                </a:lnTo>
                <a:lnTo>
                  <a:pt x="6335865" y="1543050"/>
                </a:lnTo>
                <a:close/>
              </a:path>
              <a:path w="8982710" h="1552575">
                <a:moveTo>
                  <a:pt x="6366573" y="0"/>
                </a:moveTo>
                <a:lnTo>
                  <a:pt x="6337998" y="0"/>
                </a:lnTo>
                <a:lnTo>
                  <a:pt x="6337998" y="9525"/>
                </a:lnTo>
                <a:lnTo>
                  <a:pt x="6366573" y="9525"/>
                </a:lnTo>
                <a:lnTo>
                  <a:pt x="6366573" y="0"/>
                </a:lnTo>
                <a:close/>
              </a:path>
              <a:path w="8982710" h="1552575">
                <a:moveTo>
                  <a:pt x="6383452" y="1543050"/>
                </a:moveTo>
                <a:lnTo>
                  <a:pt x="6354877" y="1543050"/>
                </a:lnTo>
                <a:lnTo>
                  <a:pt x="6354877" y="1552575"/>
                </a:lnTo>
                <a:lnTo>
                  <a:pt x="6383452" y="1552575"/>
                </a:lnTo>
                <a:lnTo>
                  <a:pt x="6383452" y="1543050"/>
                </a:lnTo>
                <a:close/>
              </a:path>
              <a:path w="8982710" h="1552575">
                <a:moveTo>
                  <a:pt x="6414148" y="0"/>
                </a:moveTo>
                <a:lnTo>
                  <a:pt x="6385573" y="0"/>
                </a:lnTo>
                <a:lnTo>
                  <a:pt x="6385573" y="9525"/>
                </a:lnTo>
                <a:lnTo>
                  <a:pt x="6414148" y="9525"/>
                </a:lnTo>
                <a:lnTo>
                  <a:pt x="6414148" y="0"/>
                </a:lnTo>
                <a:close/>
              </a:path>
              <a:path w="8982710" h="1552575">
                <a:moveTo>
                  <a:pt x="6431026" y="1543050"/>
                </a:moveTo>
                <a:lnTo>
                  <a:pt x="6402451" y="1543050"/>
                </a:lnTo>
                <a:lnTo>
                  <a:pt x="6402451" y="1552575"/>
                </a:lnTo>
                <a:lnTo>
                  <a:pt x="6431026" y="1552575"/>
                </a:lnTo>
                <a:lnTo>
                  <a:pt x="6431026" y="1543050"/>
                </a:lnTo>
                <a:close/>
              </a:path>
              <a:path w="8982710" h="1552575">
                <a:moveTo>
                  <a:pt x="6461722" y="0"/>
                </a:moveTo>
                <a:lnTo>
                  <a:pt x="6433147" y="0"/>
                </a:lnTo>
                <a:lnTo>
                  <a:pt x="6433147" y="9525"/>
                </a:lnTo>
                <a:lnTo>
                  <a:pt x="6461722" y="9525"/>
                </a:lnTo>
                <a:lnTo>
                  <a:pt x="6461722" y="0"/>
                </a:lnTo>
                <a:close/>
              </a:path>
              <a:path w="8982710" h="1552575">
                <a:moveTo>
                  <a:pt x="6478613" y="1543050"/>
                </a:moveTo>
                <a:lnTo>
                  <a:pt x="6450038" y="1543050"/>
                </a:lnTo>
                <a:lnTo>
                  <a:pt x="6450038" y="1552575"/>
                </a:lnTo>
                <a:lnTo>
                  <a:pt x="6478613" y="1552575"/>
                </a:lnTo>
                <a:lnTo>
                  <a:pt x="6478613" y="1543050"/>
                </a:lnTo>
                <a:close/>
              </a:path>
              <a:path w="8982710" h="1552575">
                <a:moveTo>
                  <a:pt x="6509309" y="0"/>
                </a:moveTo>
                <a:lnTo>
                  <a:pt x="6480734" y="0"/>
                </a:lnTo>
                <a:lnTo>
                  <a:pt x="6480734" y="9525"/>
                </a:lnTo>
                <a:lnTo>
                  <a:pt x="6509309" y="9525"/>
                </a:lnTo>
                <a:lnTo>
                  <a:pt x="6509309" y="0"/>
                </a:lnTo>
                <a:close/>
              </a:path>
              <a:path w="8982710" h="1552575">
                <a:moveTo>
                  <a:pt x="6526187" y="1543050"/>
                </a:moveTo>
                <a:lnTo>
                  <a:pt x="6497612" y="1543050"/>
                </a:lnTo>
                <a:lnTo>
                  <a:pt x="6497612" y="1552575"/>
                </a:lnTo>
                <a:lnTo>
                  <a:pt x="6526187" y="1552575"/>
                </a:lnTo>
                <a:lnTo>
                  <a:pt x="6526187" y="1543050"/>
                </a:lnTo>
                <a:close/>
              </a:path>
              <a:path w="8982710" h="1552575">
                <a:moveTo>
                  <a:pt x="6556883" y="0"/>
                </a:moveTo>
                <a:lnTo>
                  <a:pt x="6528308" y="0"/>
                </a:lnTo>
                <a:lnTo>
                  <a:pt x="6528308" y="9525"/>
                </a:lnTo>
                <a:lnTo>
                  <a:pt x="6556883" y="9525"/>
                </a:lnTo>
                <a:lnTo>
                  <a:pt x="6556883" y="0"/>
                </a:lnTo>
                <a:close/>
              </a:path>
              <a:path w="8982710" h="1552575">
                <a:moveTo>
                  <a:pt x="6573774" y="1543050"/>
                </a:moveTo>
                <a:lnTo>
                  <a:pt x="6545199" y="1543050"/>
                </a:lnTo>
                <a:lnTo>
                  <a:pt x="6545199" y="1552575"/>
                </a:lnTo>
                <a:lnTo>
                  <a:pt x="6573774" y="1552575"/>
                </a:lnTo>
                <a:lnTo>
                  <a:pt x="6573774" y="1543050"/>
                </a:lnTo>
                <a:close/>
              </a:path>
              <a:path w="8982710" h="1552575">
                <a:moveTo>
                  <a:pt x="6604470" y="0"/>
                </a:moveTo>
                <a:lnTo>
                  <a:pt x="6575895" y="0"/>
                </a:lnTo>
                <a:lnTo>
                  <a:pt x="6575895" y="9525"/>
                </a:lnTo>
                <a:lnTo>
                  <a:pt x="6604470" y="9525"/>
                </a:lnTo>
                <a:lnTo>
                  <a:pt x="6604470" y="0"/>
                </a:lnTo>
                <a:close/>
              </a:path>
              <a:path w="8982710" h="1552575">
                <a:moveTo>
                  <a:pt x="6621348" y="1543050"/>
                </a:moveTo>
                <a:lnTo>
                  <a:pt x="6592773" y="1543050"/>
                </a:lnTo>
                <a:lnTo>
                  <a:pt x="6592773" y="1552575"/>
                </a:lnTo>
                <a:lnTo>
                  <a:pt x="6621348" y="1552575"/>
                </a:lnTo>
                <a:lnTo>
                  <a:pt x="6621348" y="1543050"/>
                </a:lnTo>
                <a:close/>
              </a:path>
              <a:path w="8982710" h="1552575">
                <a:moveTo>
                  <a:pt x="6652057" y="0"/>
                </a:moveTo>
                <a:lnTo>
                  <a:pt x="6623482" y="0"/>
                </a:lnTo>
                <a:lnTo>
                  <a:pt x="6623482" y="9525"/>
                </a:lnTo>
                <a:lnTo>
                  <a:pt x="6652057" y="9525"/>
                </a:lnTo>
                <a:lnTo>
                  <a:pt x="6652057" y="0"/>
                </a:lnTo>
                <a:close/>
              </a:path>
              <a:path w="8982710" h="1552575">
                <a:moveTo>
                  <a:pt x="6668935" y="1543050"/>
                </a:moveTo>
                <a:lnTo>
                  <a:pt x="6640360" y="1543050"/>
                </a:lnTo>
                <a:lnTo>
                  <a:pt x="6640360" y="1552575"/>
                </a:lnTo>
                <a:lnTo>
                  <a:pt x="6668935" y="1552575"/>
                </a:lnTo>
                <a:lnTo>
                  <a:pt x="6668935" y="1543050"/>
                </a:lnTo>
                <a:close/>
              </a:path>
              <a:path w="8982710" h="1552575">
                <a:moveTo>
                  <a:pt x="6699644" y="0"/>
                </a:moveTo>
                <a:lnTo>
                  <a:pt x="6671069" y="0"/>
                </a:lnTo>
                <a:lnTo>
                  <a:pt x="6671069" y="9525"/>
                </a:lnTo>
                <a:lnTo>
                  <a:pt x="6699644" y="9525"/>
                </a:lnTo>
                <a:lnTo>
                  <a:pt x="6699644" y="0"/>
                </a:lnTo>
                <a:close/>
              </a:path>
              <a:path w="8982710" h="1552575">
                <a:moveTo>
                  <a:pt x="6716522" y="1543050"/>
                </a:moveTo>
                <a:lnTo>
                  <a:pt x="6687947" y="1543050"/>
                </a:lnTo>
                <a:lnTo>
                  <a:pt x="6687947" y="1552575"/>
                </a:lnTo>
                <a:lnTo>
                  <a:pt x="6716522" y="1552575"/>
                </a:lnTo>
                <a:lnTo>
                  <a:pt x="6716522" y="1543050"/>
                </a:lnTo>
                <a:close/>
              </a:path>
              <a:path w="8982710" h="1552575">
                <a:moveTo>
                  <a:pt x="6747218" y="0"/>
                </a:moveTo>
                <a:lnTo>
                  <a:pt x="6718643" y="0"/>
                </a:lnTo>
                <a:lnTo>
                  <a:pt x="6718643" y="9525"/>
                </a:lnTo>
                <a:lnTo>
                  <a:pt x="6747218" y="9525"/>
                </a:lnTo>
                <a:lnTo>
                  <a:pt x="6747218" y="0"/>
                </a:lnTo>
                <a:close/>
              </a:path>
              <a:path w="8982710" h="1552575">
                <a:moveTo>
                  <a:pt x="6764096" y="1543050"/>
                </a:moveTo>
                <a:lnTo>
                  <a:pt x="6735521" y="1543050"/>
                </a:lnTo>
                <a:lnTo>
                  <a:pt x="6735521" y="1552575"/>
                </a:lnTo>
                <a:lnTo>
                  <a:pt x="6764096" y="1552575"/>
                </a:lnTo>
                <a:lnTo>
                  <a:pt x="6764096" y="1543050"/>
                </a:lnTo>
                <a:close/>
              </a:path>
              <a:path w="8982710" h="1552575">
                <a:moveTo>
                  <a:pt x="6794792" y="0"/>
                </a:moveTo>
                <a:lnTo>
                  <a:pt x="6766217" y="0"/>
                </a:lnTo>
                <a:lnTo>
                  <a:pt x="6766217" y="9525"/>
                </a:lnTo>
                <a:lnTo>
                  <a:pt x="6794792" y="9525"/>
                </a:lnTo>
                <a:lnTo>
                  <a:pt x="6794792" y="0"/>
                </a:lnTo>
                <a:close/>
              </a:path>
              <a:path w="8982710" h="1552575">
                <a:moveTo>
                  <a:pt x="6811683" y="1543050"/>
                </a:moveTo>
                <a:lnTo>
                  <a:pt x="6783108" y="1543050"/>
                </a:lnTo>
                <a:lnTo>
                  <a:pt x="6783108" y="1552575"/>
                </a:lnTo>
                <a:lnTo>
                  <a:pt x="6811683" y="1552575"/>
                </a:lnTo>
                <a:lnTo>
                  <a:pt x="6811683" y="1543050"/>
                </a:lnTo>
                <a:close/>
              </a:path>
              <a:path w="8982710" h="1552575">
                <a:moveTo>
                  <a:pt x="6842379" y="0"/>
                </a:moveTo>
                <a:lnTo>
                  <a:pt x="6813804" y="0"/>
                </a:lnTo>
                <a:lnTo>
                  <a:pt x="6813804" y="9525"/>
                </a:lnTo>
                <a:lnTo>
                  <a:pt x="6842379" y="9525"/>
                </a:lnTo>
                <a:lnTo>
                  <a:pt x="6842379" y="0"/>
                </a:lnTo>
                <a:close/>
              </a:path>
              <a:path w="8982710" h="1552575">
                <a:moveTo>
                  <a:pt x="6859257" y="1543050"/>
                </a:moveTo>
                <a:lnTo>
                  <a:pt x="6830682" y="1543050"/>
                </a:lnTo>
                <a:lnTo>
                  <a:pt x="6830682" y="1552575"/>
                </a:lnTo>
                <a:lnTo>
                  <a:pt x="6859257" y="1552575"/>
                </a:lnTo>
                <a:lnTo>
                  <a:pt x="6859257" y="1543050"/>
                </a:lnTo>
                <a:close/>
              </a:path>
              <a:path w="8982710" h="1552575">
                <a:moveTo>
                  <a:pt x="6889953" y="0"/>
                </a:moveTo>
                <a:lnTo>
                  <a:pt x="6861378" y="0"/>
                </a:lnTo>
                <a:lnTo>
                  <a:pt x="6861378" y="9525"/>
                </a:lnTo>
                <a:lnTo>
                  <a:pt x="6889953" y="9525"/>
                </a:lnTo>
                <a:lnTo>
                  <a:pt x="6889953" y="0"/>
                </a:lnTo>
                <a:close/>
              </a:path>
              <a:path w="8982710" h="1552575">
                <a:moveTo>
                  <a:pt x="6906844" y="1543050"/>
                </a:moveTo>
                <a:lnTo>
                  <a:pt x="6878269" y="1543050"/>
                </a:lnTo>
                <a:lnTo>
                  <a:pt x="6878269" y="1552575"/>
                </a:lnTo>
                <a:lnTo>
                  <a:pt x="6906844" y="1552575"/>
                </a:lnTo>
                <a:lnTo>
                  <a:pt x="6906844" y="1543050"/>
                </a:lnTo>
                <a:close/>
              </a:path>
              <a:path w="8982710" h="1552575">
                <a:moveTo>
                  <a:pt x="6937540" y="0"/>
                </a:moveTo>
                <a:lnTo>
                  <a:pt x="6908965" y="0"/>
                </a:lnTo>
                <a:lnTo>
                  <a:pt x="6908965" y="9525"/>
                </a:lnTo>
                <a:lnTo>
                  <a:pt x="6937540" y="9525"/>
                </a:lnTo>
                <a:lnTo>
                  <a:pt x="6937540" y="0"/>
                </a:lnTo>
                <a:close/>
              </a:path>
              <a:path w="8982710" h="1552575">
                <a:moveTo>
                  <a:pt x="6954418" y="1543050"/>
                </a:moveTo>
                <a:lnTo>
                  <a:pt x="6925843" y="1543050"/>
                </a:lnTo>
                <a:lnTo>
                  <a:pt x="6925843" y="1552575"/>
                </a:lnTo>
                <a:lnTo>
                  <a:pt x="6954418" y="1552575"/>
                </a:lnTo>
                <a:lnTo>
                  <a:pt x="6954418" y="1543050"/>
                </a:lnTo>
                <a:close/>
              </a:path>
              <a:path w="8982710" h="1552575">
                <a:moveTo>
                  <a:pt x="6985127" y="0"/>
                </a:moveTo>
                <a:lnTo>
                  <a:pt x="6956552" y="0"/>
                </a:lnTo>
                <a:lnTo>
                  <a:pt x="6956552" y="9525"/>
                </a:lnTo>
                <a:lnTo>
                  <a:pt x="6985127" y="9525"/>
                </a:lnTo>
                <a:lnTo>
                  <a:pt x="6985127" y="0"/>
                </a:lnTo>
                <a:close/>
              </a:path>
              <a:path w="8982710" h="1552575">
                <a:moveTo>
                  <a:pt x="7002005" y="1543050"/>
                </a:moveTo>
                <a:lnTo>
                  <a:pt x="6973430" y="1543050"/>
                </a:lnTo>
                <a:lnTo>
                  <a:pt x="6973430" y="1552575"/>
                </a:lnTo>
                <a:lnTo>
                  <a:pt x="7002005" y="1552575"/>
                </a:lnTo>
                <a:lnTo>
                  <a:pt x="7002005" y="1543050"/>
                </a:lnTo>
                <a:close/>
              </a:path>
              <a:path w="8982710" h="1552575">
                <a:moveTo>
                  <a:pt x="7032714" y="0"/>
                </a:moveTo>
                <a:lnTo>
                  <a:pt x="7004139" y="0"/>
                </a:lnTo>
                <a:lnTo>
                  <a:pt x="7004139" y="9525"/>
                </a:lnTo>
                <a:lnTo>
                  <a:pt x="7032714" y="9525"/>
                </a:lnTo>
                <a:lnTo>
                  <a:pt x="7032714" y="0"/>
                </a:lnTo>
                <a:close/>
              </a:path>
              <a:path w="8982710" h="1552575">
                <a:moveTo>
                  <a:pt x="7049592" y="1543050"/>
                </a:moveTo>
                <a:lnTo>
                  <a:pt x="7021017" y="1543050"/>
                </a:lnTo>
                <a:lnTo>
                  <a:pt x="7021017" y="1552575"/>
                </a:lnTo>
                <a:lnTo>
                  <a:pt x="7049592" y="1552575"/>
                </a:lnTo>
                <a:lnTo>
                  <a:pt x="7049592" y="1543050"/>
                </a:lnTo>
                <a:close/>
              </a:path>
              <a:path w="8982710" h="1552575">
                <a:moveTo>
                  <a:pt x="7080288" y="0"/>
                </a:moveTo>
                <a:lnTo>
                  <a:pt x="7051713" y="0"/>
                </a:lnTo>
                <a:lnTo>
                  <a:pt x="7051713" y="9525"/>
                </a:lnTo>
                <a:lnTo>
                  <a:pt x="7080288" y="9525"/>
                </a:lnTo>
                <a:lnTo>
                  <a:pt x="7080288" y="0"/>
                </a:lnTo>
                <a:close/>
              </a:path>
              <a:path w="8982710" h="1552575">
                <a:moveTo>
                  <a:pt x="7097166" y="1543050"/>
                </a:moveTo>
                <a:lnTo>
                  <a:pt x="7068591" y="1543050"/>
                </a:lnTo>
                <a:lnTo>
                  <a:pt x="7068591" y="1552575"/>
                </a:lnTo>
                <a:lnTo>
                  <a:pt x="7097166" y="1552575"/>
                </a:lnTo>
                <a:lnTo>
                  <a:pt x="7097166" y="1543050"/>
                </a:lnTo>
                <a:close/>
              </a:path>
              <a:path w="8982710" h="1552575">
                <a:moveTo>
                  <a:pt x="7127862" y="0"/>
                </a:moveTo>
                <a:lnTo>
                  <a:pt x="7099287" y="0"/>
                </a:lnTo>
                <a:lnTo>
                  <a:pt x="7099287" y="9525"/>
                </a:lnTo>
                <a:lnTo>
                  <a:pt x="7127862" y="9525"/>
                </a:lnTo>
                <a:lnTo>
                  <a:pt x="7127862" y="0"/>
                </a:lnTo>
                <a:close/>
              </a:path>
              <a:path w="8982710" h="1552575">
                <a:moveTo>
                  <a:pt x="7144753" y="1543050"/>
                </a:moveTo>
                <a:lnTo>
                  <a:pt x="7116178" y="1543050"/>
                </a:lnTo>
                <a:lnTo>
                  <a:pt x="7116178" y="1552575"/>
                </a:lnTo>
                <a:lnTo>
                  <a:pt x="7144753" y="1552575"/>
                </a:lnTo>
                <a:lnTo>
                  <a:pt x="7144753" y="1543050"/>
                </a:lnTo>
                <a:close/>
              </a:path>
              <a:path w="8982710" h="1552575">
                <a:moveTo>
                  <a:pt x="7175449" y="0"/>
                </a:moveTo>
                <a:lnTo>
                  <a:pt x="7146874" y="0"/>
                </a:lnTo>
                <a:lnTo>
                  <a:pt x="7146874" y="9525"/>
                </a:lnTo>
                <a:lnTo>
                  <a:pt x="7175449" y="9525"/>
                </a:lnTo>
                <a:lnTo>
                  <a:pt x="7175449" y="0"/>
                </a:lnTo>
                <a:close/>
              </a:path>
              <a:path w="8982710" h="1552575">
                <a:moveTo>
                  <a:pt x="7192327" y="1543050"/>
                </a:moveTo>
                <a:lnTo>
                  <a:pt x="7163752" y="1543050"/>
                </a:lnTo>
                <a:lnTo>
                  <a:pt x="7163752" y="1552575"/>
                </a:lnTo>
                <a:lnTo>
                  <a:pt x="7192327" y="1552575"/>
                </a:lnTo>
                <a:lnTo>
                  <a:pt x="7192327" y="1543050"/>
                </a:lnTo>
                <a:close/>
              </a:path>
              <a:path w="8982710" h="1552575">
                <a:moveTo>
                  <a:pt x="7223023" y="0"/>
                </a:moveTo>
                <a:lnTo>
                  <a:pt x="7194448" y="0"/>
                </a:lnTo>
                <a:lnTo>
                  <a:pt x="7194448" y="9525"/>
                </a:lnTo>
                <a:lnTo>
                  <a:pt x="7223023" y="9525"/>
                </a:lnTo>
                <a:lnTo>
                  <a:pt x="7223023" y="0"/>
                </a:lnTo>
                <a:close/>
              </a:path>
              <a:path w="8982710" h="1552575">
                <a:moveTo>
                  <a:pt x="7239914" y="1543050"/>
                </a:moveTo>
                <a:lnTo>
                  <a:pt x="7211339" y="1543050"/>
                </a:lnTo>
                <a:lnTo>
                  <a:pt x="7211339" y="1552575"/>
                </a:lnTo>
                <a:lnTo>
                  <a:pt x="7239914" y="1552575"/>
                </a:lnTo>
                <a:lnTo>
                  <a:pt x="7239914" y="1543050"/>
                </a:lnTo>
                <a:close/>
              </a:path>
              <a:path w="8982710" h="1552575">
                <a:moveTo>
                  <a:pt x="7270610" y="0"/>
                </a:moveTo>
                <a:lnTo>
                  <a:pt x="7242035" y="0"/>
                </a:lnTo>
                <a:lnTo>
                  <a:pt x="7242035" y="9525"/>
                </a:lnTo>
                <a:lnTo>
                  <a:pt x="7270610" y="9525"/>
                </a:lnTo>
                <a:lnTo>
                  <a:pt x="7270610" y="0"/>
                </a:lnTo>
                <a:close/>
              </a:path>
              <a:path w="8982710" h="1552575">
                <a:moveTo>
                  <a:pt x="7287488" y="1543050"/>
                </a:moveTo>
                <a:lnTo>
                  <a:pt x="7258913" y="1543050"/>
                </a:lnTo>
                <a:lnTo>
                  <a:pt x="7258913" y="1552575"/>
                </a:lnTo>
                <a:lnTo>
                  <a:pt x="7287488" y="1552575"/>
                </a:lnTo>
                <a:lnTo>
                  <a:pt x="7287488" y="1543050"/>
                </a:lnTo>
                <a:close/>
              </a:path>
              <a:path w="8982710" h="1552575">
                <a:moveTo>
                  <a:pt x="7318197" y="0"/>
                </a:moveTo>
                <a:lnTo>
                  <a:pt x="7289622" y="0"/>
                </a:lnTo>
                <a:lnTo>
                  <a:pt x="7289622" y="9525"/>
                </a:lnTo>
                <a:lnTo>
                  <a:pt x="7318197" y="9525"/>
                </a:lnTo>
                <a:lnTo>
                  <a:pt x="7318197" y="0"/>
                </a:lnTo>
                <a:close/>
              </a:path>
              <a:path w="8982710" h="1552575">
                <a:moveTo>
                  <a:pt x="7335075" y="1543050"/>
                </a:moveTo>
                <a:lnTo>
                  <a:pt x="7306500" y="1543050"/>
                </a:lnTo>
                <a:lnTo>
                  <a:pt x="7306500" y="1552575"/>
                </a:lnTo>
                <a:lnTo>
                  <a:pt x="7335075" y="1552575"/>
                </a:lnTo>
                <a:lnTo>
                  <a:pt x="7335075" y="1543050"/>
                </a:lnTo>
                <a:close/>
              </a:path>
              <a:path w="8982710" h="1552575">
                <a:moveTo>
                  <a:pt x="7365771" y="0"/>
                </a:moveTo>
                <a:lnTo>
                  <a:pt x="7337196" y="0"/>
                </a:lnTo>
                <a:lnTo>
                  <a:pt x="7337196" y="9525"/>
                </a:lnTo>
                <a:lnTo>
                  <a:pt x="7365771" y="9525"/>
                </a:lnTo>
                <a:lnTo>
                  <a:pt x="7365771" y="0"/>
                </a:lnTo>
                <a:close/>
              </a:path>
              <a:path w="8982710" h="1552575">
                <a:moveTo>
                  <a:pt x="7382662" y="1543050"/>
                </a:moveTo>
                <a:lnTo>
                  <a:pt x="7354087" y="1543050"/>
                </a:lnTo>
                <a:lnTo>
                  <a:pt x="7354087" y="1552575"/>
                </a:lnTo>
                <a:lnTo>
                  <a:pt x="7382662" y="1552575"/>
                </a:lnTo>
                <a:lnTo>
                  <a:pt x="7382662" y="1543050"/>
                </a:lnTo>
                <a:close/>
              </a:path>
              <a:path w="8982710" h="1552575">
                <a:moveTo>
                  <a:pt x="7413358" y="0"/>
                </a:moveTo>
                <a:lnTo>
                  <a:pt x="7384783" y="0"/>
                </a:lnTo>
                <a:lnTo>
                  <a:pt x="7384783" y="9525"/>
                </a:lnTo>
                <a:lnTo>
                  <a:pt x="7413358" y="9525"/>
                </a:lnTo>
                <a:lnTo>
                  <a:pt x="7413358" y="0"/>
                </a:lnTo>
                <a:close/>
              </a:path>
              <a:path w="8982710" h="1552575">
                <a:moveTo>
                  <a:pt x="7430236" y="1543050"/>
                </a:moveTo>
                <a:lnTo>
                  <a:pt x="7401661" y="1543050"/>
                </a:lnTo>
                <a:lnTo>
                  <a:pt x="7401661" y="1552575"/>
                </a:lnTo>
                <a:lnTo>
                  <a:pt x="7430236" y="1552575"/>
                </a:lnTo>
                <a:lnTo>
                  <a:pt x="7430236" y="1543050"/>
                </a:lnTo>
                <a:close/>
              </a:path>
              <a:path w="8982710" h="1552575">
                <a:moveTo>
                  <a:pt x="7460932" y="0"/>
                </a:moveTo>
                <a:lnTo>
                  <a:pt x="7432357" y="0"/>
                </a:lnTo>
                <a:lnTo>
                  <a:pt x="7432357" y="9525"/>
                </a:lnTo>
                <a:lnTo>
                  <a:pt x="7460932" y="9525"/>
                </a:lnTo>
                <a:lnTo>
                  <a:pt x="7460932" y="0"/>
                </a:lnTo>
                <a:close/>
              </a:path>
              <a:path w="8982710" h="1552575">
                <a:moveTo>
                  <a:pt x="7477823" y="1543050"/>
                </a:moveTo>
                <a:lnTo>
                  <a:pt x="7449248" y="1543050"/>
                </a:lnTo>
                <a:lnTo>
                  <a:pt x="7449248" y="1552575"/>
                </a:lnTo>
                <a:lnTo>
                  <a:pt x="7477823" y="1552575"/>
                </a:lnTo>
                <a:lnTo>
                  <a:pt x="7477823" y="1543050"/>
                </a:lnTo>
                <a:close/>
              </a:path>
              <a:path w="8982710" h="1552575">
                <a:moveTo>
                  <a:pt x="7508519" y="0"/>
                </a:moveTo>
                <a:lnTo>
                  <a:pt x="7479944" y="0"/>
                </a:lnTo>
                <a:lnTo>
                  <a:pt x="7479944" y="9525"/>
                </a:lnTo>
                <a:lnTo>
                  <a:pt x="7508519" y="9525"/>
                </a:lnTo>
                <a:lnTo>
                  <a:pt x="7508519" y="0"/>
                </a:lnTo>
                <a:close/>
              </a:path>
              <a:path w="8982710" h="1552575">
                <a:moveTo>
                  <a:pt x="7525398" y="1543050"/>
                </a:moveTo>
                <a:lnTo>
                  <a:pt x="7496823" y="1543050"/>
                </a:lnTo>
                <a:lnTo>
                  <a:pt x="7496823" y="1552575"/>
                </a:lnTo>
                <a:lnTo>
                  <a:pt x="7525398" y="1552575"/>
                </a:lnTo>
                <a:lnTo>
                  <a:pt x="7525398" y="1543050"/>
                </a:lnTo>
                <a:close/>
              </a:path>
              <a:path w="8982710" h="1552575">
                <a:moveTo>
                  <a:pt x="7556093" y="0"/>
                </a:moveTo>
                <a:lnTo>
                  <a:pt x="7527518" y="0"/>
                </a:lnTo>
                <a:lnTo>
                  <a:pt x="7527518" y="9525"/>
                </a:lnTo>
                <a:lnTo>
                  <a:pt x="7556093" y="9525"/>
                </a:lnTo>
                <a:lnTo>
                  <a:pt x="7556093" y="0"/>
                </a:lnTo>
                <a:close/>
              </a:path>
              <a:path w="8982710" h="1552575">
                <a:moveTo>
                  <a:pt x="7572984" y="1543050"/>
                </a:moveTo>
                <a:lnTo>
                  <a:pt x="7544409" y="1543050"/>
                </a:lnTo>
                <a:lnTo>
                  <a:pt x="7544409" y="1552575"/>
                </a:lnTo>
                <a:lnTo>
                  <a:pt x="7572984" y="1552575"/>
                </a:lnTo>
                <a:lnTo>
                  <a:pt x="7572984" y="1543050"/>
                </a:lnTo>
                <a:close/>
              </a:path>
              <a:path w="8982710" h="1552575">
                <a:moveTo>
                  <a:pt x="7603680" y="0"/>
                </a:moveTo>
                <a:lnTo>
                  <a:pt x="7575105" y="0"/>
                </a:lnTo>
                <a:lnTo>
                  <a:pt x="7575105" y="9525"/>
                </a:lnTo>
                <a:lnTo>
                  <a:pt x="7603680" y="9525"/>
                </a:lnTo>
                <a:lnTo>
                  <a:pt x="7603680" y="0"/>
                </a:lnTo>
                <a:close/>
              </a:path>
              <a:path w="8982710" h="1552575">
                <a:moveTo>
                  <a:pt x="7620559" y="1543050"/>
                </a:moveTo>
                <a:lnTo>
                  <a:pt x="7591984" y="1543050"/>
                </a:lnTo>
                <a:lnTo>
                  <a:pt x="7591984" y="1552575"/>
                </a:lnTo>
                <a:lnTo>
                  <a:pt x="7620559" y="1552575"/>
                </a:lnTo>
                <a:lnTo>
                  <a:pt x="7620559" y="1543050"/>
                </a:lnTo>
                <a:close/>
              </a:path>
              <a:path w="8982710" h="1552575">
                <a:moveTo>
                  <a:pt x="7651267" y="0"/>
                </a:moveTo>
                <a:lnTo>
                  <a:pt x="7622692" y="0"/>
                </a:lnTo>
                <a:lnTo>
                  <a:pt x="7622692" y="9525"/>
                </a:lnTo>
                <a:lnTo>
                  <a:pt x="7651267" y="9525"/>
                </a:lnTo>
                <a:lnTo>
                  <a:pt x="7651267" y="0"/>
                </a:lnTo>
                <a:close/>
              </a:path>
              <a:path w="8982710" h="1552575">
                <a:moveTo>
                  <a:pt x="7668146" y="1543050"/>
                </a:moveTo>
                <a:lnTo>
                  <a:pt x="7639571" y="1543050"/>
                </a:lnTo>
                <a:lnTo>
                  <a:pt x="7639571" y="1552575"/>
                </a:lnTo>
                <a:lnTo>
                  <a:pt x="7668146" y="1552575"/>
                </a:lnTo>
                <a:lnTo>
                  <a:pt x="7668146" y="1543050"/>
                </a:lnTo>
                <a:close/>
              </a:path>
              <a:path w="8982710" h="1552575">
                <a:moveTo>
                  <a:pt x="7698841" y="0"/>
                </a:moveTo>
                <a:lnTo>
                  <a:pt x="7670266" y="0"/>
                </a:lnTo>
                <a:lnTo>
                  <a:pt x="7670266" y="9525"/>
                </a:lnTo>
                <a:lnTo>
                  <a:pt x="7698841" y="9525"/>
                </a:lnTo>
                <a:lnTo>
                  <a:pt x="7698841" y="0"/>
                </a:lnTo>
                <a:close/>
              </a:path>
              <a:path w="8982710" h="1552575">
                <a:moveTo>
                  <a:pt x="7715732" y="1543050"/>
                </a:moveTo>
                <a:lnTo>
                  <a:pt x="7687157" y="1543050"/>
                </a:lnTo>
                <a:lnTo>
                  <a:pt x="7687157" y="1552575"/>
                </a:lnTo>
                <a:lnTo>
                  <a:pt x="7715732" y="1552575"/>
                </a:lnTo>
                <a:lnTo>
                  <a:pt x="7715732" y="1543050"/>
                </a:lnTo>
                <a:close/>
              </a:path>
              <a:path w="8982710" h="1552575">
                <a:moveTo>
                  <a:pt x="7746428" y="0"/>
                </a:moveTo>
                <a:lnTo>
                  <a:pt x="7717853" y="0"/>
                </a:lnTo>
                <a:lnTo>
                  <a:pt x="7717853" y="9525"/>
                </a:lnTo>
                <a:lnTo>
                  <a:pt x="7746428" y="9525"/>
                </a:lnTo>
                <a:lnTo>
                  <a:pt x="7746428" y="0"/>
                </a:lnTo>
                <a:close/>
              </a:path>
              <a:path w="8982710" h="1552575">
                <a:moveTo>
                  <a:pt x="7763307" y="1543050"/>
                </a:moveTo>
                <a:lnTo>
                  <a:pt x="7734732" y="1543050"/>
                </a:lnTo>
                <a:lnTo>
                  <a:pt x="7734732" y="1552575"/>
                </a:lnTo>
                <a:lnTo>
                  <a:pt x="7763307" y="1552575"/>
                </a:lnTo>
                <a:lnTo>
                  <a:pt x="7763307" y="1543050"/>
                </a:lnTo>
                <a:close/>
              </a:path>
              <a:path w="8982710" h="1552575">
                <a:moveTo>
                  <a:pt x="7794003" y="0"/>
                </a:moveTo>
                <a:lnTo>
                  <a:pt x="7765428" y="0"/>
                </a:lnTo>
                <a:lnTo>
                  <a:pt x="7765428" y="9525"/>
                </a:lnTo>
                <a:lnTo>
                  <a:pt x="7794003" y="9525"/>
                </a:lnTo>
                <a:lnTo>
                  <a:pt x="7794003" y="0"/>
                </a:lnTo>
                <a:close/>
              </a:path>
              <a:path w="8982710" h="1552575">
                <a:moveTo>
                  <a:pt x="7810894" y="1543050"/>
                </a:moveTo>
                <a:lnTo>
                  <a:pt x="7782319" y="1543050"/>
                </a:lnTo>
                <a:lnTo>
                  <a:pt x="7782319" y="1552575"/>
                </a:lnTo>
                <a:lnTo>
                  <a:pt x="7810894" y="1552575"/>
                </a:lnTo>
                <a:lnTo>
                  <a:pt x="7810894" y="1543050"/>
                </a:lnTo>
                <a:close/>
              </a:path>
              <a:path w="8982710" h="1552575">
                <a:moveTo>
                  <a:pt x="7841589" y="0"/>
                </a:moveTo>
                <a:lnTo>
                  <a:pt x="7813014" y="0"/>
                </a:lnTo>
                <a:lnTo>
                  <a:pt x="7813014" y="9525"/>
                </a:lnTo>
                <a:lnTo>
                  <a:pt x="7841589" y="9525"/>
                </a:lnTo>
                <a:lnTo>
                  <a:pt x="7841589" y="0"/>
                </a:lnTo>
                <a:close/>
              </a:path>
              <a:path w="8982710" h="1552575">
                <a:moveTo>
                  <a:pt x="7858468" y="1543050"/>
                </a:moveTo>
                <a:lnTo>
                  <a:pt x="7829893" y="1543050"/>
                </a:lnTo>
                <a:lnTo>
                  <a:pt x="7829893" y="1552575"/>
                </a:lnTo>
                <a:lnTo>
                  <a:pt x="7858468" y="1552575"/>
                </a:lnTo>
                <a:lnTo>
                  <a:pt x="7858468" y="1543050"/>
                </a:lnTo>
                <a:close/>
              </a:path>
              <a:path w="8982710" h="1552575">
                <a:moveTo>
                  <a:pt x="7889164" y="0"/>
                </a:moveTo>
                <a:lnTo>
                  <a:pt x="7860589" y="0"/>
                </a:lnTo>
                <a:lnTo>
                  <a:pt x="7860589" y="9525"/>
                </a:lnTo>
                <a:lnTo>
                  <a:pt x="7889164" y="9525"/>
                </a:lnTo>
                <a:lnTo>
                  <a:pt x="7889164" y="0"/>
                </a:lnTo>
                <a:close/>
              </a:path>
              <a:path w="8982710" h="1552575">
                <a:moveTo>
                  <a:pt x="7906042" y="1543050"/>
                </a:moveTo>
                <a:lnTo>
                  <a:pt x="7877467" y="1543050"/>
                </a:lnTo>
                <a:lnTo>
                  <a:pt x="7877467" y="1552575"/>
                </a:lnTo>
                <a:lnTo>
                  <a:pt x="7906042" y="1552575"/>
                </a:lnTo>
                <a:lnTo>
                  <a:pt x="7906042" y="1543050"/>
                </a:lnTo>
                <a:close/>
              </a:path>
              <a:path w="8982710" h="1552575">
                <a:moveTo>
                  <a:pt x="7936751" y="0"/>
                </a:moveTo>
                <a:lnTo>
                  <a:pt x="7908176" y="0"/>
                </a:lnTo>
                <a:lnTo>
                  <a:pt x="7908176" y="9525"/>
                </a:lnTo>
                <a:lnTo>
                  <a:pt x="7936751" y="9525"/>
                </a:lnTo>
                <a:lnTo>
                  <a:pt x="7936751" y="0"/>
                </a:lnTo>
                <a:close/>
              </a:path>
              <a:path w="8982710" h="1552575">
                <a:moveTo>
                  <a:pt x="7953629" y="1543050"/>
                </a:moveTo>
                <a:lnTo>
                  <a:pt x="7925054" y="1543050"/>
                </a:lnTo>
                <a:lnTo>
                  <a:pt x="7925054" y="1552575"/>
                </a:lnTo>
                <a:lnTo>
                  <a:pt x="7953629" y="1552575"/>
                </a:lnTo>
                <a:lnTo>
                  <a:pt x="7953629" y="1543050"/>
                </a:lnTo>
                <a:close/>
              </a:path>
              <a:path w="8982710" h="1552575">
                <a:moveTo>
                  <a:pt x="7984337" y="0"/>
                </a:moveTo>
                <a:lnTo>
                  <a:pt x="7955762" y="0"/>
                </a:lnTo>
                <a:lnTo>
                  <a:pt x="7955762" y="9525"/>
                </a:lnTo>
                <a:lnTo>
                  <a:pt x="7984337" y="9525"/>
                </a:lnTo>
                <a:lnTo>
                  <a:pt x="7984337" y="0"/>
                </a:lnTo>
                <a:close/>
              </a:path>
              <a:path w="8982710" h="1552575">
                <a:moveTo>
                  <a:pt x="8001216" y="1543050"/>
                </a:moveTo>
                <a:lnTo>
                  <a:pt x="7972641" y="1543050"/>
                </a:lnTo>
                <a:lnTo>
                  <a:pt x="7972641" y="1552575"/>
                </a:lnTo>
                <a:lnTo>
                  <a:pt x="8001216" y="1552575"/>
                </a:lnTo>
                <a:lnTo>
                  <a:pt x="8001216" y="1543050"/>
                </a:lnTo>
                <a:close/>
              </a:path>
              <a:path w="8982710" h="1552575">
                <a:moveTo>
                  <a:pt x="8031912" y="0"/>
                </a:moveTo>
                <a:lnTo>
                  <a:pt x="8003337" y="0"/>
                </a:lnTo>
                <a:lnTo>
                  <a:pt x="8003337" y="9525"/>
                </a:lnTo>
                <a:lnTo>
                  <a:pt x="8031912" y="9525"/>
                </a:lnTo>
                <a:lnTo>
                  <a:pt x="8031912" y="0"/>
                </a:lnTo>
                <a:close/>
              </a:path>
              <a:path w="8982710" h="1552575">
                <a:moveTo>
                  <a:pt x="8048803" y="1543050"/>
                </a:moveTo>
                <a:lnTo>
                  <a:pt x="8020228" y="1543050"/>
                </a:lnTo>
                <a:lnTo>
                  <a:pt x="8020228" y="1552575"/>
                </a:lnTo>
                <a:lnTo>
                  <a:pt x="8048803" y="1552575"/>
                </a:lnTo>
                <a:lnTo>
                  <a:pt x="8048803" y="1543050"/>
                </a:lnTo>
                <a:close/>
              </a:path>
              <a:path w="8982710" h="1552575">
                <a:moveTo>
                  <a:pt x="8079499" y="0"/>
                </a:moveTo>
                <a:lnTo>
                  <a:pt x="8050924" y="0"/>
                </a:lnTo>
                <a:lnTo>
                  <a:pt x="8050924" y="9525"/>
                </a:lnTo>
                <a:lnTo>
                  <a:pt x="8079499" y="9525"/>
                </a:lnTo>
                <a:lnTo>
                  <a:pt x="8079499" y="0"/>
                </a:lnTo>
                <a:close/>
              </a:path>
              <a:path w="8982710" h="1552575">
                <a:moveTo>
                  <a:pt x="8096377" y="1543050"/>
                </a:moveTo>
                <a:lnTo>
                  <a:pt x="8067802" y="1543050"/>
                </a:lnTo>
                <a:lnTo>
                  <a:pt x="8067802" y="1552575"/>
                </a:lnTo>
                <a:lnTo>
                  <a:pt x="8096377" y="1552575"/>
                </a:lnTo>
                <a:lnTo>
                  <a:pt x="8096377" y="1543050"/>
                </a:lnTo>
                <a:close/>
              </a:path>
              <a:path w="8982710" h="1552575">
                <a:moveTo>
                  <a:pt x="8127073" y="0"/>
                </a:moveTo>
                <a:lnTo>
                  <a:pt x="8098498" y="0"/>
                </a:lnTo>
                <a:lnTo>
                  <a:pt x="8098498" y="9525"/>
                </a:lnTo>
                <a:lnTo>
                  <a:pt x="8127073" y="9525"/>
                </a:lnTo>
                <a:lnTo>
                  <a:pt x="8127073" y="0"/>
                </a:lnTo>
                <a:close/>
              </a:path>
              <a:path w="8982710" h="1552575">
                <a:moveTo>
                  <a:pt x="8143964" y="1543050"/>
                </a:moveTo>
                <a:lnTo>
                  <a:pt x="8115389" y="1543050"/>
                </a:lnTo>
                <a:lnTo>
                  <a:pt x="8115389" y="1552575"/>
                </a:lnTo>
                <a:lnTo>
                  <a:pt x="8143964" y="1552575"/>
                </a:lnTo>
                <a:lnTo>
                  <a:pt x="8143964" y="1543050"/>
                </a:lnTo>
                <a:close/>
              </a:path>
              <a:path w="8982710" h="1552575">
                <a:moveTo>
                  <a:pt x="8174660" y="0"/>
                </a:moveTo>
                <a:lnTo>
                  <a:pt x="8146085" y="0"/>
                </a:lnTo>
                <a:lnTo>
                  <a:pt x="8146085" y="9525"/>
                </a:lnTo>
                <a:lnTo>
                  <a:pt x="8174660" y="9525"/>
                </a:lnTo>
                <a:lnTo>
                  <a:pt x="8174660" y="0"/>
                </a:lnTo>
                <a:close/>
              </a:path>
              <a:path w="8982710" h="1552575">
                <a:moveTo>
                  <a:pt x="8191538" y="1543050"/>
                </a:moveTo>
                <a:lnTo>
                  <a:pt x="8162963" y="1543050"/>
                </a:lnTo>
                <a:lnTo>
                  <a:pt x="8162963" y="1552575"/>
                </a:lnTo>
                <a:lnTo>
                  <a:pt x="8191538" y="1552575"/>
                </a:lnTo>
                <a:lnTo>
                  <a:pt x="8191538" y="1543050"/>
                </a:lnTo>
                <a:close/>
              </a:path>
              <a:path w="8982710" h="1552575">
                <a:moveTo>
                  <a:pt x="8222234" y="0"/>
                </a:moveTo>
                <a:lnTo>
                  <a:pt x="8193659" y="0"/>
                </a:lnTo>
                <a:lnTo>
                  <a:pt x="8193659" y="9525"/>
                </a:lnTo>
                <a:lnTo>
                  <a:pt x="8222234" y="9525"/>
                </a:lnTo>
                <a:lnTo>
                  <a:pt x="8222234" y="0"/>
                </a:lnTo>
                <a:close/>
              </a:path>
              <a:path w="8982710" h="1552575">
                <a:moveTo>
                  <a:pt x="8239112" y="1543050"/>
                </a:moveTo>
                <a:lnTo>
                  <a:pt x="8210537" y="1543050"/>
                </a:lnTo>
                <a:lnTo>
                  <a:pt x="8210537" y="1552575"/>
                </a:lnTo>
                <a:lnTo>
                  <a:pt x="8239112" y="1552575"/>
                </a:lnTo>
                <a:lnTo>
                  <a:pt x="8239112" y="1543050"/>
                </a:lnTo>
                <a:close/>
              </a:path>
              <a:path w="8982710" h="1552575">
                <a:moveTo>
                  <a:pt x="8269821" y="0"/>
                </a:moveTo>
                <a:lnTo>
                  <a:pt x="8241246" y="0"/>
                </a:lnTo>
                <a:lnTo>
                  <a:pt x="8241246" y="9525"/>
                </a:lnTo>
                <a:lnTo>
                  <a:pt x="8269821" y="9525"/>
                </a:lnTo>
                <a:lnTo>
                  <a:pt x="8269821" y="0"/>
                </a:lnTo>
                <a:close/>
              </a:path>
              <a:path w="8982710" h="1552575">
                <a:moveTo>
                  <a:pt x="8286699" y="1543050"/>
                </a:moveTo>
                <a:lnTo>
                  <a:pt x="8258124" y="1543050"/>
                </a:lnTo>
                <a:lnTo>
                  <a:pt x="8258124" y="1552575"/>
                </a:lnTo>
                <a:lnTo>
                  <a:pt x="8286699" y="1552575"/>
                </a:lnTo>
                <a:lnTo>
                  <a:pt x="8286699" y="1543050"/>
                </a:lnTo>
                <a:close/>
              </a:path>
              <a:path w="8982710" h="1552575">
                <a:moveTo>
                  <a:pt x="8317408" y="0"/>
                </a:moveTo>
                <a:lnTo>
                  <a:pt x="8288833" y="0"/>
                </a:lnTo>
                <a:lnTo>
                  <a:pt x="8288833" y="9525"/>
                </a:lnTo>
                <a:lnTo>
                  <a:pt x="8317408" y="9525"/>
                </a:lnTo>
                <a:lnTo>
                  <a:pt x="8317408" y="0"/>
                </a:lnTo>
                <a:close/>
              </a:path>
              <a:path w="8982710" h="1552575">
                <a:moveTo>
                  <a:pt x="8334286" y="1543050"/>
                </a:moveTo>
                <a:lnTo>
                  <a:pt x="8305711" y="1543050"/>
                </a:lnTo>
                <a:lnTo>
                  <a:pt x="8305711" y="1552575"/>
                </a:lnTo>
                <a:lnTo>
                  <a:pt x="8334286" y="1552575"/>
                </a:lnTo>
                <a:lnTo>
                  <a:pt x="8334286" y="1543050"/>
                </a:lnTo>
                <a:close/>
              </a:path>
              <a:path w="8982710" h="1552575">
                <a:moveTo>
                  <a:pt x="8364982" y="0"/>
                </a:moveTo>
                <a:lnTo>
                  <a:pt x="8336407" y="0"/>
                </a:lnTo>
                <a:lnTo>
                  <a:pt x="8336407" y="9525"/>
                </a:lnTo>
                <a:lnTo>
                  <a:pt x="8364982" y="9525"/>
                </a:lnTo>
                <a:lnTo>
                  <a:pt x="8364982" y="0"/>
                </a:lnTo>
                <a:close/>
              </a:path>
              <a:path w="8982710" h="1552575">
                <a:moveTo>
                  <a:pt x="8381873" y="1543050"/>
                </a:moveTo>
                <a:lnTo>
                  <a:pt x="8353298" y="1543050"/>
                </a:lnTo>
                <a:lnTo>
                  <a:pt x="8353298" y="1552575"/>
                </a:lnTo>
                <a:lnTo>
                  <a:pt x="8381873" y="1552575"/>
                </a:lnTo>
                <a:lnTo>
                  <a:pt x="8381873" y="1543050"/>
                </a:lnTo>
                <a:close/>
              </a:path>
              <a:path w="8982710" h="1552575">
                <a:moveTo>
                  <a:pt x="8412569" y="0"/>
                </a:moveTo>
                <a:lnTo>
                  <a:pt x="8383994" y="0"/>
                </a:lnTo>
                <a:lnTo>
                  <a:pt x="8383994" y="9525"/>
                </a:lnTo>
                <a:lnTo>
                  <a:pt x="8412569" y="9525"/>
                </a:lnTo>
                <a:lnTo>
                  <a:pt x="8412569" y="0"/>
                </a:lnTo>
                <a:close/>
              </a:path>
              <a:path w="8982710" h="1552575">
                <a:moveTo>
                  <a:pt x="8429447" y="1543050"/>
                </a:moveTo>
                <a:lnTo>
                  <a:pt x="8400872" y="1543050"/>
                </a:lnTo>
                <a:lnTo>
                  <a:pt x="8400872" y="1552575"/>
                </a:lnTo>
                <a:lnTo>
                  <a:pt x="8429447" y="1552575"/>
                </a:lnTo>
                <a:lnTo>
                  <a:pt x="8429447" y="1543050"/>
                </a:lnTo>
                <a:close/>
              </a:path>
              <a:path w="8982710" h="1552575">
                <a:moveTo>
                  <a:pt x="8460143" y="0"/>
                </a:moveTo>
                <a:lnTo>
                  <a:pt x="8431568" y="0"/>
                </a:lnTo>
                <a:lnTo>
                  <a:pt x="8431568" y="9525"/>
                </a:lnTo>
                <a:lnTo>
                  <a:pt x="8460143" y="9525"/>
                </a:lnTo>
                <a:lnTo>
                  <a:pt x="8460143" y="0"/>
                </a:lnTo>
                <a:close/>
              </a:path>
              <a:path w="8982710" h="1552575">
                <a:moveTo>
                  <a:pt x="8477034" y="1543050"/>
                </a:moveTo>
                <a:lnTo>
                  <a:pt x="8448459" y="1543050"/>
                </a:lnTo>
                <a:lnTo>
                  <a:pt x="8448459" y="1552575"/>
                </a:lnTo>
                <a:lnTo>
                  <a:pt x="8477034" y="1552575"/>
                </a:lnTo>
                <a:lnTo>
                  <a:pt x="8477034" y="1543050"/>
                </a:lnTo>
                <a:close/>
              </a:path>
              <a:path w="8982710" h="1552575">
                <a:moveTo>
                  <a:pt x="8507730" y="0"/>
                </a:moveTo>
                <a:lnTo>
                  <a:pt x="8479155" y="0"/>
                </a:lnTo>
                <a:lnTo>
                  <a:pt x="8479155" y="9525"/>
                </a:lnTo>
                <a:lnTo>
                  <a:pt x="8507730" y="9525"/>
                </a:lnTo>
                <a:lnTo>
                  <a:pt x="8507730" y="0"/>
                </a:lnTo>
                <a:close/>
              </a:path>
              <a:path w="8982710" h="1552575">
                <a:moveTo>
                  <a:pt x="8524608" y="1543050"/>
                </a:moveTo>
                <a:lnTo>
                  <a:pt x="8496033" y="1543050"/>
                </a:lnTo>
                <a:lnTo>
                  <a:pt x="8496033" y="1552575"/>
                </a:lnTo>
                <a:lnTo>
                  <a:pt x="8524608" y="1552575"/>
                </a:lnTo>
                <a:lnTo>
                  <a:pt x="8524608" y="1543050"/>
                </a:lnTo>
                <a:close/>
              </a:path>
              <a:path w="8982710" h="1552575">
                <a:moveTo>
                  <a:pt x="8555304" y="0"/>
                </a:moveTo>
                <a:lnTo>
                  <a:pt x="8526729" y="0"/>
                </a:lnTo>
                <a:lnTo>
                  <a:pt x="8526729" y="9525"/>
                </a:lnTo>
                <a:lnTo>
                  <a:pt x="8555304" y="9525"/>
                </a:lnTo>
                <a:lnTo>
                  <a:pt x="8555304" y="0"/>
                </a:lnTo>
                <a:close/>
              </a:path>
              <a:path w="8982710" h="1552575">
                <a:moveTo>
                  <a:pt x="8572182" y="1543050"/>
                </a:moveTo>
                <a:lnTo>
                  <a:pt x="8543607" y="1543050"/>
                </a:lnTo>
                <a:lnTo>
                  <a:pt x="8543607" y="1552575"/>
                </a:lnTo>
                <a:lnTo>
                  <a:pt x="8572182" y="1552575"/>
                </a:lnTo>
                <a:lnTo>
                  <a:pt x="8572182" y="1543050"/>
                </a:lnTo>
                <a:close/>
              </a:path>
              <a:path w="8982710" h="1552575">
                <a:moveTo>
                  <a:pt x="8602891" y="0"/>
                </a:moveTo>
                <a:lnTo>
                  <a:pt x="8574316" y="0"/>
                </a:lnTo>
                <a:lnTo>
                  <a:pt x="8574316" y="9525"/>
                </a:lnTo>
                <a:lnTo>
                  <a:pt x="8602891" y="9525"/>
                </a:lnTo>
                <a:lnTo>
                  <a:pt x="8602891" y="0"/>
                </a:lnTo>
                <a:close/>
              </a:path>
              <a:path w="8982710" h="1552575">
                <a:moveTo>
                  <a:pt x="8619769" y="1543050"/>
                </a:moveTo>
                <a:lnTo>
                  <a:pt x="8591194" y="1543050"/>
                </a:lnTo>
                <a:lnTo>
                  <a:pt x="8591194" y="1552575"/>
                </a:lnTo>
                <a:lnTo>
                  <a:pt x="8619769" y="1552575"/>
                </a:lnTo>
                <a:lnTo>
                  <a:pt x="8619769" y="1543050"/>
                </a:lnTo>
                <a:close/>
              </a:path>
              <a:path w="8982710" h="1552575">
                <a:moveTo>
                  <a:pt x="8650478" y="0"/>
                </a:moveTo>
                <a:lnTo>
                  <a:pt x="8621903" y="0"/>
                </a:lnTo>
                <a:lnTo>
                  <a:pt x="8621903" y="9525"/>
                </a:lnTo>
                <a:lnTo>
                  <a:pt x="8650478" y="9525"/>
                </a:lnTo>
                <a:lnTo>
                  <a:pt x="8650478" y="0"/>
                </a:lnTo>
                <a:close/>
              </a:path>
              <a:path w="8982710" h="1552575">
                <a:moveTo>
                  <a:pt x="8667356" y="1543050"/>
                </a:moveTo>
                <a:lnTo>
                  <a:pt x="8638781" y="1543050"/>
                </a:lnTo>
                <a:lnTo>
                  <a:pt x="8638781" y="1552575"/>
                </a:lnTo>
                <a:lnTo>
                  <a:pt x="8667356" y="1552575"/>
                </a:lnTo>
                <a:lnTo>
                  <a:pt x="8667356" y="1543050"/>
                </a:lnTo>
                <a:close/>
              </a:path>
              <a:path w="8982710" h="1552575">
                <a:moveTo>
                  <a:pt x="8698052" y="0"/>
                </a:moveTo>
                <a:lnTo>
                  <a:pt x="8669477" y="0"/>
                </a:lnTo>
                <a:lnTo>
                  <a:pt x="8669477" y="9525"/>
                </a:lnTo>
                <a:lnTo>
                  <a:pt x="8698052" y="9525"/>
                </a:lnTo>
                <a:lnTo>
                  <a:pt x="8698052" y="0"/>
                </a:lnTo>
                <a:close/>
              </a:path>
              <a:path w="8982710" h="1552575">
                <a:moveTo>
                  <a:pt x="8714943" y="1543050"/>
                </a:moveTo>
                <a:lnTo>
                  <a:pt x="8686368" y="1543050"/>
                </a:lnTo>
                <a:lnTo>
                  <a:pt x="8686368" y="1552575"/>
                </a:lnTo>
                <a:lnTo>
                  <a:pt x="8714943" y="1552575"/>
                </a:lnTo>
                <a:lnTo>
                  <a:pt x="8714943" y="1543050"/>
                </a:lnTo>
                <a:close/>
              </a:path>
              <a:path w="8982710" h="1552575">
                <a:moveTo>
                  <a:pt x="8745639" y="0"/>
                </a:moveTo>
                <a:lnTo>
                  <a:pt x="8717064" y="0"/>
                </a:lnTo>
                <a:lnTo>
                  <a:pt x="8717064" y="9525"/>
                </a:lnTo>
                <a:lnTo>
                  <a:pt x="8745639" y="9525"/>
                </a:lnTo>
                <a:lnTo>
                  <a:pt x="8745639" y="0"/>
                </a:lnTo>
                <a:close/>
              </a:path>
              <a:path w="8982710" h="1552575">
                <a:moveTo>
                  <a:pt x="8762517" y="1543050"/>
                </a:moveTo>
                <a:lnTo>
                  <a:pt x="8733942" y="1543050"/>
                </a:lnTo>
                <a:lnTo>
                  <a:pt x="8733942" y="1552575"/>
                </a:lnTo>
                <a:lnTo>
                  <a:pt x="8762517" y="1552575"/>
                </a:lnTo>
                <a:lnTo>
                  <a:pt x="8762517" y="1543050"/>
                </a:lnTo>
                <a:close/>
              </a:path>
              <a:path w="8982710" h="1552575">
                <a:moveTo>
                  <a:pt x="8793213" y="0"/>
                </a:moveTo>
                <a:lnTo>
                  <a:pt x="8764638" y="0"/>
                </a:lnTo>
                <a:lnTo>
                  <a:pt x="8764638" y="9525"/>
                </a:lnTo>
                <a:lnTo>
                  <a:pt x="8793213" y="9525"/>
                </a:lnTo>
                <a:lnTo>
                  <a:pt x="8793213" y="0"/>
                </a:lnTo>
                <a:close/>
              </a:path>
              <a:path w="8982710" h="1552575">
                <a:moveTo>
                  <a:pt x="8810104" y="1543050"/>
                </a:moveTo>
                <a:lnTo>
                  <a:pt x="8781529" y="1543050"/>
                </a:lnTo>
                <a:lnTo>
                  <a:pt x="8781529" y="1552575"/>
                </a:lnTo>
                <a:lnTo>
                  <a:pt x="8810104" y="1552575"/>
                </a:lnTo>
                <a:lnTo>
                  <a:pt x="8810104" y="1543050"/>
                </a:lnTo>
                <a:close/>
              </a:path>
              <a:path w="8982710" h="1552575">
                <a:moveTo>
                  <a:pt x="8840305" y="520"/>
                </a:moveTo>
                <a:lnTo>
                  <a:pt x="8829688" y="0"/>
                </a:lnTo>
                <a:lnTo>
                  <a:pt x="8812225" y="0"/>
                </a:lnTo>
                <a:lnTo>
                  <a:pt x="8812225" y="9525"/>
                </a:lnTo>
                <a:lnTo>
                  <a:pt x="8829688" y="9525"/>
                </a:lnTo>
                <a:lnTo>
                  <a:pt x="8839644" y="10007"/>
                </a:lnTo>
                <a:lnTo>
                  <a:pt x="8839670" y="9525"/>
                </a:lnTo>
                <a:lnTo>
                  <a:pt x="8840305" y="520"/>
                </a:lnTo>
                <a:close/>
              </a:path>
              <a:path w="8982710" h="1552575">
                <a:moveTo>
                  <a:pt x="8856840" y="1550060"/>
                </a:moveTo>
                <a:lnTo>
                  <a:pt x="8855151" y="1540687"/>
                </a:lnTo>
                <a:lnTo>
                  <a:pt x="8843759" y="1542376"/>
                </a:lnTo>
                <a:lnTo>
                  <a:pt x="8829688" y="1543050"/>
                </a:lnTo>
                <a:lnTo>
                  <a:pt x="8829103" y="1543050"/>
                </a:lnTo>
                <a:lnTo>
                  <a:pt x="8829103" y="1552575"/>
                </a:lnTo>
                <a:lnTo>
                  <a:pt x="8829688" y="1552575"/>
                </a:lnTo>
                <a:lnTo>
                  <a:pt x="8844699" y="1551851"/>
                </a:lnTo>
                <a:lnTo>
                  <a:pt x="8856840" y="1550060"/>
                </a:lnTo>
                <a:close/>
              </a:path>
              <a:path w="8982710" h="1552575">
                <a:moveTo>
                  <a:pt x="8887206" y="11328"/>
                </a:moveTo>
                <a:lnTo>
                  <a:pt x="8873858" y="6527"/>
                </a:lnTo>
                <a:lnTo>
                  <a:pt x="8859152" y="2844"/>
                </a:lnTo>
                <a:lnTo>
                  <a:pt x="8858974" y="2844"/>
                </a:lnTo>
                <a:lnTo>
                  <a:pt x="8857145" y="12192"/>
                </a:lnTo>
                <a:lnTo>
                  <a:pt x="8857310" y="12192"/>
                </a:lnTo>
                <a:lnTo>
                  <a:pt x="8871090" y="15646"/>
                </a:lnTo>
                <a:lnTo>
                  <a:pt x="8883625" y="20142"/>
                </a:lnTo>
                <a:lnTo>
                  <a:pt x="8887206" y="11328"/>
                </a:lnTo>
                <a:close/>
              </a:path>
              <a:path w="8982710" h="1552575">
                <a:moveTo>
                  <a:pt x="8902332" y="1534121"/>
                </a:moveTo>
                <a:lnTo>
                  <a:pt x="8897798" y="1525752"/>
                </a:lnTo>
                <a:lnTo>
                  <a:pt x="8897099" y="1526171"/>
                </a:lnTo>
                <a:lnTo>
                  <a:pt x="8884361" y="1532178"/>
                </a:lnTo>
                <a:lnTo>
                  <a:pt x="8872868" y="1536306"/>
                </a:lnTo>
                <a:lnTo>
                  <a:pt x="8875751" y="1545374"/>
                </a:lnTo>
                <a:lnTo>
                  <a:pt x="8887993" y="1540979"/>
                </a:lnTo>
                <a:lnTo>
                  <a:pt x="8901595" y="1534566"/>
                </a:lnTo>
                <a:lnTo>
                  <a:pt x="8902332" y="1534121"/>
                </a:lnTo>
                <a:close/>
              </a:path>
              <a:path w="8982710" h="1552575">
                <a:moveTo>
                  <a:pt x="8927897" y="35979"/>
                </a:moveTo>
                <a:lnTo>
                  <a:pt x="8926322" y="34544"/>
                </a:lnTo>
                <a:lnTo>
                  <a:pt x="8914371" y="25666"/>
                </a:lnTo>
                <a:lnTo>
                  <a:pt x="8904160" y="19558"/>
                </a:lnTo>
                <a:lnTo>
                  <a:pt x="8899500" y="27863"/>
                </a:lnTo>
                <a:lnTo>
                  <a:pt x="8909075" y="33591"/>
                </a:lnTo>
                <a:lnTo>
                  <a:pt x="8920277" y="41910"/>
                </a:lnTo>
                <a:lnTo>
                  <a:pt x="8921763" y="43256"/>
                </a:lnTo>
                <a:lnTo>
                  <a:pt x="8927897" y="35979"/>
                </a:lnTo>
                <a:close/>
              </a:path>
              <a:path w="8982710" h="1552575">
                <a:moveTo>
                  <a:pt x="8940355" y="1504734"/>
                </a:moveTo>
                <a:lnTo>
                  <a:pt x="8933434" y="1498206"/>
                </a:lnTo>
                <a:lnTo>
                  <a:pt x="8930716" y="1501203"/>
                </a:lnTo>
                <a:lnTo>
                  <a:pt x="8920277" y="1510677"/>
                </a:lnTo>
                <a:lnTo>
                  <a:pt x="8912923" y="1516138"/>
                </a:lnTo>
                <a:lnTo>
                  <a:pt x="8918473" y="1523873"/>
                </a:lnTo>
                <a:lnTo>
                  <a:pt x="8926322" y="1518043"/>
                </a:lnTo>
                <a:lnTo>
                  <a:pt x="8937447" y="1507947"/>
                </a:lnTo>
                <a:lnTo>
                  <a:pt x="8940355" y="1504734"/>
                </a:lnTo>
                <a:close/>
              </a:path>
              <a:path w="8982710" h="1552575">
                <a:moveTo>
                  <a:pt x="8959291" y="72517"/>
                </a:moveTo>
                <a:lnTo>
                  <a:pt x="8956421" y="67716"/>
                </a:lnTo>
                <a:lnTo>
                  <a:pt x="8947544" y="55765"/>
                </a:lnTo>
                <a:lnTo>
                  <a:pt x="8941816" y="49453"/>
                </a:lnTo>
                <a:lnTo>
                  <a:pt x="8934933" y="55765"/>
                </a:lnTo>
                <a:lnTo>
                  <a:pt x="8934691" y="55765"/>
                </a:lnTo>
                <a:lnTo>
                  <a:pt x="8940178" y="61810"/>
                </a:lnTo>
                <a:lnTo>
                  <a:pt x="8948496" y="73012"/>
                </a:lnTo>
                <a:lnTo>
                  <a:pt x="8951189" y="77508"/>
                </a:lnTo>
                <a:lnTo>
                  <a:pt x="8959291" y="72517"/>
                </a:lnTo>
                <a:close/>
              </a:path>
              <a:path w="8982710" h="1552575">
                <a:moveTo>
                  <a:pt x="8967305" y="1465237"/>
                </a:moveTo>
                <a:lnTo>
                  <a:pt x="8958694" y="1461173"/>
                </a:lnTo>
                <a:lnTo>
                  <a:pt x="8955659" y="1467599"/>
                </a:lnTo>
                <a:lnTo>
                  <a:pt x="8948496" y="1479575"/>
                </a:lnTo>
                <a:lnTo>
                  <a:pt x="8945016" y="1484261"/>
                </a:lnTo>
                <a:lnTo>
                  <a:pt x="8952700" y="1489862"/>
                </a:lnTo>
                <a:lnTo>
                  <a:pt x="8956421" y="1484858"/>
                </a:lnTo>
                <a:lnTo>
                  <a:pt x="8964066" y="1472095"/>
                </a:lnTo>
                <a:lnTo>
                  <a:pt x="8967305" y="1465237"/>
                </a:lnTo>
                <a:close/>
              </a:path>
              <a:path w="8982710" h="1552575">
                <a:moveTo>
                  <a:pt x="8977732" y="116903"/>
                </a:moveTo>
                <a:lnTo>
                  <a:pt x="8975560" y="108229"/>
                </a:lnTo>
                <a:lnTo>
                  <a:pt x="8970480" y="94081"/>
                </a:lnTo>
                <a:lnTo>
                  <a:pt x="8968194" y="89255"/>
                </a:lnTo>
                <a:lnTo>
                  <a:pt x="8959545" y="93205"/>
                </a:lnTo>
                <a:lnTo>
                  <a:pt x="8961679" y="97726"/>
                </a:lnTo>
                <a:lnTo>
                  <a:pt x="8966441" y="110998"/>
                </a:lnTo>
                <a:lnTo>
                  <a:pt x="8968486" y="119126"/>
                </a:lnTo>
                <a:lnTo>
                  <a:pt x="8977732" y="116903"/>
                </a:lnTo>
                <a:close/>
              </a:path>
              <a:path w="8982710" h="1552575">
                <a:moveTo>
                  <a:pt x="8980792" y="1418983"/>
                </a:moveTo>
                <a:lnTo>
                  <a:pt x="8971356" y="1417815"/>
                </a:lnTo>
                <a:lnTo>
                  <a:pt x="8969832" y="1428064"/>
                </a:lnTo>
                <a:lnTo>
                  <a:pt x="8966441" y="1441589"/>
                </a:lnTo>
                <a:lnTo>
                  <a:pt x="8965451" y="1444358"/>
                </a:lnTo>
                <a:lnTo>
                  <a:pt x="8974493" y="1447317"/>
                </a:lnTo>
                <a:lnTo>
                  <a:pt x="8975560" y="1444358"/>
                </a:lnTo>
                <a:lnTo>
                  <a:pt x="8979179" y="1429918"/>
                </a:lnTo>
                <a:lnTo>
                  <a:pt x="8980792" y="1418983"/>
                </a:lnTo>
                <a:close/>
              </a:path>
              <a:path w="8982710" h="1552575">
                <a:moveTo>
                  <a:pt x="8982088" y="1372120"/>
                </a:moveTo>
                <a:lnTo>
                  <a:pt x="8972563" y="1372120"/>
                </a:lnTo>
                <a:lnTo>
                  <a:pt x="8972537" y="1400619"/>
                </a:lnTo>
                <a:lnTo>
                  <a:pt x="8982062" y="1400619"/>
                </a:lnTo>
                <a:lnTo>
                  <a:pt x="8982088" y="1372120"/>
                </a:lnTo>
                <a:close/>
              </a:path>
              <a:path w="8982710" h="1552575">
                <a:moveTo>
                  <a:pt x="8982088" y="1324546"/>
                </a:moveTo>
                <a:lnTo>
                  <a:pt x="8972563" y="1324546"/>
                </a:lnTo>
                <a:lnTo>
                  <a:pt x="8972563" y="1353121"/>
                </a:lnTo>
                <a:lnTo>
                  <a:pt x="8982088" y="1353121"/>
                </a:lnTo>
                <a:lnTo>
                  <a:pt x="8982088" y="1324546"/>
                </a:lnTo>
                <a:close/>
              </a:path>
              <a:path w="8982710" h="1552575">
                <a:moveTo>
                  <a:pt x="8982088" y="1276959"/>
                </a:moveTo>
                <a:lnTo>
                  <a:pt x="8972563" y="1276959"/>
                </a:lnTo>
                <a:lnTo>
                  <a:pt x="8972563" y="1305534"/>
                </a:lnTo>
                <a:lnTo>
                  <a:pt x="8982088" y="1305534"/>
                </a:lnTo>
                <a:lnTo>
                  <a:pt x="8982088" y="1276959"/>
                </a:lnTo>
                <a:close/>
              </a:path>
              <a:path w="8982710" h="1552575">
                <a:moveTo>
                  <a:pt x="8982088" y="1229372"/>
                </a:moveTo>
                <a:lnTo>
                  <a:pt x="8972563" y="1229372"/>
                </a:lnTo>
                <a:lnTo>
                  <a:pt x="8972563" y="1257947"/>
                </a:lnTo>
                <a:lnTo>
                  <a:pt x="8982088" y="1257947"/>
                </a:lnTo>
                <a:lnTo>
                  <a:pt x="8982088" y="1229372"/>
                </a:lnTo>
                <a:close/>
              </a:path>
              <a:path w="8982710" h="1552575">
                <a:moveTo>
                  <a:pt x="8982088" y="1181798"/>
                </a:moveTo>
                <a:lnTo>
                  <a:pt x="8972563" y="1181798"/>
                </a:lnTo>
                <a:lnTo>
                  <a:pt x="8972563" y="1210373"/>
                </a:lnTo>
                <a:lnTo>
                  <a:pt x="8982088" y="1210373"/>
                </a:lnTo>
                <a:lnTo>
                  <a:pt x="8982088" y="1181798"/>
                </a:lnTo>
                <a:close/>
              </a:path>
              <a:path w="8982710" h="1552575">
                <a:moveTo>
                  <a:pt x="8982088" y="1134211"/>
                </a:moveTo>
                <a:lnTo>
                  <a:pt x="8972563" y="1134211"/>
                </a:lnTo>
                <a:lnTo>
                  <a:pt x="8972563" y="1162786"/>
                </a:lnTo>
                <a:lnTo>
                  <a:pt x="8982088" y="1162786"/>
                </a:lnTo>
                <a:lnTo>
                  <a:pt x="8982088" y="1134211"/>
                </a:lnTo>
                <a:close/>
              </a:path>
              <a:path w="8982710" h="1552575">
                <a:moveTo>
                  <a:pt x="8982088" y="1086637"/>
                </a:moveTo>
                <a:lnTo>
                  <a:pt x="8972563" y="1086637"/>
                </a:lnTo>
                <a:lnTo>
                  <a:pt x="8972563" y="1115212"/>
                </a:lnTo>
                <a:lnTo>
                  <a:pt x="8982088" y="1115212"/>
                </a:lnTo>
                <a:lnTo>
                  <a:pt x="8982088" y="1086637"/>
                </a:lnTo>
                <a:close/>
              </a:path>
              <a:path w="8982710" h="1552575">
                <a:moveTo>
                  <a:pt x="8982088" y="1039063"/>
                </a:moveTo>
                <a:lnTo>
                  <a:pt x="8972563" y="1039063"/>
                </a:lnTo>
                <a:lnTo>
                  <a:pt x="8972563" y="1067638"/>
                </a:lnTo>
                <a:lnTo>
                  <a:pt x="8982088" y="1067638"/>
                </a:lnTo>
                <a:lnTo>
                  <a:pt x="8982088" y="1039063"/>
                </a:lnTo>
                <a:close/>
              </a:path>
              <a:path w="8982710" h="1552575">
                <a:moveTo>
                  <a:pt x="8982088" y="991476"/>
                </a:moveTo>
                <a:lnTo>
                  <a:pt x="8972563" y="991476"/>
                </a:lnTo>
                <a:lnTo>
                  <a:pt x="8972563" y="1020051"/>
                </a:lnTo>
                <a:lnTo>
                  <a:pt x="8982088" y="1020051"/>
                </a:lnTo>
                <a:lnTo>
                  <a:pt x="8982088" y="991476"/>
                </a:lnTo>
                <a:close/>
              </a:path>
              <a:path w="8982710" h="1552575">
                <a:moveTo>
                  <a:pt x="8982088" y="943889"/>
                </a:moveTo>
                <a:lnTo>
                  <a:pt x="8972563" y="943889"/>
                </a:lnTo>
                <a:lnTo>
                  <a:pt x="8972563" y="972464"/>
                </a:lnTo>
                <a:lnTo>
                  <a:pt x="8982088" y="972464"/>
                </a:lnTo>
                <a:lnTo>
                  <a:pt x="8982088" y="943889"/>
                </a:lnTo>
                <a:close/>
              </a:path>
              <a:path w="8982710" h="1552575">
                <a:moveTo>
                  <a:pt x="8982088" y="896302"/>
                </a:moveTo>
                <a:lnTo>
                  <a:pt x="8972563" y="896302"/>
                </a:lnTo>
                <a:lnTo>
                  <a:pt x="8972563" y="924877"/>
                </a:lnTo>
                <a:lnTo>
                  <a:pt x="8982088" y="924877"/>
                </a:lnTo>
                <a:lnTo>
                  <a:pt x="8982088" y="896302"/>
                </a:lnTo>
                <a:close/>
              </a:path>
              <a:path w="8982710" h="1552575">
                <a:moveTo>
                  <a:pt x="8982088" y="848728"/>
                </a:moveTo>
                <a:lnTo>
                  <a:pt x="8972563" y="848728"/>
                </a:lnTo>
                <a:lnTo>
                  <a:pt x="8972563" y="877303"/>
                </a:lnTo>
                <a:lnTo>
                  <a:pt x="8982088" y="877303"/>
                </a:lnTo>
                <a:lnTo>
                  <a:pt x="8982088" y="848728"/>
                </a:lnTo>
                <a:close/>
              </a:path>
              <a:path w="8982710" h="1552575">
                <a:moveTo>
                  <a:pt x="8982088" y="801141"/>
                </a:moveTo>
                <a:lnTo>
                  <a:pt x="8972563" y="801141"/>
                </a:lnTo>
                <a:lnTo>
                  <a:pt x="8972563" y="829716"/>
                </a:lnTo>
                <a:lnTo>
                  <a:pt x="8982088" y="829716"/>
                </a:lnTo>
                <a:lnTo>
                  <a:pt x="8982088" y="801141"/>
                </a:lnTo>
                <a:close/>
              </a:path>
              <a:path w="8982710" h="1552575">
                <a:moveTo>
                  <a:pt x="8982088" y="753567"/>
                </a:moveTo>
                <a:lnTo>
                  <a:pt x="8972563" y="753567"/>
                </a:lnTo>
                <a:lnTo>
                  <a:pt x="8972563" y="782142"/>
                </a:lnTo>
                <a:lnTo>
                  <a:pt x="8982088" y="782142"/>
                </a:lnTo>
                <a:lnTo>
                  <a:pt x="8982088" y="753567"/>
                </a:lnTo>
                <a:close/>
              </a:path>
              <a:path w="8982710" h="1552575">
                <a:moveTo>
                  <a:pt x="8982088" y="705993"/>
                </a:moveTo>
                <a:lnTo>
                  <a:pt x="8972563" y="705993"/>
                </a:lnTo>
                <a:lnTo>
                  <a:pt x="8972563" y="734568"/>
                </a:lnTo>
                <a:lnTo>
                  <a:pt x="8982088" y="734568"/>
                </a:lnTo>
                <a:lnTo>
                  <a:pt x="8982088" y="705993"/>
                </a:lnTo>
                <a:close/>
              </a:path>
              <a:path w="8982710" h="1552575">
                <a:moveTo>
                  <a:pt x="8982088" y="658406"/>
                </a:moveTo>
                <a:lnTo>
                  <a:pt x="8972563" y="658406"/>
                </a:lnTo>
                <a:lnTo>
                  <a:pt x="8972563" y="686981"/>
                </a:lnTo>
                <a:lnTo>
                  <a:pt x="8982088" y="686981"/>
                </a:lnTo>
                <a:lnTo>
                  <a:pt x="8982088" y="658406"/>
                </a:lnTo>
                <a:close/>
              </a:path>
              <a:path w="8982710" h="1552575">
                <a:moveTo>
                  <a:pt x="8982088" y="610819"/>
                </a:moveTo>
                <a:lnTo>
                  <a:pt x="8972563" y="610819"/>
                </a:lnTo>
                <a:lnTo>
                  <a:pt x="8972563" y="639394"/>
                </a:lnTo>
                <a:lnTo>
                  <a:pt x="8982088" y="639394"/>
                </a:lnTo>
                <a:lnTo>
                  <a:pt x="8982088" y="610819"/>
                </a:lnTo>
                <a:close/>
              </a:path>
              <a:path w="8982710" h="1552575">
                <a:moveTo>
                  <a:pt x="8982088" y="563232"/>
                </a:moveTo>
                <a:lnTo>
                  <a:pt x="8972563" y="563232"/>
                </a:lnTo>
                <a:lnTo>
                  <a:pt x="8972563" y="591807"/>
                </a:lnTo>
                <a:lnTo>
                  <a:pt x="8982088" y="591807"/>
                </a:lnTo>
                <a:lnTo>
                  <a:pt x="8982088" y="563232"/>
                </a:lnTo>
                <a:close/>
              </a:path>
              <a:path w="8982710" h="1552575">
                <a:moveTo>
                  <a:pt x="8982088" y="515658"/>
                </a:moveTo>
                <a:lnTo>
                  <a:pt x="8972563" y="515658"/>
                </a:lnTo>
                <a:lnTo>
                  <a:pt x="8972563" y="544233"/>
                </a:lnTo>
                <a:lnTo>
                  <a:pt x="8982088" y="544233"/>
                </a:lnTo>
                <a:lnTo>
                  <a:pt x="8982088" y="515658"/>
                </a:lnTo>
                <a:close/>
              </a:path>
              <a:path w="8982710" h="1552575">
                <a:moveTo>
                  <a:pt x="8982088" y="468071"/>
                </a:moveTo>
                <a:lnTo>
                  <a:pt x="8972563" y="468071"/>
                </a:lnTo>
                <a:lnTo>
                  <a:pt x="8972563" y="496646"/>
                </a:lnTo>
                <a:lnTo>
                  <a:pt x="8982088" y="496646"/>
                </a:lnTo>
                <a:lnTo>
                  <a:pt x="8982088" y="468071"/>
                </a:lnTo>
                <a:close/>
              </a:path>
              <a:path w="8982710" h="1552575">
                <a:moveTo>
                  <a:pt x="8982088" y="420497"/>
                </a:moveTo>
                <a:lnTo>
                  <a:pt x="8972563" y="420497"/>
                </a:lnTo>
                <a:lnTo>
                  <a:pt x="8972563" y="449072"/>
                </a:lnTo>
                <a:lnTo>
                  <a:pt x="8982088" y="449072"/>
                </a:lnTo>
                <a:lnTo>
                  <a:pt x="8982088" y="420497"/>
                </a:lnTo>
                <a:close/>
              </a:path>
              <a:path w="8982710" h="1552575">
                <a:moveTo>
                  <a:pt x="8982088" y="372910"/>
                </a:moveTo>
                <a:lnTo>
                  <a:pt x="8972563" y="372910"/>
                </a:lnTo>
                <a:lnTo>
                  <a:pt x="8972563" y="401485"/>
                </a:lnTo>
                <a:lnTo>
                  <a:pt x="8982088" y="401485"/>
                </a:lnTo>
                <a:lnTo>
                  <a:pt x="8982088" y="372910"/>
                </a:lnTo>
                <a:close/>
              </a:path>
              <a:path w="8982710" h="1552575">
                <a:moveTo>
                  <a:pt x="8982088" y="325335"/>
                </a:moveTo>
                <a:lnTo>
                  <a:pt x="8972563" y="325335"/>
                </a:lnTo>
                <a:lnTo>
                  <a:pt x="8972563" y="353910"/>
                </a:lnTo>
                <a:lnTo>
                  <a:pt x="8982088" y="353910"/>
                </a:lnTo>
                <a:lnTo>
                  <a:pt x="8982088" y="325335"/>
                </a:lnTo>
                <a:close/>
              </a:path>
              <a:path w="8982710" h="1552575">
                <a:moveTo>
                  <a:pt x="8982088" y="277749"/>
                </a:moveTo>
                <a:lnTo>
                  <a:pt x="8972563" y="277749"/>
                </a:lnTo>
                <a:lnTo>
                  <a:pt x="8972563" y="306324"/>
                </a:lnTo>
                <a:lnTo>
                  <a:pt x="8982088" y="306324"/>
                </a:lnTo>
                <a:lnTo>
                  <a:pt x="8982088" y="277749"/>
                </a:lnTo>
                <a:close/>
              </a:path>
              <a:path w="8982710" h="1552575">
                <a:moveTo>
                  <a:pt x="8982088" y="230162"/>
                </a:moveTo>
                <a:lnTo>
                  <a:pt x="8972563" y="230162"/>
                </a:lnTo>
                <a:lnTo>
                  <a:pt x="8972563" y="258737"/>
                </a:lnTo>
                <a:lnTo>
                  <a:pt x="8982088" y="258737"/>
                </a:lnTo>
                <a:lnTo>
                  <a:pt x="8982088" y="230162"/>
                </a:lnTo>
                <a:close/>
              </a:path>
              <a:path w="8982710" h="1552575">
                <a:moveTo>
                  <a:pt x="8982088" y="182587"/>
                </a:moveTo>
                <a:lnTo>
                  <a:pt x="8972563" y="182587"/>
                </a:lnTo>
                <a:lnTo>
                  <a:pt x="8972563" y="211162"/>
                </a:lnTo>
                <a:lnTo>
                  <a:pt x="8982088" y="211162"/>
                </a:lnTo>
                <a:lnTo>
                  <a:pt x="8982088" y="182587"/>
                </a:lnTo>
                <a:close/>
              </a:path>
              <a:path w="8982710" h="1552575">
                <a:moveTo>
                  <a:pt x="8982088" y="152400"/>
                </a:moveTo>
                <a:lnTo>
                  <a:pt x="8981351" y="137388"/>
                </a:lnTo>
                <a:lnTo>
                  <a:pt x="8981262" y="136728"/>
                </a:lnTo>
                <a:lnTo>
                  <a:pt x="8981097" y="135674"/>
                </a:lnTo>
                <a:lnTo>
                  <a:pt x="8971636" y="136728"/>
                </a:lnTo>
                <a:lnTo>
                  <a:pt x="8971737" y="137388"/>
                </a:lnTo>
                <a:lnTo>
                  <a:pt x="8971877" y="138328"/>
                </a:lnTo>
                <a:lnTo>
                  <a:pt x="8972563" y="152400"/>
                </a:lnTo>
                <a:lnTo>
                  <a:pt x="8972563" y="163576"/>
                </a:lnTo>
                <a:lnTo>
                  <a:pt x="8982088" y="163576"/>
                </a:lnTo>
                <a:lnTo>
                  <a:pt x="8982088" y="152400"/>
                </a:lnTo>
                <a:close/>
              </a:path>
            </a:pathLst>
          </a:custGeom>
          <a:solidFill>
            <a:srgbClr val="CAD4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96950" y="7996276"/>
            <a:ext cx="5708650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A METÁFORA DE OURO: CÂMERA (MECÂNICA) VS. OLHO (BIOLÓGICO)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81975" y="8001001"/>
            <a:ext cx="1409700" cy="219075"/>
          </a:xfrm>
          <a:custGeom>
            <a:avLst/>
            <a:gdLst/>
            <a:ahLst/>
            <a:cxnLst/>
            <a:rect l="l" t="t" r="r" b="b"/>
            <a:pathLst>
              <a:path w="1409700" h="219075">
                <a:moveTo>
                  <a:pt x="1356302" y="219075"/>
                </a:moveTo>
                <a:lnTo>
                  <a:pt x="53397" y="219075"/>
                </a:lnTo>
                <a:lnTo>
                  <a:pt x="49682" y="21871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1356302" y="0"/>
                </a:lnTo>
                <a:lnTo>
                  <a:pt x="1395612" y="19392"/>
                </a:lnTo>
                <a:lnTo>
                  <a:pt x="1409700" y="53397"/>
                </a:lnTo>
                <a:lnTo>
                  <a:pt x="1409700" y="165677"/>
                </a:lnTo>
                <a:lnTo>
                  <a:pt x="1390307" y="204987"/>
                </a:lnTo>
                <a:lnTo>
                  <a:pt x="1360017" y="218713"/>
                </a:lnTo>
                <a:lnTo>
                  <a:pt x="1356302" y="219075"/>
                </a:lnTo>
                <a:close/>
              </a:path>
            </a:pathLst>
          </a:custGeom>
          <a:solidFill>
            <a:srgbClr val="FD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226034" y="8012260"/>
            <a:ext cx="1320006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B81C1C"/>
                </a:solidFill>
                <a:latin typeface="Century Gothic"/>
                <a:cs typeface="Century Gothic"/>
              </a:rPr>
              <a:t>SOBRECARGA CILIAR</a:t>
            </a:r>
            <a:endParaRPr sz="1000" dirty="0">
              <a:latin typeface="Century Gothic"/>
              <a:cs typeface="Century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09650" y="8334376"/>
            <a:ext cx="4152900" cy="819150"/>
            <a:chOff x="1009650" y="8334376"/>
            <a:chExt cx="4152900" cy="819150"/>
          </a:xfrm>
        </p:grpSpPr>
        <p:sp>
          <p:nvSpPr>
            <p:cNvPr id="21" name="object 21"/>
            <p:cNvSpPr/>
            <p:nvPr/>
          </p:nvSpPr>
          <p:spPr>
            <a:xfrm>
              <a:off x="1014412" y="8339139"/>
              <a:ext cx="4143375" cy="809625"/>
            </a:xfrm>
            <a:custGeom>
              <a:avLst/>
              <a:gdLst/>
              <a:ahLst/>
              <a:cxnLst/>
              <a:rect l="l" t="t" r="r" b="b"/>
              <a:pathLst>
                <a:path w="4143375" h="809625">
                  <a:moveTo>
                    <a:pt x="4058831" y="809625"/>
                  </a:moveTo>
                  <a:lnTo>
                    <a:pt x="84543" y="809625"/>
                  </a:lnTo>
                  <a:lnTo>
                    <a:pt x="78657" y="809043"/>
                  </a:lnTo>
                  <a:lnTo>
                    <a:pt x="35271" y="791070"/>
                  </a:lnTo>
                  <a:lnTo>
                    <a:pt x="9163" y="759247"/>
                  </a:lnTo>
                  <a:lnTo>
                    <a:pt x="0" y="725081"/>
                  </a:lnTo>
                  <a:lnTo>
                    <a:pt x="0" y="719137"/>
                  </a:lnTo>
                  <a:lnTo>
                    <a:pt x="0" y="84543"/>
                  </a:lnTo>
                  <a:lnTo>
                    <a:pt x="11944" y="45148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4058831" y="0"/>
                  </a:lnTo>
                  <a:lnTo>
                    <a:pt x="4098216" y="11944"/>
                  </a:lnTo>
                  <a:lnTo>
                    <a:pt x="4131421" y="45148"/>
                  </a:lnTo>
                  <a:lnTo>
                    <a:pt x="4143375" y="84543"/>
                  </a:lnTo>
                  <a:lnTo>
                    <a:pt x="4143375" y="725081"/>
                  </a:lnTo>
                  <a:lnTo>
                    <a:pt x="4131421" y="764457"/>
                  </a:lnTo>
                  <a:lnTo>
                    <a:pt x="4098216" y="797671"/>
                  </a:lnTo>
                  <a:lnTo>
                    <a:pt x="4064717" y="809043"/>
                  </a:lnTo>
                  <a:lnTo>
                    <a:pt x="4058831" y="809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14412" y="8339139"/>
              <a:ext cx="4143375" cy="809625"/>
            </a:xfrm>
            <a:custGeom>
              <a:avLst/>
              <a:gdLst/>
              <a:ahLst/>
              <a:cxnLst/>
              <a:rect l="l" t="t" r="r" b="b"/>
              <a:pathLst>
                <a:path w="4143375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3"/>
                  </a:lnTo>
                  <a:lnTo>
                    <a:pt x="581" y="78657"/>
                  </a:lnTo>
                  <a:lnTo>
                    <a:pt x="1743" y="72828"/>
                  </a:lnTo>
                  <a:lnTo>
                    <a:pt x="2895" y="67008"/>
                  </a:lnTo>
                  <a:lnTo>
                    <a:pt x="4610" y="61350"/>
                  </a:lnTo>
                  <a:lnTo>
                    <a:pt x="6886" y="55854"/>
                  </a:lnTo>
                  <a:lnTo>
                    <a:pt x="9163" y="50368"/>
                  </a:lnTo>
                  <a:lnTo>
                    <a:pt x="11944" y="45148"/>
                  </a:lnTo>
                  <a:lnTo>
                    <a:pt x="15249" y="40214"/>
                  </a:lnTo>
                  <a:lnTo>
                    <a:pt x="18554" y="35271"/>
                  </a:lnTo>
                  <a:lnTo>
                    <a:pt x="40214" y="15249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90487" y="0"/>
                  </a:lnTo>
                  <a:lnTo>
                    <a:pt x="4052887" y="0"/>
                  </a:lnTo>
                  <a:lnTo>
                    <a:pt x="4058831" y="0"/>
                  </a:lnTo>
                  <a:lnTo>
                    <a:pt x="4064717" y="581"/>
                  </a:lnTo>
                  <a:lnTo>
                    <a:pt x="4070537" y="1733"/>
                  </a:lnTo>
                  <a:lnTo>
                    <a:pt x="4076366" y="2895"/>
                  </a:lnTo>
                  <a:lnTo>
                    <a:pt x="4082024" y="4610"/>
                  </a:lnTo>
                  <a:lnTo>
                    <a:pt x="4087510" y="6886"/>
                  </a:lnTo>
                  <a:lnTo>
                    <a:pt x="4093006" y="9163"/>
                  </a:lnTo>
                  <a:lnTo>
                    <a:pt x="4098216" y="11944"/>
                  </a:lnTo>
                  <a:lnTo>
                    <a:pt x="4103160" y="15249"/>
                  </a:lnTo>
                  <a:lnTo>
                    <a:pt x="4108103" y="18545"/>
                  </a:lnTo>
                  <a:lnTo>
                    <a:pt x="4112666" y="22298"/>
                  </a:lnTo>
                  <a:lnTo>
                    <a:pt x="4116866" y="26498"/>
                  </a:lnTo>
                  <a:lnTo>
                    <a:pt x="4121076" y="30708"/>
                  </a:lnTo>
                  <a:lnTo>
                    <a:pt x="4140479" y="67008"/>
                  </a:lnTo>
                  <a:lnTo>
                    <a:pt x="4141631" y="72828"/>
                  </a:lnTo>
                  <a:lnTo>
                    <a:pt x="4142793" y="78657"/>
                  </a:lnTo>
                  <a:lnTo>
                    <a:pt x="4143375" y="84543"/>
                  </a:lnTo>
                  <a:lnTo>
                    <a:pt x="4143375" y="90487"/>
                  </a:lnTo>
                  <a:lnTo>
                    <a:pt x="4143375" y="719137"/>
                  </a:lnTo>
                  <a:lnTo>
                    <a:pt x="4143375" y="725081"/>
                  </a:lnTo>
                  <a:lnTo>
                    <a:pt x="4142793" y="730958"/>
                  </a:lnTo>
                  <a:lnTo>
                    <a:pt x="4141631" y="736787"/>
                  </a:lnTo>
                  <a:lnTo>
                    <a:pt x="4140479" y="742616"/>
                  </a:lnTo>
                  <a:lnTo>
                    <a:pt x="4138764" y="748274"/>
                  </a:lnTo>
                  <a:lnTo>
                    <a:pt x="4136488" y="753760"/>
                  </a:lnTo>
                  <a:lnTo>
                    <a:pt x="4134211" y="759247"/>
                  </a:lnTo>
                  <a:lnTo>
                    <a:pt x="4116866" y="783116"/>
                  </a:lnTo>
                  <a:lnTo>
                    <a:pt x="4112666" y="787317"/>
                  </a:lnTo>
                  <a:lnTo>
                    <a:pt x="4108103" y="791070"/>
                  </a:lnTo>
                  <a:lnTo>
                    <a:pt x="4103160" y="794365"/>
                  </a:lnTo>
                  <a:lnTo>
                    <a:pt x="4098216" y="797671"/>
                  </a:lnTo>
                  <a:lnTo>
                    <a:pt x="4093006" y="800452"/>
                  </a:lnTo>
                  <a:lnTo>
                    <a:pt x="4087510" y="802728"/>
                  </a:lnTo>
                  <a:lnTo>
                    <a:pt x="4082024" y="805005"/>
                  </a:lnTo>
                  <a:lnTo>
                    <a:pt x="4076366" y="806719"/>
                  </a:lnTo>
                  <a:lnTo>
                    <a:pt x="4070537" y="807881"/>
                  </a:lnTo>
                  <a:lnTo>
                    <a:pt x="4064717" y="809043"/>
                  </a:lnTo>
                  <a:lnTo>
                    <a:pt x="4058831" y="809625"/>
                  </a:lnTo>
                  <a:lnTo>
                    <a:pt x="4052887" y="809625"/>
                  </a:lnTo>
                  <a:lnTo>
                    <a:pt x="90487" y="809625"/>
                  </a:lnTo>
                  <a:lnTo>
                    <a:pt x="84543" y="809625"/>
                  </a:lnTo>
                  <a:lnTo>
                    <a:pt x="78657" y="809043"/>
                  </a:lnTo>
                  <a:lnTo>
                    <a:pt x="72837" y="807881"/>
                  </a:lnTo>
                  <a:lnTo>
                    <a:pt x="67008" y="806719"/>
                  </a:lnTo>
                  <a:lnTo>
                    <a:pt x="40214" y="794365"/>
                  </a:lnTo>
                  <a:lnTo>
                    <a:pt x="35271" y="791070"/>
                  </a:lnTo>
                  <a:lnTo>
                    <a:pt x="15249" y="769400"/>
                  </a:lnTo>
                  <a:lnTo>
                    <a:pt x="11944" y="764466"/>
                  </a:lnTo>
                  <a:lnTo>
                    <a:pt x="9163" y="759247"/>
                  </a:lnTo>
                  <a:lnTo>
                    <a:pt x="6886" y="753760"/>
                  </a:lnTo>
                  <a:lnTo>
                    <a:pt x="4610" y="748274"/>
                  </a:lnTo>
                  <a:lnTo>
                    <a:pt x="2895" y="742616"/>
                  </a:lnTo>
                  <a:lnTo>
                    <a:pt x="1743" y="736787"/>
                  </a:lnTo>
                  <a:lnTo>
                    <a:pt x="581" y="730958"/>
                  </a:lnTo>
                  <a:lnTo>
                    <a:pt x="0" y="725081"/>
                  </a:lnTo>
                  <a:lnTo>
                    <a:pt x="0" y="719137"/>
                  </a:lnTo>
                  <a:close/>
                </a:path>
              </a:pathLst>
            </a:custGeom>
            <a:ln w="9525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03535" y="8627752"/>
              <a:ext cx="284480" cy="232410"/>
            </a:xfrm>
            <a:custGeom>
              <a:avLst/>
              <a:gdLst/>
              <a:ahLst/>
              <a:cxnLst/>
              <a:rect l="l" t="t" r="r" b="b"/>
              <a:pathLst>
                <a:path w="284480" h="232409">
                  <a:moveTo>
                    <a:pt x="284038" y="206573"/>
                  </a:moveTo>
                  <a:lnTo>
                    <a:pt x="284038" y="209994"/>
                  </a:lnTo>
                  <a:lnTo>
                    <a:pt x="283380" y="213287"/>
                  </a:lnTo>
                  <a:lnTo>
                    <a:pt x="282076" y="216450"/>
                  </a:lnTo>
                  <a:lnTo>
                    <a:pt x="280759" y="219613"/>
                  </a:lnTo>
                  <a:lnTo>
                    <a:pt x="278899" y="222415"/>
                  </a:lnTo>
                  <a:lnTo>
                    <a:pt x="276472" y="224829"/>
                  </a:lnTo>
                  <a:lnTo>
                    <a:pt x="274058" y="227256"/>
                  </a:lnTo>
                  <a:lnTo>
                    <a:pt x="271256" y="229115"/>
                  </a:lnTo>
                  <a:lnTo>
                    <a:pt x="268093" y="230432"/>
                  </a:lnTo>
                  <a:lnTo>
                    <a:pt x="264930" y="231736"/>
                  </a:lnTo>
                  <a:lnTo>
                    <a:pt x="261638" y="232395"/>
                  </a:lnTo>
                  <a:lnTo>
                    <a:pt x="258216" y="232395"/>
                  </a:lnTo>
                  <a:lnTo>
                    <a:pt x="25821" y="232395"/>
                  </a:lnTo>
                  <a:lnTo>
                    <a:pt x="22400" y="232395"/>
                  </a:lnTo>
                  <a:lnTo>
                    <a:pt x="19108" y="231736"/>
                  </a:lnTo>
                  <a:lnTo>
                    <a:pt x="15944" y="230432"/>
                  </a:lnTo>
                  <a:lnTo>
                    <a:pt x="12781" y="229115"/>
                  </a:lnTo>
                  <a:lnTo>
                    <a:pt x="9980" y="227256"/>
                  </a:lnTo>
                  <a:lnTo>
                    <a:pt x="7565" y="224829"/>
                  </a:lnTo>
                  <a:lnTo>
                    <a:pt x="5138" y="222415"/>
                  </a:lnTo>
                  <a:lnTo>
                    <a:pt x="3279" y="219613"/>
                  </a:lnTo>
                  <a:lnTo>
                    <a:pt x="1962" y="216450"/>
                  </a:lnTo>
                  <a:lnTo>
                    <a:pt x="658" y="213287"/>
                  </a:lnTo>
                  <a:lnTo>
                    <a:pt x="0" y="209994"/>
                  </a:lnTo>
                  <a:lnTo>
                    <a:pt x="0" y="206573"/>
                  </a:lnTo>
                  <a:lnTo>
                    <a:pt x="0" y="64554"/>
                  </a:lnTo>
                  <a:lnTo>
                    <a:pt x="0" y="61132"/>
                  </a:lnTo>
                  <a:lnTo>
                    <a:pt x="658" y="57840"/>
                  </a:lnTo>
                  <a:lnTo>
                    <a:pt x="1962" y="54677"/>
                  </a:lnTo>
                  <a:lnTo>
                    <a:pt x="3279" y="51514"/>
                  </a:lnTo>
                  <a:lnTo>
                    <a:pt x="5138" y="48712"/>
                  </a:lnTo>
                  <a:lnTo>
                    <a:pt x="7565" y="46298"/>
                  </a:lnTo>
                  <a:lnTo>
                    <a:pt x="9980" y="43871"/>
                  </a:lnTo>
                  <a:lnTo>
                    <a:pt x="12781" y="42011"/>
                  </a:lnTo>
                  <a:lnTo>
                    <a:pt x="15944" y="40694"/>
                  </a:lnTo>
                  <a:lnTo>
                    <a:pt x="19108" y="39390"/>
                  </a:lnTo>
                  <a:lnTo>
                    <a:pt x="22400" y="38732"/>
                  </a:lnTo>
                  <a:lnTo>
                    <a:pt x="25821" y="38732"/>
                  </a:lnTo>
                  <a:lnTo>
                    <a:pt x="77465" y="38732"/>
                  </a:lnTo>
                  <a:lnTo>
                    <a:pt x="103286" y="0"/>
                  </a:lnTo>
                  <a:lnTo>
                    <a:pt x="180751" y="0"/>
                  </a:lnTo>
                  <a:lnTo>
                    <a:pt x="206573" y="38732"/>
                  </a:lnTo>
                  <a:lnTo>
                    <a:pt x="258216" y="38732"/>
                  </a:lnTo>
                  <a:lnTo>
                    <a:pt x="261638" y="38732"/>
                  </a:lnTo>
                  <a:lnTo>
                    <a:pt x="264930" y="39390"/>
                  </a:lnTo>
                  <a:lnTo>
                    <a:pt x="268093" y="40694"/>
                  </a:lnTo>
                  <a:lnTo>
                    <a:pt x="271256" y="42011"/>
                  </a:lnTo>
                  <a:lnTo>
                    <a:pt x="274058" y="43871"/>
                  </a:lnTo>
                  <a:lnTo>
                    <a:pt x="276472" y="46298"/>
                  </a:lnTo>
                  <a:lnTo>
                    <a:pt x="278899" y="48712"/>
                  </a:lnTo>
                  <a:lnTo>
                    <a:pt x="280759" y="51514"/>
                  </a:lnTo>
                  <a:lnTo>
                    <a:pt x="282076" y="54677"/>
                  </a:lnTo>
                  <a:lnTo>
                    <a:pt x="283380" y="57840"/>
                  </a:lnTo>
                  <a:lnTo>
                    <a:pt x="284038" y="61132"/>
                  </a:lnTo>
                  <a:lnTo>
                    <a:pt x="284038" y="64554"/>
                  </a:lnTo>
                  <a:lnTo>
                    <a:pt x="284038" y="206573"/>
                  </a:lnTo>
                  <a:close/>
                </a:path>
              </a:pathLst>
            </a:custGeom>
            <a:ln w="25821">
              <a:solidFill>
                <a:srgbClr val="0284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1000" y="8692306"/>
              <a:ext cx="129108" cy="12910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621134" y="8420100"/>
            <a:ext cx="3206750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rgbClr val="0284C6"/>
                </a:solidFill>
                <a:latin typeface="Century Gothic"/>
                <a:cs typeface="Century Gothic"/>
              </a:rPr>
              <a:t>Autofoco de </a:t>
            </a:r>
            <a:r>
              <a:rPr lang="pt-BR" sz="1400" b="1" dirty="0">
                <a:solidFill>
                  <a:srgbClr val="0284C6"/>
                </a:solidFill>
                <a:latin typeface="Century Gothic"/>
                <a:cs typeface="Century Gothic"/>
              </a:rPr>
              <a:t>Câmera</a:t>
            </a:r>
            <a:r>
              <a:rPr sz="1400" b="1" dirty="0">
                <a:solidFill>
                  <a:srgbClr val="0284C6"/>
                </a:solidFill>
                <a:latin typeface="Century Gothic"/>
                <a:cs typeface="Century Gothic"/>
              </a:rPr>
              <a:t>  </a:t>
            </a:r>
            <a:r>
              <a:rPr sz="1200" dirty="0">
                <a:solidFill>
                  <a:srgbClr val="63748A"/>
                </a:solidFill>
                <a:latin typeface="Microsoft Sans Serif"/>
                <a:cs typeface="Microsoft Sans Serif"/>
              </a:rPr>
              <a:t>Estrutura mecânica. Pode focar por dias sem desgaste térmico ou cansaço muscular.</a:t>
            </a:r>
            <a:endParaRPr sz="1200" dirty="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48300" y="8334376"/>
            <a:ext cx="4143375" cy="819150"/>
            <a:chOff x="5448300" y="8334376"/>
            <a:chExt cx="4143375" cy="819150"/>
          </a:xfrm>
        </p:grpSpPr>
        <p:sp>
          <p:nvSpPr>
            <p:cNvPr id="27" name="object 27"/>
            <p:cNvSpPr/>
            <p:nvPr/>
          </p:nvSpPr>
          <p:spPr>
            <a:xfrm>
              <a:off x="5453062" y="8339139"/>
              <a:ext cx="4133850" cy="809625"/>
            </a:xfrm>
            <a:custGeom>
              <a:avLst/>
              <a:gdLst/>
              <a:ahLst/>
              <a:cxnLst/>
              <a:rect l="l" t="t" r="r" b="b"/>
              <a:pathLst>
                <a:path w="4133850" h="809625">
                  <a:moveTo>
                    <a:pt x="4049306" y="809625"/>
                  </a:moveTo>
                  <a:lnTo>
                    <a:pt x="84543" y="809625"/>
                  </a:lnTo>
                  <a:lnTo>
                    <a:pt x="78657" y="809043"/>
                  </a:lnTo>
                  <a:lnTo>
                    <a:pt x="35271" y="791070"/>
                  </a:lnTo>
                  <a:lnTo>
                    <a:pt x="9163" y="759247"/>
                  </a:lnTo>
                  <a:lnTo>
                    <a:pt x="0" y="725081"/>
                  </a:lnTo>
                  <a:lnTo>
                    <a:pt x="0" y="719137"/>
                  </a:lnTo>
                  <a:lnTo>
                    <a:pt x="0" y="84543"/>
                  </a:lnTo>
                  <a:lnTo>
                    <a:pt x="11944" y="45148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4049306" y="0"/>
                  </a:lnTo>
                  <a:lnTo>
                    <a:pt x="4088691" y="11944"/>
                  </a:lnTo>
                  <a:lnTo>
                    <a:pt x="4121896" y="45148"/>
                  </a:lnTo>
                  <a:lnTo>
                    <a:pt x="4133850" y="84543"/>
                  </a:lnTo>
                  <a:lnTo>
                    <a:pt x="4133850" y="725081"/>
                  </a:lnTo>
                  <a:lnTo>
                    <a:pt x="4121896" y="764457"/>
                  </a:lnTo>
                  <a:lnTo>
                    <a:pt x="4088691" y="797671"/>
                  </a:lnTo>
                  <a:lnTo>
                    <a:pt x="4055192" y="809043"/>
                  </a:lnTo>
                  <a:lnTo>
                    <a:pt x="4049306" y="8096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53062" y="8339139"/>
              <a:ext cx="4133850" cy="809625"/>
            </a:xfrm>
            <a:custGeom>
              <a:avLst/>
              <a:gdLst/>
              <a:ahLst/>
              <a:cxnLst/>
              <a:rect l="l" t="t" r="r" b="b"/>
              <a:pathLst>
                <a:path w="4133850" h="809625">
                  <a:moveTo>
                    <a:pt x="0" y="719137"/>
                  </a:moveTo>
                  <a:lnTo>
                    <a:pt x="0" y="90487"/>
                  </a:lnTo>
                  <a:lnTo>
                    <a:pt x="0" y="84543"/>
                  </a:lnTo>
                  <a:lnTo>
                    <a:pt x="581" y="78657"/>
                  </a:lnTo>
                  <a:lnTo>
                    <a:pt x="15249" y="40214"/>
                  </a:lnTo>
                  <a:lnTo>
                    <a:pt x="18554" y="35271"/>
                  </a:lnTo>
                  <a:lnTo>
                    <a:pt x="40214" y="15249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90487" y="0"/>
                  </a:lnTo>
                  <a:lnTo>
                    <a:pt x="4043362" y="0"/>
                  </a:lnTo>
                  <a:lnTo>
                    <a:pt x="4049306" y="0"/>
                  </a:lnTo>
                  <a:lnTo>
                    <a:pt x="4055192" y="581"/>
                  </a:lnTo>
                  <a:lnTo>
                    <a:pt x="4061012" y="1733"/>
                  </a:lnTo>
                  <a:lnTo>
                    <a:pt x="4066841" y="2895"/>
                  </a:lnTo>
                  <a:lnTo>
                    <a:pt x="4072499" y="4610"/>
                  </a:lnTo>
                  <a:lnTo>
                    <a:pt x="4077985" y="6886"/>
                  </a:lnTo>
                  <a:lnTo>
                    <a:pt x="4083481" y="9163"/>
                  </a:lnTo>
                  <a:lnTo>
                    <a:pt x="4088691" y="11944"/>
                  </a:lnTo>
                  <a:lnTo>
                    <a:pt x="4093635" y="15249"/>
                  </a:lnTo>
                  <a:lnTo>
                    <a:pt x="4098569" y="18545"/>
                  </a:lnTo>
                  <a:lnTo>
                    <a:pt x="4103141" y="22298"/>
                  </a:lnTo>
                  <a:lnTo>
                    <a:pt x="4107341" y="26498"/>
                  </a:lnTo>
                  <a:lnTo>
                    <a:pt x="4111551" y="30708"/>
                  </a:lnTo>
                  <a:lnTo>
                    <a:pt x="4130954" y="67008"/>
                  </a:lnTo>
                  <a:lnTo>
                    <a:pt x="4132106" y="72828"/>
                  </a:lnTo>
                  <a:lnTo>
                    <a:pt x="4133268" y="78657"/>
                  </a:lnTo>
                  <a:lnTo>
                    <a:pt x="4133850" y="84543"/>
                  </a:lnTo>
                  <a:lnTo>
                    <a:pt x="4133850" y="90487"/>
                  </a:lnTo>
                  <a:lnTo>
                    <a:pt x="4133850" y="719137"/>
                  </a:lnTo>
                  <a:lnTo>
                    <a:pt x="4133850" y="725081"/>
                  </a:lnTo>
                  <a:lnTo>
                    <a:pt x="4133268" y="730958"/>
                  </a:lnTo>
                  <a:lnTo>
                    <a:pt x="4132106" y="736787"/>
                  </a:lnTo>
                  <a:lnTo>
                    <a:pt x="4130954" y="742616"/>
                  </a:lnTo>
                  <a:lnTo>
                    <a:pt x="4111551" y="778916"/>
                  </a:lnTo>
                  <a:lnTo>
                    <a:pt x="4107341" y="783116"/>
                  </a:lnTo>
                  <a:lnTo>
                    <a:pt x="4103141" y="787317"/>
                  </a:lnTo>
                  <a:lnTo>
                    <a:pt x="4098569" y="791070"/>
                  </a:lnTo>
                  <a:lnTo>
                    <a:pt x="4093635" y="794365"/>
                  </a:lnTo>
                  <a:lnTo>
                    <a:pt x="4088691" y="797671"/>
                  </a:lnTo>
                  <a:lnTo>
                    <a:pt x="4083481" y="800452"/>
                  </a:lnTo>
                  <a:lnTo>
                    <a:pt x="4077985" y="802728"/>
                  </a:lnTo>
                  <a:lnTo>
                    <a:pt x="4072499" y="805005"/>
                  </a:lnTo>
                  <a:lnTo>
                    <a:pt x="4066841" y="806719"/>
                  </a:lnTo>
                  <a:lnTo>
                    <a:pt x="4061012" y="807881"/>
                  </a:lnTo>
                  <a:lnTo>
                    <a:pt x="4055192" y="809043"/>
                  </a:lnTo>
                  <a:lnTo>
                    <a:pt x="4049306" y="809625"/>
                  </a:lnTo>
                  <a:lnTo>
                    <a:pt x="4043362" y="809625"/>
                  </a:lnTo>
                  <a:lnTo>
                    <a:pt x="90487" y="809625"/>
                  </a:lnTo>
                  <a:lnTo>
                    <a:pt x="84543" y="809625"/>
                  </a:lnTo>
                  <a:lnTo>
                    <a:pt x="78657" y="809043"/>
                  </a:lnTo>
                  <a:lnTo>
                    <a:pt x="72837" y="807881"/>
                  </a:lnTo>
                  <a:lnTo>
                    <a:pt x="67008" y="806719"/>
                  </a:lnTo>
                  <a:lnTo>
                    <a:pt x="40214" y="794365"/>
                  </a:lnTo>
                  <a:lnTo>
                    <a:pt x="35271" y="791070"/>
                  </a:lnTo>
                  <a:lnTo>
                    <a:pt x="15249" y="769400"/>
                  </a:lnTo>
                  <a:lnTo>
                    <a:pt x="11944" y="764466"/>
                  </a:lnTo>
                  <a:lnTo>
                    <a:pt x="9163" y="759247"/>
                  </a:lnTo>
                  <a:lnTo>
                    <a:pt x="6886" y="753760"/>
                  </a:lnTo>
                  <a:lnTo>
                    <a:pt x="4610" y="748274"/>
                  </a:lnTo>
                  <a:lnTo>
                    <a:pt x="2895" y="742616"/>
                  </a:lnTo>
                  <a:lnTo>
                    <a:pt x="1733" y="736787"/>
                  </a:lnTo>
                  <a:lnTo>
                    <a:pt x="581" y="730958"/>
                  </a:lnTo>
                  <a:lnTo>
                    <a:pt x="0" y="725081"/>
                  </a:lnTo>
                  <a:lnTo>
                    <a:pt x="0" y="719137"/>
                  </a:lnTo>
                  <a:close/>
                </a:path>
              </a:pathLst>
            </a:custGeom>
            <a:ln w="9525">
              <a:solidFill>
                <a:srgbClr val="FD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53844" y="8621104"/>
              <a:ext cx="245745" cy="245745"/>
            </a:xfrm>
            <a:custGeom>
              <a:avLst/>
              <a:gdLst/>
              <a:ahLst/>
              <a:cxnLst/>
              <a:rect l="l" t="t" r="r" b="b"/>
              <a:pathLst>
                <a:path w="245745" h="245745">
                  <a:moveTo>
                    <a:pt x="245690" y="122845"/>
                  </a:moveTo>
                  <a:lnTo>
                    <a:pt x="245690" y="130916"/>
                  </a:lnTo>
                  <a:lnTo>
                    <a:pt x="244904" y="138901"/>
                  </a:lnTo>
                  <a:lnTo>
                    <a:pt x="243331" y="146812"/>
                  </a:lnTo>
                  <a:lnTo>
                    <a:pt x="241759" y="154723"/>
                  </a:lnTo>
                  <a:lnTo>
                    <a:pt x="224990" y="191098"/>
                  </a:lnTo>
                  <a:lnTo>
                    <a:pt x="197805" y="220507"/>
                  </a:lnTo>
                  <a:lnTo>
                    <a:pt x="162401" y="239425"/>
                  </a:lnTo>
                  <a:lnTo>
                    <a:pt x="130916" y="245690"/>
                  </a:lnTo>
                  <a:lnTo>
                    <a:pt x="122845" y="245690"/>
                  </a:lnTo>
                  <a:lnTo>
                    <a:pt x="114774" y="245690"/>
                  </a:lnTo>
                  <a:lnTo>
                    <a:pt x="75832" y="236341"/>
                  </a:lnTo>
                  <a:lnTo>
                    <a:pt x="41681" y="215409"/>
                  </a:lnTo>
                  <a:lnTo>
                    <a:pt x="16227" y="184390"/>
                  </a:lnTo>
                  <a:lnTo>
                    <a:pt x="2358" y="146812"/>
                  </a:lnTo>
                  <a:lnTo>
                    <a:pt x="786" y="138901"/>
                  </a:lnTo>
                  <a:lnTo>
                    <a:pt x="0" y="130916"/>
                  </a:lnTo>
                  <a:lnTo>
                    <a:pt x="0" y="122845"/>
                  </a:lnTo>
                  <a:lnTo>
                    <a:pt x="0" y="114774"/>
                  </a:lnTo>
                  <a:lnTo>
                    <a:pt x="786" y="106789"/>
                  </a:lnTo>
                  <a:lnTo>
                    <a:pt x="2358" y="98878"/>
                  </a:lnTo>
                  <a:lnTo>
                    <a:pt x="3931" y="90966"/>
                  </a:lnTo>
                  <a:lnTo>
                    <a:pt x="20699" y="54592"/>
                  </a:lnTo>
                  <a:lnTo>
                    <a:pt x="35981" y="35981"/>
                  </a:lnTo>
                  <a:lnTo>
                    <a:pt x="41681" y="30281"/>
                  </a:lnTo>
                  <a:lnTo>
                    <a:pt x="75832" y="9348"/>
                  </a:lnTo>
                  <a:lnTo>
                    <a:pt x="98878" y="2358"/>
                  </a:lnTo>
                  <a:lnTo>
                    <a:pt x="106789" y="786"/>
                  </a:lnTo>
                  <a:lnTo>
                    <a:pt x="114774" y="0"/>
                  </a:lnTo>
                  <a:lnTo>
                    <a:pt x="122845" y="0"/>
                  </a:lnTo>
                  <a:lnTo>
                    <a:pt x="130916" y="0"/>
                  </a:lnTo>
                  <a:lnTo>
                    <a:pt x="138901" y="786"/>
                  </a:lnTo>
                  <a:lnTo>
                    <a:pt x="146812" y="2358"/>
                  </a:lnTo>
                  <a:lnTo>
                    <a:pt x="154723" y="3931"/>
                  </a:lnTo>
                  <a:lnTo>
                    <a:pt x="191098" y="20699"/>
                  </a:lnTo>
                  <a:lnTo>
                    <a:pt x="209709" y="35981"/>
                  </a:lnTo>
                  <a:lnTo>
                    <a:pt x="215409" y="41681"/>
                  </a:lnTo>
                  <a:lnTo>
                    <a:pt x="236341" y="75832"/>
                  </a:lnTo>
                  <a:lnTo>
                    <a:pt x="243331" y="98878"/>
                  </a:lnTo>
                  <a:lnTo>
                    <a:pt x="244904" y="106789"/>
                  </a:lnTo>
                  <a:lnTo>
                    <a:pt x="245690" y="114774"/>
                  </a:lnTo>
                  <a:lnTo>
                    <a:pt x="245690" y="122845"/>
                  </a:lnTo>
                  <a:close/>
                </a:path>
              </a:pathLst>
            </a:custGeom>
            <a:ln w="24569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27551" y="8621104"/>
              <a:ext cx="98425" cy="245745"/>
            </a:xfrm>
            <a:custGeom>
              <a:avLst/>
              <a:gdLst/>
              <a:ahLst/>
              <a:cxnLst/>
              <a:rect l="l" t="t" r="r" b="b"/>
              <a:pathLst>
                <a:path w="98425" h="245745">
                  <a:moveTo>
                    <a:pt x="49138" y="0"/>
                  </a:moveTo>
                  <a:lnTo>
                    <a:pt x="23821" y="33850"/>
                  </a:lnTo>
                  <a:lnTo>
                    <a:pt x="7204" y="72696"/>
                  </a:lnTo>
                  <a:lnTo>
                    <a:pt x="200" y="114368"/>
                  </a:lnTo>
                  <a:lnTo>
                    <a:pt x="0" y="122845"/>
                  </a:lnTo>
                  <a:lnTo>
                    <a:pt x="200" y="131321"/>
                  </a:lnTo>
                  <a:lnTo>
                    <a:pt x="7204" y="172993"/>
                  </a:lnTo>
                  <a:lnTo>
                    <a:pt x="23821" y="211840"/>
                  </a:lnTo>
                  <a:lnTo>
                    <a:pt x="49138" y="245690"/>
                  </a:lnTo>
                  <a:lnTo>
                    <a:pt x="54839" y="239411"/>
                  </a:lnTo>
                  <a:lnTo>
                    <a:pt x="78505" y="204412"/>
                  </a:lnTo>
                  <a:lnTo>
                    <a:pt x="93259" y="164819"/>
                  </a:lnTo>
                  <a:lnTo>
                    <a:pt x="98276" y="122845"/>
                  </a:lnTo>
                  <a:lnTo>
                    <a:pt x="98075" y="114368"/>
                  </a:lnTo>
                  <a:lnTo>
                    <a:pt x="91071" y="72696"/>
                  </a:lnTo>
                  <a:lnTo>
                    <a:pt x="74455" y="33850"/>
                  </a:lnTo>
                  <a:lnTo>
                    <a:pt x="49138" y="0"/>
                  </a:lnTo>
                </a:path>
              </a:pathLst>
            </a:custGeom>
            <a:ln w="24569">
              <a:solidFill>
                <a:srgbClr val="EE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5266" y="8645673"/>
              <a:ext cx="122845" cy="19655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041181" y="8420100"/>
            <a:ext cx="3469690" cy="57836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rgbClr val="EE4444"/>
                </a:solidFill>
                <a:latin typeface="Century Gothic"/>
                <a:cs typeface="Century Gothic"/>
              </a:rPr>
              <a:t>Autofoco Biológico</a:t>
            </a:r>
            <a:endParaRPr sz="1400" dirty="0">
              <a:latin typeface="Century Gothic"/>
              <a:cs typeface="Century Gothic"/>
            </a:endParaRPr>
          </a:p>
          <a:p>
            <a:pPr marL="12700" marR="5080">
              <a:lnSpc>
                <a:spcPts val="1280"/>
              </a:lnSpc>
              <a:spcBef>
                <a:spcPts val="130"/>
              </a:spcBef>
            </a:pPr>
            <a:r>
              <a:rPr sz="1200" dirty="0">
                <a:solidFill>
                  <a:srgbClr val="63748A"/>
                </a:solidFill>
                <a:latin typeface="Microsoft Sans Serif"/>
                <a:cs typeface="Microsoft Sans Serif"/>
              </a:rPr>
              <a:t>Músculos vivos e tecidos elásticos. Sofrem queimação, ressecamento e astenopia diária.</a:t>
            </a:r>
            <a:endParaRPr sz="1200" dirty="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066294" y="1837944"/>
            <a:ext cx="7679542" cy="2344420"/>
            <a:chOff x="9857231" y="1837944"/>
            <a:chExt cx="7888605" cy="2344420"/>
          </a:xfrm>
        </p:grpSpPr>
        <p:sp>
          <p:nvSpPr>
            <p:cNvPr id="34" name="object 34"/>
            <p:cNvSpPr/>
            <p:nvPr/>
          </p:nvSpPr>
          <p:spPr>
            <a:xfrm>
              <a:off x="9857231" y="1837944"/>
              <a:ext cx="7888605" cy="2344420"/>
            </a:xfrm>
            <a:custGeom>
              <a:avLst/>
              <a:gdLst/>
              <a:ahLst/>
              <a:cxnLst/>
              <a:rect l="l" t="t" r="r" b="b"/>
              <a:pathLst>
                <a:path w="7888605" h="2344420">
                  <a:moveTo>
                    <a:pt x="7888223" y="2343911"/>
                  </a:moveTo>
                  <a:lnTo>
                    <a:pt x="0" y="2343911"/>
                  </a:lnTo>
                  <a:lnTo>
                    <a:pt x="0" y="0"/>
                  </a:lnTo>
                  <a:lnTo>
                    <a:pt x="7888223" y="0"/>
                  </a:lnTo>
                  <a:lnTo>
                    <a:pt x="7888223" y="228980"/>
                  </a:lnTo>
                  <a:lnTo>
                    <a:pt x="420242" y="228980"/>
                  </a:lnTo>
                  <a:lnTo>
                    <a:pt x="405229" y="229706"/>
                  </a:lnTo>
                  <a:lnTo>
                    <a:pt x="361919" y="240581"/>
                  </a:lnTo>
                  <a:lnTo>
                    <a:pt x="323608" y="263514"/>
                  </a:lnTo>
                  <a:lnTo>
                    <a:pt x="293502" y="296696"/>
                  </a:lnTo>
                  <a:lnTo>
                    <a:pt x="274367" y="337207"/>
                  </a:lnTo>
                  <a:lnTo>
                    <a:pt x="267842" y="381380"/>
                  </a:lnTo>
                  <a:lnTo>
                    <a:pt x="267842" y="1886330"/>
                  </a:lnTo>
                  <a:lnTo>
                    <a:pt x="274367" y="1930503"/>
                  </a:lnTo>
                  <a:lnTo>
                    <a:pt x="293502" y="1971015"/>
                  </a:lnTo>
                  <a:lnTo>
                    <a:pt x="323608" y="2004196"/>
                  </a:lnTo>
                  <a:lnTo>
                    <a:pt x="361919" y="2027130"/>
                  </a:lnTo>
                  <a:lnTo>
                    <a:pt x="405229" y="2038005"/>
                  </a:lnTo>
                  <a:lnTo>
                    <a:pt x="420242" y="2038730"/>
                  </a:lnTo>
                  <a:lnTo>
                    <a:pt x="7888223" y="2038730"/>
                  </a:lnTo>
                  <a:lnTo>
                    <a:pt x="7888223" y="2343911"/>
                  </a:lnTo>
                  <a:close/>
                </a:path>
                <a:path w="7888605" h="2344420">
                  <a:moveTo>
                    <a:pt x="7888223" y="2038730"/>
                  </a:moveTo>
                  <a:lnTo>
                    <a:pt x="7468742" y="2038730"/>
                  </a:lnTo>
                  <a:lnTo>
                    <a:pt x="7483754" y="2038005"/>
                  </a:lnTo>
                  <a:lnTo>
                    <a:pt x="7498478" y="2035830"/>
                  </a:lnTo>
                  <a:lnTo>
                    <a:pt x="7540653" y="2020714"/>
                  </a:lnTo>
                  <a:lnTo>
                    <a:pt x="7576504" y="1994092"/>
                  </a:lnTo>
                  <a:lnTo>
                    <a:pt x="7603124" y="1958244"/>
                  </a:lnTo>
                  <a:lnTo>
                    <a:pt x="7618240" y="1916067"/>
                  </a:lnTo>
                  <a:lnTo>
                    <a:pt x="7621142" y="1886330"/>
                  </a:lnTo>
                  <a:lnTo>
                    <a:pt x="7621142" y="381380"/>
                  </a:lnTo>
                  <a:lnTo>
                    <a:pt x="7614614" y="337207"/>
                  </a:lnTo>
                  <a:lnTo>
                    <a:pt x="7595480" y="296696"/>
                  </a:lnTo>
                  <a:lnTo>
                    <a:pt x="7565376" y="263514"/>
                  </a:lnTo>
                  <a:lnTo>
                    <a:pt x="7527060" y="240581"/>
                  </a:lnTo>
                  <a:lnTo>
                    <a:pt x="7483754" y="229706"/>
                  </a:lnTo>
                  <a:lnTo>
                    <a:pt x="7468742" y="228980"/>
                  </a:lnTo>
                  <a:lnTo>
                    <a:pt x="7888223" y="228980"/>
                  </a:lnTo>
                  <a:lnTo>
                    <a:pt x="7888223" y="203873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34600" y="2076450"/>
              <a:ext cx="7334250" cy="17907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129837" y="2071687"/>
              <a:ext cx="7343775" cy="1800225"/>
            </a:xfrm>
            <a:custGeom>
              <a:avLst/>
              <a:gdLst/>
              <a:ahLst/>
              <a:cxnLst/>
              <a:rect l="l" t="t" r="r" b="b"/>
              <a:pathLst>
                <a:path w="7343775" h="1800225">
                  <a:moveTo>
                    <a:pt x="0" y="1652587"/>
                  </a:moveTo>
                  <a:lnTo>
                    <a:pt x="0" y="147637"/>
                  </a:lnTo>
                  <a:lnTo>
                    <a:pt x="176" y="140383"/>
                  </a:lnTo>
                  <a:lnTo>
                    <a:pt x="8624" y="97907"/>
                  </a:lnTo>
                  <a:lnTo>
                    <a:pt x="29054" y="59681"/>
                  </a:lnTo>
                  <a:lnTo>
                    <a:pt x="59681" y="29054"/>
                  </a:lnTo>
                  <a:lnTo>
                    <a:pt x="97907" y="8624"/>
                  </a:lnTo>
                  <a:lnTo>
                    <a:pt x="140383" y="176"/>
                  </a:lnTo>
                  <a:lnTo>
                    <a:pt x="147637" y="0"/>
                  </a:lnTo>
                  <a:lnTo>
                    <a:pt x="7196137" y="0"/>
                  </a:lnTo>
                  <a:lnTo>
                    <a:pt x="7238992" y="6353"/>
                  </a:lnTo>
                  <a:lnTo>
                    <a:pt x="7278157" y="24879"/>
                  </a:lnTo>
                  <a:lnTo>
                    <a:pt x="7310263" y="53973"/>
                  </a:lnTo>
                  <a:lnTo>
                    <a:pt x="7332535" y="91135"/>
                  </a:lnTo>
                  <a:lnTo>
                    <a:pt x="7343066" y="133164"/>
                  </a:lnTo>
                  <a:lnTo>
                    <a:pt x="7343775" y="147637"/>
                  </a:lnTo>
                  <a:lnTo>
                    <a:pt x="7343775" y="1652587"/>
                  </a:lnTo>
                  <a:lnTo>
                    <a:pt x="7337414" y="1695442"/>
                  </a:lnTo>
                  <a:lnTo>
                    <a:pt x="7318895" y="1734607"/>
                  </a:lnTo>
                  <a:lnTo>
                    <a:pt x="7289794" y="1766712"/>
                  </a:lnTo>
                  <a:lnTo>
                    <a:pt x="7252630" y="1788985"/>
                  </a:lnTo>
                  <a:lnTo>
                    <a:pt x="7210610" y="1799516"/>
                  </a:lnTo>
                  <a:lnTo>
                    <a:pt x="7196137" y="1800225"/>
                  </a:lnTo>
                  <a:lnTo>
                    <a:pt x="147637" y="1800225"/>
                  </a:lnTo>
                  <a:lnTo>
                    <a:pt x="104780" y="1793864"/>
                  </a:lnTo>
                  <a:lnTo>
                    <a:pt x="65617" y="1775336"/>
                  </a:lnTo>
                  <a:lnTo>
                    <a:pt x="33507" y="1746244"/>
                  </a:lnTo>
                  <a:lnTo>
                    <a:pt x="11239" y="1709080"/>
                  </a:lnTo>
                  <a:lnTo>
                    <a:pt x="708" y="1667057"/>
                  </a:lnTo>
                  <a:lnTo>
                    <a:pt x="0" y="1652587"/>
                  </a:lnTo>
                  <a:close/>
                </a:path>
              </a:pathLst>
            </a:custGeom>
            <a:ln w="9525">
              <a:solidFill>
                <a:srgbClr val="0284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71712" y="2313685"/>
              <a:ext cx="192305" cy="19235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0575276" y="2157250"/>
            <a:ext cx="6876937" cy="1480534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965"/>
              </a:spcBef>
            </a:pPr>
            <a:r>
              <a:rPr sz="1400" b="1" dirty="0">
                <a:solidFill>
                  <a:srgbClr val="0369A0"/>
                </a:solidFill>
                <a:latin typeface="Arial"/>
                <a:cs typeface="Arial"/>
              </a:rPr>
              <a:t>Os 4 Sintomas da Astenopia Digital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🔴 </a:t>
            </a:r>
            <a:r>
              <a:rPr sz="1250" b="1" dirty="0">
                <a:solidFill>
                  <a:srgbClr val="334154"/>
                </a:solidFill>
                <a:latin typeface="Century Gothic"/>
                <a:cs typeface="Century Gothic"/>
              </a:rPr>
              <a:t>Olhos Secos &amp; Ardência: </a:t>
            </a:r>
            <a:r>
              <a:rPr sz="1250" dirty="0">
                <a:solidFill>
                  <a:srgbClr val="334154"/>
                </a:solidFill>
                <a:latin typeface="Century Gothic"/>
                <a:cs typeface="Century Gothic"/>
              </a:rPr>
              <a:t>Em telas piscamos até 60% menos, evaporando a lágrima.</a:t>
            </a:r>
            <a:endParaRPr sz="12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🔴 </a:t>
            </a:r>
            <a:r>
              <a:rPr sz="1250" b="1" dirty="0">
                <a:solidFill>
                  <a:srgbClr val="334154"/>
                </a:solidFill>
                <a:latin typeface="Century Gothic"/>
                <a:cs typeface="Century Gothic"/>
              </a:rPr>
              <a:t>Cefaleia Temporal: </a:t>
            </a:r>
            <a:r>
              <a:rPr sz="1250" dirty="0">
                <a:solidFill>
                  <a:srgbClr val="334154"/>
                </a:solidFill>
                <a:latin typeface="Century Gothic"/>
                <a:cs typeface="Century Gothic"/>
              </a:rPr>
              <a:t>Dores nas têmporas e na nuca após o almoço ou fim do dia.</a:t>
            </a:r>
            <a:endParaRPr sz="12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🔴 </a:t>
            </a:r>
            <a:r>
              <a:rPr sz="1250" b="1" dirty="0">
                <a:solidFill>
                  <a:srgbClr val="334154"/>
                </a:solidFill>
                <a:latin typeface="Century Gothic"/>
                <a:cs typeface="Century Gothic"/>
              </a:rPr>
              <a:t>Visão Turva Transitória: </a:t>
            </a:r>
            <a:r>
              <a:rPr sz="1250" dirty="0">
                <a:solidFill>
                  <a:srgbClr val="334154"/>
                </a:solidFill>
                <a:latin typeface="Century Gothic"/>
                <a:cs typeface="Century Gothic"/>
              </a:rPr>
              <a:t>Dificuldade ao alternar o foco do celular para longe.</a:t>
            </a:r>
            <a:endParaRPr sz="125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🔴 </a:t>
            </a:r>
            <a:r>
              <a:rPr sz="1250" b="1" dirty="0">
                <a:solidFill>
                  <a:srgbClr val="334154"/>
                </a:solidFill>
                <a:latin typeface="Century Gothic"/>
                <a:cs typeface="Century Gothic"/>
              </a:rPr>
              <a:t>Queda de Produtividade: </a:t>
            </a:r>
            <a:r>
              <a:rPr sz="1250" dirty="0">
                <a:solidFill>
                  <a:srgbClr val="334154"/>
                </a:solidFill>
                <a:latin typeface="Century Gothic"/>
                <a:cs typeface="Century Gothic"/>
              </a:rPr>
              <a:t>Fadiga mental e sonolência ao ler textos no computador.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0120075" y="7571231"/>
            <a:ext cx="7625761" cy="2088389"/>
            <a:chOff x="9857231" y="8001000"/>
            <a:chExt cx="7888605" cy="1658620"/>
          </a:xfrm>
        </p:grpSpPr>
        <p:sp>
          <p:nvSpPr>
            <p:cNvPr id="40" name="object 40"/>
            <p:cNvSpPr/>
            <p:nvPr/>
          </p:nvSpPr>
          <p:spPr>
            <a:xfrm>
              <a:off x="9857231" y="8001000"/>
              <a:ext cx="7888605" cy="1658620"/>
            </a:xfrm>
            <a:custGeom>
              <a:avLst/>
              <a:gdLst/>
              <a:ahLst/>
              <a:cxnLst/>
              <a:rect l="l" t="t" r="r" b="b"/>
              <a:pathLst>
                <a:path w="7888605" h="1658620">
                  <a:moveTo>
                    <a:pt x="7888223" y="1658111"/>
                  </a:moveTo>
                  <a:lnTo>
                    <a:pt x="0" y="1658111"/>
                  </a:lnTo>
                  <a:lnTo>
                    <a:pt x="0" y="0"/>
                  </a:lnTo>
                  <a:lnTo>
                    <a:pt x="7888223" y="0"/>
                  </a:lnTo>
                  <a:lnTo>
                    <a:pt x="7888223" y="238124"/>
                  </a:lnTo>
                  <a:lnTo>
                    <a:pt x="420242" y="238124"/>
                  </a:lnTo>
                  <a:lnTo>
                    <a:pt x="406168" y="238804"/>
                  </a:lnTo>
                  <a:lnTo>
                    <a:pt x="365564" y="249000"/>
                  </a:lnTo>
                  <a:lnTo>
                    <a:pt x="329646" y="270500"/>
                  </a:lnTo>
                  <a:lnTo>
                    <a:pt x="301422" y="301606"/>
                  </a:lnTo>
                  <a:lnTo>
                    <a:pt x="283484" y="339585"/>
                  </a:lnTo>
                  <a:lnTo>
                    <a:pt x="277367" y="380999"/>
                  </a:lnTo>
                  <a:lnTo>
                    <a:pt x="277367" y="1200149"/>
                  </a:lnTo>
                  <a:lnTo>
                    <a:pt x="283484" y="1241561"/>
                  </a:lnTo>
                  <a:lnTo>
                    <a:pt x="301422" y="1279541"/>
                  </a:lnTo>
                  <a:lnTo>
                    <a:pt x="329646" y="1310648"/>
                  </a:lnTo>
                  <a:lnTo>
                    <a:pt x="365564" y="1332146"/>
                  </a:lnTo>
                  <a:lnTo>
                    <a:pt x="406168" y="1342344"/>
                  </a:lnTo>
                  <a:lnTo>
                    <a:pt x="420242" y="1343024"/>
                  </a:lnTo>
                  <a:lnTo>
                    <a:pt x="7888223" y="1343024"/>
                  </a:lnTo>
                  <a:lnTo>
                    <a:pt x="7888223" y="1658111"/>
                  </a:lnTo>
                  <a:close/>
                </a:path>
                <a:path w="7888605" h="1658620">
                  <a:moveTo>
                    <a:pt x="7888223" y="1343024"/>
                  </a:moveTo>
                  <a:lnTo>
                    <a:pt x="7468742" y="1343024"/>
                  </a:lnTo>
                  <a:lnTo>
                    <a:pt x="7482815" y="1342344"/>
                  </a:lnTo>
                  <a:lnTo>
                    <a:pt x="7496619" y="1340305"/>
                  </a:lnTo>
                  <a:lnTo>
                    <a:pt x="7536159" y="1326132"/>
                  </a:lnTo>
                  <a:lnTo>
                    <a:pt x="7569768" y="1301175"/>
                  </a:lnTo>
                  <a:lnTo>
                    <a:pt x="7594725" y="1267568"/>
                  </a:lnTo>
                  <a:lnTo>
                    <a:pt x="7608897" y="1228028"/>
                  </a:lnTo>
                  <a:lnTo>
                    <a:pt x="7611617" y="1200149"/>
                  </a:lnTo>
                  <a:lnTo>
                    <a:pt x="7611617" y="380999"/>
                  </a:lnTo>
                  <a:lnTo>
                    <a:pt x="7605498" y="339585"/>
                  </a:lnTo>
                  <a:lnTo>
                    <a:pt x="7587558" y="301606"/>
                  </a:lnTo>
                  <a:lnTo>
                    <a:pt x="7559336" y="270500"/>
                  </a:lnTo>
                  <a:lnTo>
                    <a:pt x="7523417" y="249000"/>
                  </a:lnTo>
                  <a:lnTo>
                    <a:pt x="7482815" y="238804"/>
                  </a:lnTo>
                  <a:lnTo>
                    <a:pt x="7468742" y="238124"/>
                  </a:lnTo>
                  <a:lnTo>
                    <a:pt x="7888223" y="238124"/>
                  </a:lnTo>
                  <a:lnTo>
                    <a:pt x="7888223" y="1343024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129837" y="8234362"/>
              <a:ext cx="7343775" cy="1114425"/>
            </a:xfrm>
            <a:custGeom>
              <a:avLst/>
              <a:gdLst/>
              <a:ahLst/>
              <a:cxnLst/>
              <a:rect l="l" t="t" r="r" b="b"/>
              <a:pathLst>
                <a:path w="7343775" h="1114425">
                  <a:moveTo>
                    <a:pt x="7196137" y="1114425"/>
                  </a:moveTo>
                  <a:lnTo>
                    <a:pt x="147637" y="1114425"/>
                  </a:lnTo>
                  <a:lnTo>
                    <a:pt x="140383" y="1114246"/>
                  </a:lnTo>
                  <a:lnTo>
                    <a:pt x="97907" y="1105794"/>
                  </a:lnTo>
                  <a:lnTo>
                    <a:pt x="59681" y="1085360"/>
                  </a:lnTo>
                  <a:lnTo>
                    <a:pt x="29054" y="1054738"/>
                  </a:lnTo>
                  <a:lnTo>
                    <a:pt x="8624" y="1016513"/>
                  </a:lnTo>
                  <a:lnTo>
                    <a:pt x="176" y="974040"/>
                  </a:lnTo>
                  <a:lnTo>
                    <a:pt x="0" y="966787"/>
                  </a:lnTo>
                  <a:lnTo>
                    <a:pt x="0" y="147637"/>
                  </a:lnTo>
                  <a:lnTo>
                    <a:pt x="6353" y="104777"/>
                  </a:lnTo>
                  <a:lnTo>
                    <a:pt x="24879" y="65608"/>
                  </a:lnTo>
                  <a:lnTo>
                    <a:pt x="53973" y="33507"/>
                  </a:lnTo>
                  <a:lnTo>
                    <a:pt x="91135" y="11229"/>
                  </a:lnTo>
                  <a:lnTo>
                    <a:pt x="133164" y="708"/>
                  </a:lnTo>
                  <a:lnTo>
                    <a:pt x="147637" y="0"/>
                  </a:lnTo>
                  <a:lnTo>
                    <a:pt x="7196137" y="0"/>
                  </a:lnTo>
                  <a:lnTo>
                    <a:pt x="7238992" y="6351"/>
                  </a:lnTo>
                  <a:lnTo>
                    <a:pt x="7278157" y="24879"/>
                  </a:lnTo>
                  <a:lnTo>
                    <a:pt x="7310263" y="53972"/>
                  </a:lnTo>
                  <a:lnTo>
                    <a:pt x="7332535" y="91135"/>
                  </a:lnTo>
                  <a:lnTo>
                    <a:pt x="7343066" y="133164"/>
                  </a:lnTo>
                  <a:lnTo>
                    <a:pt x="7343775" y="147637"/>
                  </a:lnTo>
                  <a:lnTo>
                    <a:pt x="7343775" y="966787"/>
                  </a:lnTo>
                  <a:lnTo>
                    <a:pt x="7337414" y="1009641"/>
                  </a:lnTo>
                  <a:lnTo>
                    <a:pt x="7318895" y="1048807"/>
                  </a:lnTo>
                  <a:lnTo>
                    <a:pt x="7289794" y="1080908"/>
                  </a:lnTo>
                  <a:lnTo>
                    <a:pt x="7252630" y="1103185"/>
                  </a:lnTo>
                  <a:lnTo>
                    <a:pt x="7210610" y="1113713"/>
                  </a:lnTo>
                  <a:lnTo>
                    <a:pt x="7196137" y="1114425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129837" y="8234362"/>
              <a:ext cx="7343775" cy="1114425"/>
            </a:xfrm>
            <a:custGeom>
              <a:avLst/>
              <a:gdLst/>
              <a:ahLst/>
              <a:cxnLst/>
              <a:rect l="l" t="t" r="r" b="b"/>
              <a:pathLst>
                <a:path w="7343775" h="1114425">
                  <a:moveTo>
                    <a:pt x="0" y="966787"/>
                  </a:moveTo>
                  <a:lnTo>
                    <a:pt x="0" y="147637"/>
                  </a:lnTo>
                  <a:lnTo>
                    <a:pt x="176" y="140383"/>
                  </a:lnTo>
                  <a:lnTo>
                    <a:pt x="8624" y="97903"/>
                  </a:lnTo>
                  <a:lnTo>
                    <a:pt x="29054" y="59677"/>
                  </a:lnTo>
                  <a:lnTo>
                    <a:pt x="59681" y="29054"/>
                  </a:lnTo>
                  <a:lnTo>
                    <a:pt x="97907" y="8620"/>
                  </a:lnTo>
                  <a:lnTo>
                    <a:pt x="140383" y="176"/>
                  </a:lnTo>
                  <a:lnTo>
                    <a:pt x="147637" y="0"/>
                  </a:lnTo>
                  <a:lnTo>
                    <a:pt x="7196137" y="0"/>
                  </a:lnTo>
                  <a:lnTo>
                    <a:pt x="7238992" y="6351"/>
                  </a:lnTo>
                  <a:lnTo>
                    <a:pt x="7278157" y="24879"/>
                  </a:lnTo>
                  <a:lnTo>
                    <a:pt x="7310263" y="53972"/>
                  </a:lnTo>
                  <a:lnTo>
                    <a:pt x="7332535" y="91135"/>
                  </a:lnTo>
                  <a:lnTo>
                    <a:pt x="7343066" y="133164"/>
                  </a:lnTo>
                  <a:lnTo>
                    <a:pt x="7343775" y="147637"/>
                  </a:lnTo>
                  <a:lnTo>
                    <a:pt x="7343775" y="966787"/>
                  </a:lnTo>
                  <a:lnTo>
                    <a:pt x="7337414" y="1009641"/>
                  </a:lnTo>
                  <a:lnTo>
                    <a:pt x="7318895" y="1048807"/>
                  </a:lnTo>
                  <a:lnTo>
                    <a:pt x="7289794" y="1080908"/>
                  </a:lnTo>
                  <a:lnTo>
                    <a:pt x="7252630" y="1103185"/>
                  </a:lnTo>
                  <a:lnTo>
                    <a:pt x="7210610" y="1113713"/>
                  </a:lnTo>
                  <a:lnTo>
                    <a:pt x="7196137" y="1114425"/>
                  </a:lnTo>
                  <a:lnTo>
                    <a:pt x="147637" y="1114425"/>
                  </a:lnTo>
                  <a:lnTo>
                    <a:pt x="104780" y="1108064"/>
                  </a:lnTo>
                  <a:lnTo>
                    <a:pt x="65617" y="1089536"/>
                  </a:lnTo>
                  <a:lnTo>
                    <a:pt x="33507" y="1060444"/>
                  </a:lnTo>
                  <a:lnTo>
                    <a:pt x="11239" y="1023280"/>
                  </a:lnTo>
                  <a:lnTo>
                    <a:pt x="708" y="981255"/>
                  </a:lnTo>
                  <a:lnTo>
                    <a:pt x="0" y="966787"/>
                  </a:lnTo>
                  <a:close/>
                </a:path>
              </a:pathLst>
            </a:custGeom>
            <a:ln w="9525">
              <a:solidFill>
                <a:srgbClr val="7CD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548840" y="8068211"/>
            <a:ext cx="6742210" cy="97212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350" b="1" dirty="0">
                <a:solidFill>
                  <a:srgbClr val="0284C6"/>
                </a:solidFill>
                <a:latin typeface="Gotham Book" panose="02000604040000020004" pitchFamily="50" charset="0"/>
                <a:cs typeface="Arial"/>
              </a:rPr>
              <a:t>O que a Lente com Relaxamento faz?</a:t>
            </a:r>
            <a:endParaRPr sz="1350" dirty="0">
              <a:latin typeface="Gotham Book" panose="02000604040000020004" pitchFamily="50" charset="0"/>
              <a:cs typeface="Arial"/>
            </a:endParaRPr>
          </a:p>
          <a:p>
            <a:pPr marL="12700" marR="5080">
              <a:lnSpc>
                <a:spcPct val="106500"/>
              </a:lnSpc>
              <a:spcBef>
                <a:spcPts val="300"/>
              </a:spcBef>
            </a:pPr>
            <a:r>
              <a:rPr sz="1350" dirty="0">
                <a:solidFill>
                  <a:srgbClr val="0369A0"/>
                </a:solidFill>
                <a:latin typeface="Gotham Book" panose="02000604040000020004" pitchFamily="50" charset="0"/>
                <a:cs typeface="Arial"/>
              </a:rPr>
              <a:t>Ela coloca uma </a:t>
            </a:r>
            <a:r>
              <a:rPr sz="1350" b="1" dirty="0">
                <a:solidFill>
                  <a:srgbClr val="0369A0"/>
                </a:solidFill>
                <a:latin typeface="Gotham Book" panose="02000604040000020004" pitchFamily="50" charset="0"/>
                <a:cs typeface="Century Gothic"/>
              </a:rPr>
              <a:t>"mola de amortecimento" </a:t>
            </a:r>
            <a:r>
              <a:rPr sz="1350" dirty="0">
                <a:solidFill>
                  <a:srgbClr val="0369A0"/>
                </a:solidFill>
                <a:latin typeface="Gotham Book" panose="02000604040000020004" pitchFamily="50" charset="0"/>
                <a:cs typeface="Arial"/>
              </a:rPr>
              <a:t>na frente do olho. Quando o cliente olha para baixo, a lente assume uma fração do trabalho, permitindo que o músculo ciliar trabalhe relaxado!</a:t>
            </a:r>
            <a:endParaRPr sz="135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96925" y="9491251"/>
            <a:ext cx="314071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1 • Fisiologia da Fadiga Ocular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47" name="object 3">
            <a:extLst>
              <a:ext uri="{FF2B5EF4-FFF2-40B4-BE49-F238E27FC236}">
                <a16:creationId xmlns:a16="http://schemas.microsoft.com/office/drawing/2014/main" id="{5588D965-E869-4FCF-9926-7A4A1805E963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48" name="object 4">
              <a:extLst>
                <a:ext uri="{FF2B5EF4-FFF2-40B4-BE49-F238E27FC236}">
                  <a16:creationId xmlns:a16="http://schemas.microsoft.com/office/drawing/2014/main" id="{FB671EB4-02F3-4C9B-9E05-457CEBC15928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5">
              <a:extLst>
                <a:ext uri="{FF2B5EF4-FFF2-40B4-BE49-F238E27FC236}">
                  <a16:creationId xmlns:a16="http://schemas.microsoft.com/office/drawing/2014/main" id="{C9BFF3E1-FF5E-4DE3-A4C9-9C7892DA66AF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6">
            <a:extLst>
              <a:ext uri="{FF2B5EF4-FFF2-40B4-BE49-F238E27FC236}">
                <a16:creationId xmlns:a16="http://schemas.microsoft.com/office/drawing/2014/main" id="{D93A2EA2-85EA-4B38-9EFD-FBD141A8A790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628900" cy="266700"/>
          </a:xfrm>
          <a:custGeom>
            <a:avLst/>
            <a:gdLst/>
            <a:ahLst/>
            <a:cxnLst/>
            <a:rect l="l" t="t" r="r" b="b"/>
            <a:pathLst>
              <a:path w="2628900" h="266700">
                <a:moveTo>
                  <a:pt x="249555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7"/>
                </a:lnTo>
                <a:lnTo>
                  <a:pt x="53908" y="240451"/>
                </a:lnTo>
                <a:lnTo>
                  <a:pt x="26243" y="212791"/>
                </a:lnTo>
                <a:lnTo>
                  <a:pt x="7792" y="178263"/>
                </a:lnTo>
                <a:lnTo>
                  <a:pt x="160" y="139900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28"/>
                </a:lnTo>
                <a:lnTo>
                  <a:pt x="26243" y="53903"/>
                </a:lnTo>
                <a:lnTo>
                  <a:pt x="53908" y="26243"/>
                </a:lnTo>
                <a:lnTo>
                  <a:pt x="88432" y="7788"/>
                </a:lnTo>
                <a:lnTo>
                  <a:pt x="126799" y="160"/>
                </a:lnTo>
                <a:lnTo>
                  <a:pt x="133350" y="0"/>
                </a:lnTo>
                <a:lnTo>
                  <a:pt x="2495550" y="0"/>
                </a:lnTo>
                <a:lnTo>
                  <a:pt x="2534259" y="5738"/>
                </a:lnTo>
                <a:lnTo>
                  <a:pt x="2569635" y="22469"/>
                </a:lnTo>
                <a:lnTo>
                  <a:pt x="2598630" y="48746"/>
                </a:lnTo>
                <a:lnTo>
                  <a:pt x="2618746" y="82315"/>
                </a:lnTo>
                <a:lnTo>
                  <a:pt x="2628258" y="120278"/>
                </a:lnTo>
                <a:lnTo>
                  <a:pt x="2628900" y="133350"/>
                </a:lnTo>
                <a:lnTo>
                  <a:pt x="2628739" y="139900"/>
                </a:lnTo>
                <a:lnTo>
                  <a:pt x="2621107" y="178263"/>
                </a:lnTo>
                <a:lnTo>
                  <a:pt x="2602655" y="212791"/>
                </a:lnTo>
                <a:lnTo>
                  <a:pt x="2574991" y="240451"/>
                </a:lnTo>
                <a:lnTo>
                  <a:pt x="2540467" y="258907"/>
                </a:lnTo>
                <a:lnTo>
                  <a:pt x="2502100" y="266539"/>
                </a:lnTo>
                <a:lnTo>
                  <a:pt x="249555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33870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 1:</a:t>
            </a:r>
            <a:r>
              <a:rPr sz="1100" b="1" spc="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LI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25" dirty="0">
                <a:solidFill>
                  <a:srgbClr val="0284C6"/>
                </a:solidFill>
                <a:latin typeface="Century Gothic"/>
                <a:cs typeface="Century Gothic"/>
              </a:rPr>
              <a:t>M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0" dirty="0">
                <a:solidFill>
                  <a:srgbClr val="0284C6"/>
                </a:solidFill>
                <a:latin typeface="Century Gothic"/>
                <a:cs typeface="Century Gothic"/>
              </a:rPr>
              <a:t>TAÇÕE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S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5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25" dirty="0">
                <a:solidFill>
                  <a:srgbClr val="0284C6"/>
                </a:solidFill>
                <a:latin typeface="Century Gothic"/>
                <a:cs typeface="Century Gothic"/>
              </a:rPr>
              <a:t>M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5" dirty="0">
                <a:solidFill>
                  <a:srgbClr val="0284C6"/>
                </a:solidFill>
                <a:latin typeface="Century Gothic"/>
                <a:cs typeface="Century Gothic"/>
              </a:rPr>
              <a:t>CAD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8463915" cy="880744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spc="-420" dirty="0">
                <a:solidFill>
                  <a:srgbClr val="0F162A"/>
                </a:solidFill>
                <a:latin typeface="Arial"/>
                <a:cs typeface="Arial"/>
              </a:rPr>
              <a:t>A</a:t>
            </a:r>
            <a:r>
              <a:rPr sz="3050" spc="-16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65" dirty="0">
                <a:solidFill>
                  <a:srgbClr val="0F162A"/>
                </a:solidFill>
                <a:latin typeface="Arial"/>
                <a:cs typeface="Arial"/>
              </a:rPr>
              <a:t>Ilusão</a:t>
            </a:r>
            <a:r>
              <a:rPr sz="3050" spc="-18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55" dirty="0">
                <a:solidFill>
                  <a:srgbClr val="0F162A"/>
                </a:solidFill>
                <a:latin typeface="Arial"/>
                <a:cs typeface="Arial"/>
              </a:rPr>
              <a:t>das</a:t>
            </a:r>
            <a:r>
              <a:rPr sz="3050" spc="-145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55" dirty="0">
                <a:solidFill>
                  <a:srgbClr val="0F162A"/>
                </a:solidFill>
                <a:latin typeface="Arial"/>
                <a:cs typeface="Arial"/>
              </a:rPr>
              <a:t>Lentes</a:t>
            </a:r>
            <a:r>
              <a:rPr sz="3050" spc="-15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60" dirty="0">
                <a:solidFill>
                  <a:srgbClr val="0F162A"/>
                </a:solidFill>
                <a:latin typeface="Arial"/>
                <a:cs typeface="Arial"/>
              </a:rPr>
              <a:t>Prontas</a:t>
            </a:r>
            <a:r>
              <a:rPr sz="3050" spc="-15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530" dirty="0">
                <a:solidFill>
                  <a:srgbClr val="0F162A"/>
                </a:solidFill>
                <a:latin typeface="Arial"/>
                <a:cs typeface="Arial"/>
              </a:rPr>
              <a:t>&amp;</a:t>
            </a:r>
            <a:r>
              <a:rPr sz="3050" spc="-195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20" dirty="0">
                <a:solidFill>
                  <a:srgbClr val="0F162A"/>
                </a:solidFill>
                <a:latin typeface="Arial"/>
                <a:cs typeface="Arial"/>
              </a:rPr>
              <a:t>Surfaçadas</a:t>
            </a:r>
            <a:r>
              <a:rPr sz="3050" spc="-15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280" dirty="0">
                <a:solidFill>
                  <a:srgbClr val="0F162A"/>
                </a:solidFill>
                <a:latin typeface="Arial"/>
                <a:cs typeface="Arial"/>
              </a:rPr>
              <a:t>Comuns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spc="-135" dirty="0">
                <a:solidFill>
                  <a:srgbClr val="63748A"/>
                </a:solidFill>
                <a:latin typeface="Century Gothic"/>
                <a:cs typeface="Century Gothic"/>
              </a:rPr>
              <a:t>Compreenda</a:t>
            </a:r>
            <a:r>
              <a:rPr sz="1400" b="0" spc="-12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229" dirty="0">
                <a:solidFill>
                  <a:srgbClr val="63748A"/>
                </a:solidFill>
                <a:latin typeface="Century Gothic"/>
                <a:cs typeface="Century Gothic"/>
              </a:rPr>
              <a:t>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80" dirty="0">
                <a:solidFill>
                  <a:srgbClr val="63748A"/>
                </a:solidFill>
                <a:latin typeface="Century Gothic"/>
                <a:cs typeface="Century Gothic"/>
              </a:rPr>
              <a:t>fundo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75" dirty="0">
                <a:solidFill>
                  <a:srgbClr val="63748A"/>
                </a:solidFill>
                <a:latin typeface="Century Gothic"/>
                <a:cs typeface="Century Gothic"/>
              </a:rPr>
              <a:t>por</a:t>
            </a:r>
            <a:r>
              <a:rPr sz="1400" b="0" spc="-12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30" dirty="0">
                <a:solidFill>
                  <a:srgbClr val="63748A"/>
                </a:solidFill>
                <a:latin typeface="Century Gothic"/>
                <a:cs typeface="Century Gothic"/>
              </a:rPr>
              <a:t>que</a:t>
            </a:r>
            <a:r>
              <a:rPr sz="1400" b="0" spc="-17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60" dirty="0">
                <a:solidFill>
                  <a:srgbClr val="63748A"/>
                </a:solidFill>
                <a:latin typeface="Century Gothic"/>
                <a:cs typeface="Century Gothic"/>
              </a:rPr>
              <a:t>as</a:t>
            </a:r>
            <a:r>
              <a:rPr sz="1400" b="0" spc="-10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00" dirty="0">
                <a:solidFill>
                  <a:srgbClr val="63748A"/>
                </a:solidFill>
                <a:latin typeface="Century Gothic"/>
                <a:cs typeface="Century Gothic"/>
              </a:rPr>
              <a:t>opções</a:t>
            </a:r>
            <a:r>
              <a:rPr sz="1400" b="0" spc="-10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95" dirty="0">
                <a:solidFill>
                  <a:srgbClr val="63748A"/>
                </a:solidFill>
                <a:latin typeface="Century Gothic"/>
                <a:cs typeface="Century Gothic"/>
              </a:rPr>
              <a:t>genéricas</a:t>
            </a:r>
            <a:r>
              <a:rPr sz="1400" b="0" spc="-10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40" dirty="0">
                <a:solidFill>
                  <a:srgbClr val="63748A"/>
                </a:solidFill>
                <a:latin typeface="Century Gothic"/>
                <a:cs typeface="Century Gothic"/>
              </a:rPr>
              <a:t>não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00" dirty="0">
                <a:solidFill>
                  <a:srgbClr val="63748A"/>
                </a:solidFill>
                <a:latin typeface="Century Gothic"/>
                <a:cs typeface="Century Gothic"/>
              </a:rPr>
              <a:t>protegem</a:t>
            </a:r>
            <a:r>
              <a:rPr sz="1400" b="0" spc="-9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229" dirty="0">
                <a:solidFill>
                  <a:srgbClr val="63748A"/>
                </a:solidFill>
                <a:latin typeface="Century Gothic"/>
                <a:cs typeface="Century Gothic"/>
              </a:rPr>
              <a:t>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60" dirty="0">
                <a:solidFill>
                  <a:srgbClr val="63748A"/>
                </a:solidFill>
                <a:latin typeface="Century Gothic"/>
                <a:cs typeface="Century Gothic"/>
              </a:rPr>
              <a:t>visão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20" dirty="0">
                <a:solidFill>
                  <a:srgbClr val="63748A"/>
                </a:solidFill>
                <a:latin typeface="Century Gothic"/>
                <a:cs typeface="Century Gothic"/>
              </a:rPr>
              <a:t>do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55" dirty="0">
                <a:solidFill>
                  <a:srgbClr val="63748A"/>
                </a:solidFill>
                <a:latin typeface="Century Gothic"/>
                <a:cs typeface="Century Gothic"/>
              </a:rPr>
              <a:t>usuário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 de</a:t>
            </a:r>
            <a:r>
              <a:rPr sz="1400" b="0" spc="-17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0" dirty="0">
                <a:solidFill>
                  <a:srgbClr val="63748A"/>
                </a:solidFill>
                <a:latin typeface="Century Gothic"/>
                <a:cs typeface="Century Gothic"/>
              </a:rPr>
              <a:t>telas.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543" y="1837944"/>
            <a:ext cx="8565459" cy="7821295"/>
          </a:xfrm>
          <a:custGeom>
            <a:avLst/>
            <a:gdLst/>
            <a:ahLst/>
            <a:cxnLst/>
            <a:rect l="l" t="t" r="r" b="b"/>
            <a:pathLst>
              <a:path w="8726805" h="7821295">
                <a:moveTo>
                  <a:pt x="8726423" y="7821167"/>
                </a:moveTo>
                <a:lnTo>
                  <a:pt x="0" y="7821167"/>
                </a:lnTo>
                <a:lnTo>
                  <a:pt x="0" y="0"/>
                </a:lnTo>
                <a:lnTo>
                  <a:pt x="8726423" y="0"/>
                </a:lnTo>
                <a:lnTo>
                  <a:pt x="8726423" y="238505"/>
                </a:lnTo>
                <a:lnTo>
                  <a:pt x="419480" y="238505"/>
                </a:lnTo>
                <a:lnTo>
                  <a:pt x="405406" y="239185"/>
                </a:lnTo>
                <a:lnTo>
                  <a:pt x="364805" y="249381"/>
                </a:lnTo>
                <a:lnTo>
                  <a:pt x="328885" y="270881"/>
                </a:lnTo>
                <a:lnTo>
                  <a:pt x="300662" y="301989"/>
                </a:lnTo>
                <a:lnTo>
                  <a:pt x="282722" y="339969"/>
                </a:lnTo>
                <a:lnTo>
                  <a:pt x="276605" y="381380"/>
                </a:lnTo>
                <a:lnTo>
                  <a:pt x="276605" y="7363205"/>
                </a:lnTo>
                <a:lnTo>
                  <a:pt x="282722" y="7404617"/>
                </a:lnTo>
                <a:lnTo>
                  <a:pt x="300662" y="7442597"/>
                </a:lnTo>
                <a:lnTo>
                  <a:pt x="328885" y="7473703"/>
                </a:lnTo>
                <a:lnTo>
                  <a:pt x="364805" y="7495202"/>
                </a:lnTo>
                <a:lnTo>
                  <a:pt x="405406" y="7505400"/>
                </a:lnTo>
                <a:lnTo>
                  <a:pt x="419480" y="7506080"/>
                </a:lnTo>
                <a:lnTo>
                  <a:pt x="8726423" y="7506080"/>
                </a:lnTo>
                <a:lnTo>
                  <a:pt x="8726423" y="7821167"/>
                </a:lnTo>
                <a:close/>
              </a:path>
              <a:path w="8726805" h="7821295">
                <a:moveTo>
                  <a:pt x="8726423" y="7506080"/>
                </a:moveTo>
                <a:lnTo>
                  <a:pt x="8306180" y="7506080"/>
                </a:lnTo>
                <a:lnTo>
                  <a:pt x="8320255" y="7505400"/>
                </a:lnTo>
                <a:lnTo>
                  <a:pt x="8334058" y="7503360"/>
                </a:lnTo>
                <a:lnTo>
                  <a:pt x="8373599" y="7489188"/>
                </a:lnTo>
                <a:lnTo>
                  <a:pt x="8407206" y="7464231"/>
                </a:lnTo>
                <a:lnTo>
                  <a:pt x="8432164" y="7430624"/>
                </a:lnTo>
                <a:lnTo>
                  <a:pt x="8446335" y="7391083"/>
                </a:lnTo>
                <a:lnTo>
                  <a:pt x="8449055" y="7363205"/>
                </a:lnTo>
                <a:lnTo>
                  <a:pt x="8449055" y="381380"/>
                </a:lnTo>
                <a:lnTo>
                  <a:pt x="8442936" y="339969"/>
                </a:lnTo>
                <a:lnTo>
                  <a:pt x="8424998" y="301989"/>
                </a:lnTo>
                <a:lnTo>
                  <a:pt x="8396774" y="270881"/>
                </a:lnTo>
                <a:lnTo>
                  <a:pt x="8360855" y="249381"/>
                </a:lnTo>
                <a:lnTo>
                  <a:pt x="8320255" y="239185"/>
                </a:lnTo>
                <a:lnTo>
                  <a:pt x="8306180" y="238505"/>
                </a:lnTo>
                <a:lnTo>
                  <a:pt x="8726423" y="238505"/>
                </a:lnTo>
                <a:lnTo>
                  <a:pt x="8726423" y="7506080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4387" y="2095500"/>
            <a:ext cx="8181975" cy="7253605"/>
          </a:xfrm>
          <a:custGeom>
            <a:avLst/>
            <a:gdLst/>
            <a:ahLst/>
            <a:cxnLst/>
            <a:rect l="l" t="t" r="r" b="b"/>
            <a:pathLst>
              <a:path w="8181975" h="7253605">
                <a:moveTo>
                  <a:pt x="8034337" y="7253287"/>
                </a:moveTo>
                <a:lnTo>
                  <a:pt x="147637" y="7253287"/>
                </a:lnTo>
                <a:lnTo>
                  <a:pt x="140383" y="7253110"/>
                </a:lnTo>
                <a:lnTo>
                  <a:pt x="97907" y="7244657"/>
                </a:lnTo>
                <a:lnTo>
                  <a:pt x="59681" y="7224227"/>
                </a:lnTo>
                <a:lnTo>
                  <a:pt x="29058" y="7193600"/>
                </a:lnTo>
                <a:lnTo>
                  <a:pt x="8624" y="7155375"/>
                </a:lnTo>
                <a:lnTo>
                  <a:pt x="176" y="7112904"/>
                </a:lnTo>
                <a:lnTo>
                  <a:pt x="0" y="7105650"/>
                </a:lnTo>
                <a:lnTo>
                  <a:pt x="0" y="115690"/>
                </a:lnTo>
                <a:lnTo>
                  <a:pt x="14944" y="68922"/>
                </a:lnTo>
                <a:lnTo>
                  <a:pt x="43243" y="36261"/>
                </a:lnTo>
                <a:lnTo>
                  <a:pt x="78040" y="14616"/>
                </a:lnTo>
                <a:lnTo>
                  <a:pt x="118833" y="2381"/>
                </a:lnTo>
                <a:lnTo>
                  <a:pt x="147637" y="0"/>
                </a:lnTo>
                <a:lnTo>
                  <a:pt x="8034337" y="0"/>
                </a:lnTo>
                <a:lnTo>
                  <a:pt x="8077192" y="5329"/>
                </a:lnTo>
                <a:lnTo>
                  <a:pt x="8116357" y="20869"/>
                </a:lnTo>
                <a:lnTo>
                  <a:pt x="8148463" y="45265"/>
                </a:lnTo>
                <a:lnTo>
                  <a:pt x="8174440" y="83943"/>
                </a:lnTo>
                <a:lnTo>
                  <a:pt x="8181975" y="115690"/>
                </a:lnTo>
                <a:lnTo>
                  <a:pt x="8181975" y="7105650"/>
                </a:lnTo>
                <a:lnTo>
                  <a:pt x="8175618" y="7148504"/>
                </a:lnTo>
                <a:lnTo>
                  <a:pt x="8157095" y="7187660"/>
                </a:lnTo>
                <a:lnTo>
                  <a:pt x="8127994" y="7219771"/>
                </a:lnTo>
                <a:lnTo>
                  <a:pt x="8090830" y="7242048"/>
                </a:lnTo>
                <a:lnTo>
                  <a:pt x="8048810" y="7252579"/>
                </a:lnTo>
                <a:lnTo>
                  <a:pt x="8034337" y="7253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24239" y="2066925"/>
            <a:ext cx="8162290" cy="117475"/>
          </a:xfrm>
          <a:custGeom>
            <a:avLst/>
            <a:gdLst/>
            <a:ahLst/>
            <a:cxnLst/>
            <a:rect l="l" t="t" r="r" b="b"/>
            <a:pathLst>
              <a:path w="8162290" h="117475">
                <a:moveTo>
                  <a:pt x="4963" y="117476"/>
                </a:moveTo>
                <a:lnTo>
                  <a:pt x="0" y="87692"/>
                </a:lnTo>
                <a:lnTo>
                  <a:pt x="3400" y="80486"/>
                </a:lnTo>
                <a:lnTo>
                  <a:pt x="11045" y="67715"/>
                </a:lnTo>
                <a:lnTo>
                  <a:pt x="41151" y="34533"/>
                </a:lnTo>
                <a:lnTo>
                  <a:pt x="79465" y="11600"/>
                </a:lnTo>
                <a:lnTo>
                  <a:pt x="122773" y="725"/>
                </a:lnTo>
                <a:lnTo>
                  <a:pt x="137785" y="0"/>
                </a:lnTo>
                <a:lnTo>
                  <a:pt x="8024485" y="0"/>
                </a:lnTo>
                <a:lnTo>
                  <a:pt x="8068658" y="6525"/>
                </a:lnTo>
                <a:lnTo>
                  <a:pt x="8109170" y="25659"/>
                </a:lnTo>
                <a:lnTo>
                  <a:pt x="8142350" y="55765"/>
                </a:lnTo>
                <a:lnTo>
                  <a:pt x="8143378" y="57150"/>
                </a:lnTo>
                <a:lnTo>
                  <a:pt x="137785" y="57150"/>
                </a:lnTo>
                <a:lnTo>
                  <a:pt x="123711" y="57603"/>
                </a:lnTo>
                <a:lnTo>
                  <a:pt x="83110" y="64401"/>
                </a:lnTo>
                <a:lnTo>
                  <a:pt x="47190" y="78734"/>
                </a:lnTo>
                <a:lnTo>
                  <a:pt x="11800" y="107454"/>
                </a:lnTo>
                <a:lnTo>
                  <a:pt x="5785" y="115948"/>
                </a:lnTo>
                <a:lnTo>
                  <a:pt x="4963" y="117476"/>
                </a:lnTo>
                <a:close/>
              </a:path>
              <a:path w="8162290" h="117475">
                <a:moveTo>
                  <a:pt x="8157307" y="117476"/>
                </a:moveTo>
                <a:lnTo>
                  <a:pt x="8125511" y="85048"/>
                </a:lnTo>
                <a:lnTo>
                  <a:pt x="8079160" y="64401"/>
                </a:lnTo>
                <a:lnTo>
                  <a:pt x="8038560" y="57603"/>
                </a:lnTo>
                <a:lnTo>
                  <a:pt x="8024485" y="57150"/>
                </a:lnTo>
                <a:lnTo>
                  <a:pt x="8143378" y="57150"/>
                </a:lnTo>
                <a:lnTo>
                  <a:pt x="8151223" y="67715"/>
                </a:lnTo>
                <a:lnTo>
                  <a:pt x="8158868" y="80486"/>
                </a:lnTo>
                <a:lnTo>
                  <a:pt x="8162270" y="87692"/>
                </a:lnTo>
                <a:lnTo>
                  <a:pt x="8157307" y="117476"/>
                </a:lnTo>
                <a:close/>
              </a:path>
            </a:pathLst>
          </a:custGeom>
          <a:solidFill>
            <a:srgbClr val="EE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9625" y="2154376"/>
            <a:ext cx="8191500" cy="7199630"/>
          </a:xfrm>
          <a:custGeom>
            <a:avLst/>
            <a:gdLst/>
            <a:ahLst/>
            <a:cxnLst/>
            <a:rect l="l" t="t" r="r" b="b"/>
            <a:pathLst>
              <a:path w="8191500" h="7199630">
                <a:moveTo>
                  <a:pt x="8191500" y="64947"/>
                </a:moveTo>
                <a:lnTo>
                  <a:pt x="8184972" y="20777"/>
                </a:lnTo>
                <a:lnTo>
                  <a:pt x="8176755" y="0"/>
                </a:lnTo>
                <a:lnTo>
                  <a:pt x="8171789" y="29806"/>
                </a:lnTo>
                <a:lnTo>
                  <a:pt x="8175853" y="37350"/>
                </a:lnTo>
                <a:lnTo>
                  <a:pt x="8179244" y="46367"/>
                </a:lnTo>
                <a:lnTo>
                  <a:pt x="8181289" y="55575"/>
                </a:lnTo>
                <a:lnTo>
                  <a:pt x="8181975" y="64947"/>
                </a:lnTo>
                <a:lnTo>
                  <a:pt x="8181975" y="7046773"/>
                </a:lnTo>
                <a:lnTo>
                  <a:pt x="8175853" y="7088187"/>
                </a:lnTo>
                <a:lnTo>
                  <a:pt x="8157908" y="7126173"/>
                </a:lnTo>
                <a:lnTo>
                  <a:pt x="8129689" y="7157275"/>
                </a:lnTo>
                <a:lnTo>
                  <a:pt x="8093773" y="7178776"/>
                </a:lnTo>
                <a:lnTo>
                  <a:pt x="8053171" y="7188975"/>
                </a:lnTo>
                <a:lnTo>
                  <a:pt x="8039100" y="7189660"/>
                </a:lnTo>
                <a:lnTo>
                  <a:pt x="152400" y="7189660"/>
                </a:lnTo>
                <a:lnTo>
                  <a:pt x="110985" y="7183539"/>
                </a:lnTo>
                <a:lnTo>
                  <a:pt x="72999" y="7165594"/>
                </a:lnTo>
                <a:lnTo>
                  <a:pt x="51866" y="7148258"/>
                </a:lnTo>
                <a:lnTo>
                  <a:pt x="26403" y="7114197"/>
                </a:lnTo>
                <a:lnTo>
                  <a:pt x="12242" y="7074662"/>
                </a:lnTo>
                <a:lnTo>
                  <a:pt x="9525" y="7046773"/>
                </a:lnTo>
                <a:lnTo>
                  <a:pt x="9525" y="64947"/>
                </a:lnTo>
                <a:lnTo>
                  <a:pt x="10198" y="55575"/>
                </a:lnTo>
                <a:lnTo>
                  <a:pt x="12242" y="46367"/>
                </a:lnTo>
                <a:lnTo>
                  <a:pt x="15633" y="37350"/>
                </a:lnTo>
                <a:lnTo>
                  <a:pt x="19697" y="29806"/>
                </a:lnTo>
                <a:lnTo>
                  <a:pt x="14732" y="0"/>
                </a:lnTo>
                <a:lnTo>
                  <a:pt x="723" y="49936"/>
                </a:lnTo>
                <a:lnTo>
                  <a:pt x="0" y="64947"/>
                </a:lnTo>
                <a:lnTo>
                  <a:pt x="0" y="7046773"/>
                </a:lnTo>
                <a:lnTo>
                  <a:pt x="6515" y="7090956"/>
                </a:lnTo>
                <a:lnTo>
                  <a:pt x="25654" y="7131456"/>
                </a:lnTo>
                <a:lnTo>
                  <a:pt x="44678" y="7154494"/>
                </a:lnTo>
                <a:lnTo>
                  <a:pt x="80479" y="7181164"/>
                </a:lnTo>
                <a:lnTo>
                  <a:pt x="122656" y="7196277"/>
                </a:lnTo>
                <a:lnTo>
                  <a:pt x="152400" y="7199185"/>
                </a:lnTo>
                <a:lnTo>
                  <a:pt x="8039100" y="7199185"/>
                </a:lnTo>
                <a:lnTo>
                  <a:pt x="8083258" y="7192658"/>
                </a:lnTo>
                <a:lnTo>
                  <a:pt x="8123783" y="7173519"/>
                </a:lnTo>
                <a:lnTo>
                  <a:pt x="8146859" y="7154545"/>
                </a:lnTo>
                <a:lnTo>
                  <a:pt x="8156956" y="7143407"/>
                </a:lnTo>
                <a:lnTo>
                  <a:pt x="8179892" y="7105104"/>
                </a:lnTo>
                <a:lnTo>
                  <a:pt x="8190763" y="7061797"/>
                </a:lnTo>
                <a:lnTo>
                  <a:pt x="8191500" y="7046773"/>
                </a:lnTo>
                <a:lnTo>
                  <a:pt x="8191500" y="64947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24725" y="2409826"/>
            <a:ext cx="1400175" cy="219075"/>
          </a:xfrm>
          <a:custGeom>
            <a:avLst/>
            <a:gdLst/>
            <a:ahLst/>
            <a:cxnLst/>
            <a:rect l="l" t="t" r="r" b="b"/>
            <a:pathLst>
              <a:path w="1400175" h="219075">
                <a:moveTo>
                  <a:pt x="1346777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77"/>
                </a:lnTo>
                <a:lnTo>
                  <a:pt x="53397" y="0"/>
                </a:lnTo>
                <a:lnTo>
                  <a:pt x="1346777" y="0"/>
                </a:lnTo>
                <a:lnTo>
                  <a:pt x="1386087" y="19383"/>
                </a:lnTo>
                <a:lnTo>
                  <a:pt x="1400175" y="53397"/>
                </a:lnTo>
                <a:lnTo>
                  <a:pt x="1400175" y="165677"/>
                </a:lnTo>
                <a:lnTo>
                  <a:pt x="1380782" y="204987"/>
                </a:lnTo>
                <a:lnTo>
                  <a:pt x="1350492" y="218703"/>
                </a:lnTo>
                <a:lnTo>
                  <a:pt x="1346777" y="219075"/>
                </a:lnTo>
                <a:close/>
              </a:path>
            </a:pathLst>
          </a:custGeom>
          <a:solidFill>
            <a:srgbClr val="FD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315200" y="2421446"/>
            <a:ext cx="1529208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B81C1C"/>
                </a:solidFill>
                <a:latin typeface="Century Gothic"/>
                <a:cs typeface="Century Gothic"/>
              </a:rPr>
              <a:t>LIMITAÇÃO EXTREMA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8060" y="2229811"/>
            <a:ext cx="5660231" cy="7418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b="1" dirty="0">
                <a:solidFill>
                  <a:srgbClr val="EE4444"/>
                </a:solidFill>
                <a:latin typeface="Arial"/>
                <a:cs typeface="Arial"/>
              </a:rPr>
              <a:t>Lentes Prontas (Estoque)</a:t>
            </a:r>
            <a:endParaRPr sz="1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Blocos industriais pré-moldados para dioptrias padronizadas.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81710" y="2994130"/>
            <a:ext cx="8162290" cy="1250983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❌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Curvas Esféricas Fixas: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Não consideram a posição de uso, inclinação pantoscópica ou armação.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❌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Aberrações Periféricas: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Distorções progressivas nas bordas da lente, causando desconforto lateral.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❌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Zero Compensação para Perto: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Obriga o cristalino a fazer 100% da acomodação o dia todo.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❌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Comoditização: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Produto de baixo valor agregado onde a loja disputa centavos com concorrentes.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85850" y="8343900"/>
            <a:ext cx="7639050" cy="733425"/>
            <a:chOff x="1085850" y="8343900"/>
            <a:chExt cx="7639050" cy="733425"/>
          </a:xfrm>
        </p:grpSpPr>
        <p:sp>
          <p:nvSpPr>
            <p:cNvPr id="15" name="object 15"/>
            <p:cNvSpPr/>
            <p:nvPr/>
          </p:nvSpPr>
          <p:spPr>
            <a:xfrm>
              <a:off x="1104900" y="8343901"/>
              <a:ext cx="7620000" cy="733425"/>
            </a:xfrm>
            <a:custGeom>
              <a:avLst/>
              <a:gdLst/>
              <a:ahLst/>
              <a:cxnLst/>
              <a:rect l="l" t="t" r="r" b="b"/>
              <a:pathLst>
                <a:path w="7620000" h="733425">
                  <a:moveTo>
                    <a:pt x="7513205" y="733425"/>
                  </a:moveTo>
                  <a:lnTo>
                    <a:pt x="0" y="733425"/>
                  </a:lnTo>
                  <a:lnTo>
                    <a:pt x="0" y="0"/>
                  </a:lnTo>
                  <a:lnTo>
                    <a:pt x="7513205" y="0"/>
                  </a:lnTo>
                  <a:lnTo>
                    <a:pt x="7520635" y="733"/>
                  </a:lnTo>
                  <a:lnTo>
                    <a:pt x="7562964" y="15087"/>
                  </a:lnTo>
                  <a:lnTo>
                    <a:pt x="7596568" y="44548"/>
                  </a:lnTo>
                  <a:lnTo>
                    <a:pt x="7616342" y="84629"/>
                  </a:lnTo>
                  <a:lnTo>
                    <a:pt x="7620000" y="106794"/>
                  </a:lnTo>
                  <a:lnTo>
                    <a:pt x="7620000" y="626630"/>
                  </a:lnTo>
                  <a:lnTo>
                    <a:pt x="7608427" y="669788"/>
                  </a:lnTo>
                  <a:lnTo>
                    <a:pt x="7581214" y="705250"/>
                  </a:lnTo>
                  <a:lnTo>
                    <a:pt x="7542504" y="727586"/>
                  </a:lnTo>
                  <a:lnTo>
                    <a:pt x="7513205" y="733425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85850" y="8343900"/>
              <a:ext cx="38100" cy="733425"/>
            </a:xfrm>
            <a:custGeom>
              <a:avLst/>
              <a:gdLst/>
              <a:ahLst/>
              <a:cxnLst/>
              <a:rect l="l" t="t" r="r" b="b"/>
              <a:pathLst>
                <a:path w="38100" h="733425">
                  <a:moveTo>
                    <a:pt x="38100" y="733425"/>
                  </a:moveTo>
                  <a:lnTo>
                    <a:pt x="0" y="733425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33425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301750" y="8470374"/>
            <a:ext cx="7143115" cy="45465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20"/>
              </a:spcBef>
            </a:pPr>
            <a:r>
              <a:rPr sz="1350" b="1" dirty="0">
                <a:solidFill>
                  <a:srgbClr val="0F162A"/>
                </a:solidFill>
                <a:latin typeface="Century Gothic"/>
                <a:cs typeface="Century Gothic"/>
              </a:rPr>
              <a:t>Veredito: </a:t>
            </a:r>
            <a:r>
              <a:rPr sz="1350" dirty="0">
                <a:solidFill>
                  <a:srgbClr val="0F162A"/>
                </a:solidFill>
                <a:latin typeface="Arial"/>
                <a:cs typeface="Arial"/>
              </a:rPr>
              <a:t>Servem como lente provisória ou de emergência, mas são inadequadas para a rotina digital de qualquer cliente atual.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60202" y="1837944"/>
            <a:ext cx="8585634" cy="7821295"/>
          </a:xfrm>
          <a:custGeom>
            <a:avLst/>
            <a:gdLst/>
            <a:ahLst/>
            <a:cxnLst/>
            <a:rect l="l" t="t" r="r" b="b"/>
            <a:pathLst>
              <a:path w="8726805" h="7821295">
                <a:moveTo>
                  <a:pt x="8726423" y="7821167"/>
                </a:moveTo>
                <a:lnTo>
                  <a:pt x="0" y="7821167"/>
                </a:lnTo>
                <a:lnTo>
                  <a:pt x="0" y="0"/>
                </a:lnTo>
                <a:lnTo>
                  <a:pt x="8726423" y="0"/>
                </a:lnTo>
                <a:lnTo>
                  <a:pt x="8726423" y="238505"/>
                </a:lnTo>
                <a:lnTo>
                  <a:pt x="420242" y="238505"/>
                </a:lnTo>
                <a:lnTo>
                  <a:pt x="406168" y="239185"/>
                </a:lnTo>
                <a:lnTo>
                  <a:pt x="365567" y="249381"/>
                </a:lnTo>
                <a:lnTo>
                  <a:pt x="329647" y="270881"/>
                </a:lnTo>
                <a:lnTo>
                  <a:pt x="301423" y="301989"/>
                </a:lnTo>
                <a:lnTo>
                  <a:pt x="283484" y="339969"/>
                </a:lnTo>
                <a:lnTo>
                  <a:pt x="277367" y="381380"/>
                </a:lnTo>
                <a:lnTo>
                  <a:pt x="277367" y="7363205"/>
                </a:lnTo>
                <a:lnTo>
                  <a:pt x="283484" y="7404617"/>
                </a:lnTo>
                <a:lnTo>
                  <a:pt x="301423" y="7442597"/>
                </a:lnTo>
                <a:lnTo>
                  <a:pt x="329647" y="7473703"/>
                </a:lnTo>
                <a:lnTo>
                  <a:pt x="365564" y="7495202"/>
                </a:lnTo>
                <a:lnTo>
                  <a:pt x="406168" y="7505400"/>
                </a:lnTo>
                <a:lnTo>
                  <a:pt x="420242" y="7506080"/>
                </a:lnTo>
                <a:lnTo>
                  <a:pt x="8726423" y="7506080"/>
                </a:lnTo>
                <a:lnTo>
                  <a:pt x="8726423" y="7821167"/>
                </a:lnTo>
                <a:close/>
              </a:path>
              <a:path w="8726805" h="7821295">
                <a:moveTo>
                  <a:pt x="8726423" y="7506080"/>
                </a:moveTo>
                <a:lnTo>
                  <a:pt x="8306942" y="7506080"/>
                </a:lnTo>
                <a:lnTo>
                  <a:pt x="8321015" y="7505400"/>
                </a:lnTo>
                <a:lnTo>
                  <a:pt x="8334819" y="7503360"/>
                </a:lnTo>
                <a:lnTo>
                  <a:pt x="8374359" y="7489188"/>
                </a:lnTo>
                <a:lnTo>
                  <a:pt x="8407968" y="7464231"/>
                </a:lnTo>
                <a:lnTo>
                  <a:pt x="8432924" y="7430624"/>
                </a:lnTo>
                <a:lnTo>
                  <a:pt x="8447097" y="7391083"/>
                </a:lnTo>
                <a:lnTo>
                  <a:pt x="8449817" y="7363205"/>
                </a:lnTo>
                <a:lnTo>
                  <a:pt x="8449817" y="381380"/>
                </a:lnTo>
                <a:lnTo>
                  <a:pt x="8443698" y="339969"/>
                </a:lnTo>
                <a:lnTo>
                  <a:pt x="8425758" y="301989"/>
                </a:lnTo>
                <a:lnTo>
                  <a:pt x="8397536" y="270881"/>
                </a:lnTo>
                <a:lnTo>
                  <a:pt x="8361617" y="249381"/>
                </a:lnTo>
                <a:lnTo>
                  <a:pt x="8321015" y="239185"/>
                </a:lnTo>
                <a:lnTo>
                  <a:pt x="8306942" y="238505"/>
                </a:lnTo>
                <a:lnTo>
                  <a:pt x="8726423" y="238505"/>
                </a:lnTo>
                <a:lnTo>
                  <a:pt x="8726423" y="7506080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291637" y="2095500"/>
            <a:ext cx="8181975" cy="7253605"/>
          </a:xfrm>
          <a:custGeom>
            <a:avLst/>
            <a:gdLst/>
            <a:ahLst/>
            <a:cxnLst/>
            <a:rect l="l" t="t" r="r" b="b"/>
            <a:pathLst>
              <a:path w="8181975" h="7253605">
                <a:moveTo>
                  <a:pt x="8034337" y="7253287"/>
                </a:moveTo>
                <a:lnTo>
                  <a:pt x="147637" y="7253287"/>
                </a:lnTo>
                <a:lnTo>
                  <a:pt x="140383" y="7253110"/>
                </a:lnTo>
                <a:lnTo>
                  <a:pt x="97907" y="7244657"/>
                </a:lnTo>
                <a:lnTo>
                  <a:pt x="59681" y="7224227"/>
                </a:lnTo>
                <a:lnTo>
                  <a:pt x="29058" y="7193600"/>
                </a:lnTo>
                <a:lnTo>
                  <a:pt x="8624" y="7155375"/>
                </a:lnTo>
                <a:lnTo>
                  <a:pt x="176" y="7112904"/>
                </a:lnTo>
                <a:lnTo>
                  <a:pt x="0" y="7105650"/>
                </a:lnTo>
                <a:lnTo>
                  <a:pt x="0" y="115690"/>
                </a:lnTo>
                <a:lnTo>
                  <a:pt x="14944" y="68922"/>
                </a:lnTo>
                <a:lnTo>
                  <a:pt x="43243" y="36261"/>
                </a:lnTo>
                <a:lnTo>
                  <a:pt x="78040" y="14616"/>
                </a:lnTo>
                <a:lnTo>
                  <a:pt x="118833" y="2381"/>
                </a:lnTo>
                <a:lnTo>
                  <a:pt x="147637" y="0"/>
                </a:lnTo>
                <a:lnTo>
                  <a:pt x="8034337" y="0"/>
                </a:lnTo>
                <a:lnTo>
                  <a:pt x="8077192" y="5329"/>
                </a:lnTo>
                <a:lnTo>
                  <a:pt x="8116357" y="20869"/>
                </a:lnTo>
                <a:lnTo>
                  <a:pt x="8148463" y="45265"/>
                </a:lnTo>
                <a:lnTo>
                  <a:pt x="8174440" y="83943"/>
                </a:lnTo>
                <a:lnTo>
                  <a:pt x="8181975" y="115690"/>
                </a:lnTo>
                <a:lnTo>
                  <a:pt x="8181975" y="7105650"/>
                </a:lnTo>
                <a:lnTo>
                  <a:pt x="8175614" y="7148504"/>
                </a:lnTo>
                <a:lnTo>
                  <a:pt x="8157095" y="7187660"/>
                </a:lnTo>
                <a:lnTo>
                  <a:pt x="8127994" y="7219771"/>
                </a:lnTo>
                <a:lnTo>
                  <a:pt x="8090830" y="7242048"/>
                </a:lnTo>
                <a:lnTo>
                  <a:pt x="8048810" y="7252579"/>
                </a:lnTo>
                <a:lnTo>
                  <a:pt x="8034337" y="72532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301491" y="2066925"/>
            <a:ext cx="8162290" cy="117475"/>
          </a:xfrm>
          <a:custGeom>
            <a:avLst/>
            <a:gdLst/>
            <a:ahLst/>
            <a:cxnLst/>
            <a:rect l="l" t="t" r="r" b="b"/>
            <a:pathLst>
              <a:path w="8162290" h="117475">
                <a:moveTo>
                  <a:pt x="4964" y="117473"/>
                </a:moveTo>
                <a:lnTo>
                  <a:pt x="0" y="87689"/>
                </a:lnTo>
                <a:lnTo>
                  <a:pt x="3399" y="80486"/>
                </a:lnTo>
                <a:lnTo>
                  <a:pt x="11043" y="67715"/>
                </a:lnTo>
                <a:lnTo>
                  <a:pt x="41148" y="34533"/>
                </a:lnTo>
                <a:lnTo>
                  <a:pt x="79460" y="11600"/>
                </a:lnTo>
                <a:lnTo>
                  <a:pt x="122770" y="725"/>
                </a:lnTo>
                <a:lnTo>
                  <a:pt x="137784" y="0"/>
                </a:lnTo>
                <a:lnTo>
                  <a:pt x="8024484" y="0"/>
                </a:lnTo>
                <a:lnTo>
                  <a:pt x="8068655" y="6525"/>
                </a:lnTo>
                <a:lnTo>
                  <a:pt x="8109167" y="25659"/>
                </a:lnTo>
                <a:lnTo>
                  <a:pt x="8142348" y="55765"/>
                </a:lnTo>
                <a:lnTo>
                  <a:pt x="8143376" y="57150"/>
                </a:lnTo>
                <a:lnTo>
                  <a:pt x="137784" y="57150"/>
                </a:lnTo>
                <a:lnTo>
                  <a:pt x="123709" y="57603"/>
                </a:lnTo>
                <a:lnTo>
                  <a:pt x="83109" y="64401"/>
                </a:lnTo>
                <a:lnTo>
                  <a:pt x="47188" y="78734"/>
                </a:lnTo>
                <a:lnTo>
                  <a:pt x="11798" y="107454"/>
                </a:lnTo>
                <a:lnTo>
                  <a:pt x="5784" y="115948"/>
                </a:lnTo>
                <a:lnTo>
                  <a:pt x="4964" y="117473"/>
                </a:lnTo>
                <a:close/>
              </a:path>
              <a:path w="8162290" h="117475">
                <a:moveTo>
                  <a:pt x="8157306" y="117473"/>
                </a:moveTo>
                <a:lnTo>
                  <a:pt x="8125510" y="85048"/>
                </a:lnTo>
                <a:lnTo>
                  <a:pt x="8079159" y="64401"/>
                </a:lnTo>
                <a:lnTo>
                  <a:pt x="8038557" y="57603"/>
                </a:lnTo>
                <a:lnTo>
                  <a:pt x="8024484" y="57150"/>
                </a:lnTo>
                <a:lnTo>
                  <a:pt x="8143376" y="57150"/>
                </a:lnTo>
                <a:lnTo>
                  <a:pt x="8151222" y="67715"/>
                </a:lnTo>
                <a:lnTo>
                  <a:pt x="8158866" y="80486"/>
                </a:lnTo>
                <a:lnTo>
                  <a:pt x="8162265" y="87689"/>
                </a:lnTo>
                <a:lnTo>
                  <a:pt x="8157306" y="117473"/>
                </a:lnTo>
                <a:close/>
              </a:path>
            </a:pathLst>
          </a:custGeom>
          <a:solidFill>
            <a:srgbClr val="F59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286875" y="2154376"/>
            <a:ext cx="8191500" cy="7199630"/>
          </a:xfrm>
          <a:custGeom>
            <a:avLst/>
            <a:gdLst/>
            <a:ahLst/>
            <a:cxnLst/>
            <a:rect l="l" t="t" r="r" b="b"/>
            <a:pathLst>
              <a:path w="8191500" h="7199630">
                <a:moveTo>
                  <a:pt x="8191500" y="64947"/>
                </a:moveTo>
                <a:lnTo>
                  <a:pt x="8184959" y="20777"/>
                </a:lnTo>
                <a:lnTo>
                  <a:pt x="8176755" y="0"/>
                </a:lnTo>
                <a:lnTo>
                  <a:pt x="8171789" y="29806"/>
                </a:lnTo>
                <a:lnTo>
                  <a:pt x="8175853" y="37350"/>
                </a:lnTo>
                <a:lnTo>
                  <a:pt x="8179244" y="46367"/>
                </a:lnTo>
                <a:lnTo>
                  <a:pt x="8181289" y="55575"/>
                </a:lnTo>
                <a:lnTo>
                  <a:pt x="8181975" y="64947"/>
                </a:lnTo>
                <a:lnTo>
                  <a:pt x="8181975" y="7046773"/>
                </a:lnTo>
                <a:lnTo>
                  <a:pt x="8175853" y="7088187"/>
                </a:lnTo>
                <a:lnTo>
                  <a:pt x="8157908" y="7126173"/>
                </a:lnTo>
                <a:lnTo>
                  <a:pt x="8129689" y="7157275"/>
                </a:lnTo>
                <a:lnTo>
                  <a:pt x="8093773" y="7178776"/>
                </a:lnTo>
                <a:lnTo>
                  <a:pt x="8053171" y="7188975"/>
                </a:lnTo>
                <a:lnTo>
                  <a:pt x="8039100" y="7189660"/>
                </a:lnTo>
                <a:lnTo>
                  <a:pt x="152400" y="7189660"/>
                </a:lnTo>
                <a:lnTo>
                  <a:pt x="110985" y="7183539"/>
                </a:lnTo>
                <a:lnTo>
                  <a:pt x="72999" y="7165594"/>
                </a:lnTo>
                <a:lnTo>
                  <a:pt x="51866" y="7148258"/>
                </a:lnTo>
                <a:lnTo>
                  <a:pt x="26403" y="7114197"/>
                </a:lnTo>
                <a:lnTo>
                  <a:pt x="12242" y="7074662"/>
                </a:lnTo>
                <a:lnTo>
                  <a:pt x="9525" y="7046773"/>
                </a:lnTo>
                <a:lnTo>
                  <a:pt x="9525" y="64947"/>
                </a:lnTo>
                <a:lnTo>
                  <a:pt x="10198" y="55575"/>
                </a:lnTo>
                <a:lnTo>
                  <a:pt x="12242" y="46367"/>
                </a:lnTo>
                <a:lnTo>
                  <a:pt x="15633" y="37350"/>
                </a:lnTo>
                <a:lnTo>
                  <a:pt x="19697" y="29806"/>
                </a:lnTo>
                <a:lnTo>
                  <a:pt x="14732" y="0"/>
                </a:lnTo>
                <a:lnTo>
                  <a:pt x="723" y="49936"/>
                </a:lnTo>
                <a:lnTo>
                  <a:pt x="0" y="64947"/>
                </a:lnTo>
                <a:lnTo>
                  <a:pt x="0" y="7046773"/>
                </a:lnTo>
                <a:lnTo>
                  <a:pt x="6515" y="7090956"/>
                </a:lnTo>
                <a:lnTo>
                  <a:pt x="25654" y="7131456"/>
                </a:lnTo>
                <a:lnTo>
                  <a:pt x="44665" y="7154507"/>
                </a:lnTo>
                <a:lnTo>
                  <a:pt x="80479" y="7181164"/>
                </a:lnTo>
                <a:lnTo>
                  <a:pt x="122656" y="7196277"/>
                </a:lnTo>
                <a:lnTo>
                  <a:pt x="152400" y="7199185"/>
                </a:lnTo>
                <a:lnTo>
                  <a:pt x="8039100" y="7199185"/>
                </a:lnTo>
                <a:lnTo>
                  <a:pt x="8083258" y="7192658"/>
                </a:lnTo>
                <a:lnTo>
                  <a:pt x="8123771" y="7173519"/>
                </a:lnTo>
                <a:lnTo>
                  <a:pt x="8146859" y="7154545"/>
                </a:lnTo>
                <a:lnTo>
                  <a:pt x="8156956" y="7143407"/>
                </a:lnTo>
                <a:lnTo>
                  <a:pt x="8179892" y="7105104"/>
                </a:lnTo>
                <a:lnTo>
                  <a:pt x="8190763" y="7061797"/>
                </a:lnTo>
                <a:lnTo>
                  <a:pt x="8191500" y="7046773"/>
                </a:lnTo>
                <a:lnTo>
                  <a:pt x="8191500" y="64947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887700" y="2409826"/>
            <a:ext cx="1314450" cy="219075"/>
          </a:xfrm>
          <a:custGeom>
            <a:avLst/>
            <a:gdLst/>
            <a:ahLst/>
            <a:cxnLst/>
            <a:rect l="l" t="t" r="r" b="b"/>
            <a:pathLst>
              <a:path w="1314450" h="219075">
                <a:moveTo>
                  <a:pt x="1261052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77"/>
                </a:lnTo>
                <a:lnTo>
                  <a:pt x="53397" y="0"/>
                </a:lnTo>
                <a:lnTo>
                  <a:pt x="1261052" y="0"/>
                </a:lnTo>
                <a:lnTo>
                  <a:pt x="1300362" y="19383"/>
                </a:lnTo>
                <a:lnTo>
                  <a:pt x="1314450" y="53397"/>
                </a:lnTo>
                <a:lnTo>
                  <a:pt x="1314450" y="165677"/>
                </a:lnTo>
                <a:lnTo>
                  <a:pt x="1295057" y="204987"/>
                </a:lnTo>
                <a:lnTo>
                  <a:pt x="1264767" y="218703"/>
                </a:lnTo>
                <a:lnTo>
                  <a:pt x="1261052" y="219075"/>
                </a:lnTo>
                <a:close/>
              </a:path>
            </a:pathLst>
          </a:custGeom>
          <a:solidFill>
            <a:srgbClr val="FDF3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5939900" y="2421446"/>
            <a:ext cx="131445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B45308"/>
                </a:solidFill>
                <a:latin typeface="Century Gothic"/>
                <a:cs typeface="Century Gothic"/>
              </a:rPr>
              <a:t>SOLUÇÃO PARCIAL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550398" y="2229811"/>
            <a:ext cx="6787966" cy="7418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b="1" dirty="0">
                <a:solidFill>
                  <a:srgbClr val="F59E0A"/>
                </a:solidFill>
                <a:latin typeface="Arial"/>
                <a:cs typeface="Arial"/>
              </a:rPr>
              <a:t>Visão Simples Surfaçada Genérica</a:t>
            </a:r>
            <a:endParaRPr sz="1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Lentes surfaçadas digitalmente, porém com grau estático e uniforme.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49657" y="3090151"/>
            <a:ext cx="5590415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Aplica a mesma potência de longe em toda a superfície da lente.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50398" y="2994130"/>
            <a:ext cx="1955802" cy="807272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87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Dioptria Uniforme:</a:t>
            </a:r>
            <a:endParaRPr sz="1350" dirty="0">
              <a:latin typeface="Century Gothic"/>
              <a:cs typeface="Century Gothic"/>
            </a:endParaRPr>
          </a:p>
          <a:p>
            <a:pPr marL="307975" marR="152400" indent="-295275" algn="l">
              <a:lnSpc>
                <a:spcPts val="1430"/>
              </a:lnSpc>
              <a:spcBef>
                <a:spcPts val="98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Ignora a Zona de Convergência: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343451" y="3422459"/>
            <a:ext cx="5163501" cy="40139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30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Não prevê o movimento descendente dos olhos para telas de smartphone.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50399" y="3775180"/>
            <a:ext cx="7960477" cy="630301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Fadiga Residual: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 cliente enxerga nítido longe, mas continua reclamando de peso ocular às 17h.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Falta de Diferenciação: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 cliente não sente que comprou algo tecnológico ou inovador.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563100" y="8343900"/>
            <a:ext cx="7639050" cy="733425"/>
            <a:chOff x="9563100" y="8343900"/>
            <a:chExt cx="7639050" cy="733425"/>
          </a:xfrm>
        </p:grpSpPr>
        <p:sp>
          <p:nvSpPr>
            <p:cNvPr id="31" name="object 31"/>
            <p:cNvSpPr/>
            <p:nvPr/>
          </p:nvSpPr>
          <p:spPr>
            <a:xfrm>
              <a:off x="9582150" y="8343901"/>
              <a:ext cx="7620000" cy="733425"/>
            </a:xfrm>
            <a:custGeom>
              <a:avLst/>
              <a:gdLst/>
              <a:ahLst/>
              <a:cxnLst/>
              <a:rect l="l" t="t" r="r" b="b"/>
              <a:pathLst>
                <a:path w="7620000" h="733425">
                  <a:moveTo>
                    <a:pt x="7513205" y="733425"/>
                  </a:moveTo>
                  <a:lnTo>
                    <a:pt x="0" y="733425"/>
                  </a:lnTo>
                  <a:lnTo>
                    <a:pt x="0" y="0"/>
                  </a:lnTo>
                  <a:lnTo>
                    <a:pt x="7513205" y="0"/>
                  </a:lnTo>
                  <a:lnTo>
                    <a:pt x="7520635" y="733"/>
                  </a:lnTo>
                  <a:lnTo>
                    <a:pt x="7562954" y="15087"/>
                  </a:lnTo>
                  <a:lnTo>
                    <a:pt x="7596568" y="44548"/>
                  </a:lnTo>
                  <a:lnTo>
                    <a:pt x="7616332" y="84629"/>
                  </a:lnTo>
                  <a:lnTo>
                    <a:pt x="7620000" y="106794"/>
                  </a:lnTo>
                  <a:lnTo>
                    <a:pt x="7620000" y="626630"/>
                  </a:lnTo>
                  <a:lnTo>
                    <a:pt x="7608427" y="669788"/>
                  </a:lnTo>
                  <a:lnTo>
                    <a:pt x="7581214" y="705250"/>
                  </a:lnTo>
                  <a:lnTo>
                    <a:pt x="7542504" y="727586"/>
                  </a:lnTo>
                  <a:lnTo>
                    <a:pt x="7513205" y="733425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563100" y="8343900"/>
              <a:ext cx="38100" cy="733425"/>
            </a:xfrm>
            <a:custGeom>
              <a:avLst/>
              <a:gdLst/>
              <a:ahLst/>
              <a:cxnLst/>
              <a:rect l="l" t="t" r="r" b="b"/>
              <a:pathLst>
                <a:path w="38100" h="733425">
                  <a:moveTo>
                    <a:pt x="38100" y="733425"/>
                  </a:moveTo>
                  <a:lnTo>
                    <a:pt x="0" y="733425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33425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779000" y="8470374"/>
            <a:ext cx="6451600" cy="454659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500"/>
              </a:lnSpc>
              <a:spcBef>
                <a:spcPts val="20"/>
              </a:spcBef>
            </a:pPr>
            <a:r>
              <a:rPr sz="1350" b="1" dirty="0">
                <a:solidFill>
                  <a:srgbClr val="0F162A"/>
                </a:solidFill>
                <a:latin typeface="Century Gothic"/>
                <a:cs typeface="Century Gothic"/>
              </a:rPr>
              <a:t>Veredito: </a:t>
            </a:r>
            <a:r>
              <a:rPr sz="1350" dirty="0">
                <a:solidFill>
                  <a:srgbClr val="0F162A"/>
                </a:solidFill>
                <a:latin typeface="Arial"/>
                <a:cs typeface="Arial"/>
              </a:rPr>
              <a:t>Boa para quem não usa telas, mas ultrapassada para os 95% dos clientes que vivem conectados.</a:t>
            </a:r>
            <a:endParaRPr sz="13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96924" y="9491250"/>
            <a:ext cx="32416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1 • Limitações de Lentes Comuns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37" name="object 3">
            <a:extLst>
              <a:ext uri="{FF2B5EF4-FFF2-40B4-BE49-F238E27FC236}">
                <a16:creationId xmlns:a16="http://schemas.microsoft.com/office/drawing/2014/main" id="{DFE0CDB8-E309-4CEB-AB95-4C3095281FAD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38" name="object 4">
              <a:extLst>
                <a:ext uri="{FF2B5EF4-FFF2-40B4-BE49-F238E27FC236}">
                  <a16:creationId xmlns:a16="http://schemas.microsoft.com/office/drawing/2014/main" id="{62A6E289-208D-4E1A-94F7-8DAE355C63D6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5">
              <a:extLst>
                <a:ext uri="{FF2B5EF4-FFF2-40B4-BE49-F238E27FC236}">
                  <a16:creationId xmlns:a16="http://schemas.microsoft.com/office/drawing/2014/main" id="{9F07F886-1EBB-4233-B4E9-C864CA6517CD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6">
            <a:extLst>
              <a:ext uri="{FF2B5EF4-FFF2-40B4-BE49-F238E27FC236}">
                <a16:creationId xmlns:a16="http://schemas.microsoft.com/office/drawing/2014/main" id="{7DC9A339-7165-471F-A132-7F55C77D5295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3048000" cy="266700"/>
          </a:xfrm>
          <a:custGeom>
            <a:avLst/>
            <a:gdLst/>
            <a:ahLst/>
            <a:cxnLst/>
            <a:rect l="l" t="t" r="r" b="b"/>
            <a:pathLst>
              <a:path w="3048000" h="266700">
                <a:moveTo>
                  <a:pt x="291465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5"/>
                </a:lnTo>
                <a:lnTo>
                  <a:pt x="53908" y="240447"/>
                </a:lnTo>
                <a:lnTo>
                  <a:pt x="26243" y="212787"/>
                </a:lnTo>
                <a:lnTo>
                  <a:pt x="7792" y="178262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28"/>
                </a:lnTo>
                <a:lnTo>
                  <a:pt x="26243" y="53898"/>
                </a:lnTo>
                <a:lnTo>
                  <a:pt x="53908" y="26243"/>
                </a:lnTo>
                <a:lnTo>
                  <a:pt x="88432" y="7784"/>
                </a:lnTo>
                <a:lnTo>
                  <a:pt x="126799" y="160"/>
                </a:lnTo>
                <a:lnTo>
                  <a:pt x="133350" y="0"/>
                </a:lnTo>
                <a:lnTo>
                  <a:pt x="2914650" y="0"/>
                </a:lnTo>
                <a:lnTo>
                  <a:pt x="2953359" y="5735"/>
                </a:lnTo>
                <a:lnTo>
                  <a:pt x="2988735" y="22469"/>
                </a:lnTo>
                <a:lnTo>
                  <a:pt x="3017730" y="48746"/>
                </a:lnTo>
                <a:lnTo>
                  <a:pt x="3037846" y="82315"/>
                </a:lnTo>
                <a:lnTo>
                  <a:pt x="3047358" y="120279"/>
                </a:lnTo>
                <a:lnTo>
                  <a:pt x="3048000" y="133350"/>
                </a:lnTo>
                <a:lnTo>
                  <a:pt x="3047839" y="139899"/>
                </a:lnTo>
                <a:lnTo>
                  <a:pt x="3040207" y="178254"/>
                </a:lnTo>
                <a:lnTo>
                  <a:pt x="3021755" y="212787"/>
                </a:lnTo>
                <a:lnTo>
                  <a:pt x="2994091" y="240447"/>
                </a:lnTo>
                <a:lnTo>
                  <a:pt x="2959567" y="258905"/>
                </a:lnTo>
                <a:lnTo>
                  <a:pt x="2921200" y="266539"/>
                </a:lnTo>
                <a:lnTo>
                  <a:pt x="291465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76542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1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2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:</a:t>
            </a:r>
            <a:r>
              <a:rPr sz="1100" b="1" spc="5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8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r>
              <a:rPr sz="1100" b="1" spc="1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CON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0" dirty="0">
                <a:solidFill>
                  <a:srgbClr val="0284C6"/>
                </a:solidFill>
                <a:latin typeface="Century Gothic"/>
                <a:cs typeface="Century Gothic"/>
              </a:rPr>
              <a:t>CE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TO</a:t>
            </a:r>
            <a:r>
              <a:rPr sz="1100" b="1" spc="2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VOLUCI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60" dirty="0">
                <a:solidFill>
                  <a:srgbClr val="0284C6"/>
                </a:solidFill>
                <a:latin typeface="Century Gothic"/>
                <a:cs typeface="Century Gothic"/>
              </a:rPr>
              <a:t>ON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30" dirty="0">
                <a:solidFill>
                  <a:srgbClr val="0284C6"/>
                </a:solidFill>
                <a:latin typeface="Century Gothic"/>
                <a:cs typeface="Century Gothic"/>
              </a:rPr>
              <a:t>ÁR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4" y="768592"/>
            <a:ext cx="134524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A Fórmula "2 em 1": Longe Impecável + Relaxamento Ativo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apresentar a lente como uma revolução tecnológica dupla e indispensável.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6566" y="1837944"/>
            <a:ext cx="9261834" cy="3191510"/>
          </a:xfrm>
          <a:custGeom>
            <a:avLst/>
            <a:gdLst/>
            <a:ahLst/>
            <a:cxnLst/>
            <a:rect l="l" t="t" r="r" b="b"/>
            <a:pathLst>
              <a:path w="9516110" h="3191510">
                <a:moveTo>
                  <a:pt x="9515855" y="3191255"/>
                </a:moveTo>
                <a:lnTo>
                  <a:pt x="0" y="3191255"/>
                </a:lnTo>
                <a:lnTo>
                  <a:pt x="0" y="0"/>
                </a:lnTo>
                <a:lnTo>
                  <a:pt x="9515855" y="0"/>
                </a:lnTo>
                <a:lnTo>
                  <a:pt x="9515855" y="228980"/>
                </a:lnTo>
                <a:lnTo>
                  <a:pt x="419480" y="228980"/>
                </a:lnTo>
                <a:lnTo>
                  <a:pt x="404468" y="229706"/>
                </a:lnTo>
                <a:lnTo>
                  <a:pt x="361160" y="240581"/>
                </a:lnTo>
                <a:lnTo>
                  <a:pt x="322846" y="263514"/>
                </a:lnTo>
                <a:lnTo>
                  <a:pt x="292740" y="296696"/>
                </a:lnTo>
                <a:lnTo>
                  <a:pt x="273606" y="337207"/>
                </a:lnTo>
                <a:lnTo>
                  <a:pt x="267080" y="381380"/>
                </a:lnTo>
                <a:lnTo>
                  <a:pt x="267080" y="2734055"/>
                </a:lnTo>
                <a:lnTo>
                  <a:pt x="273606" y="2778228"/>
                </a:lnTo>
                <a:lnTo>
                  <a:pt x="292740" y="2818740"/>
                </a:lnTo>
                <a:lnTo>
                  <a:pt x="322846" y="2851921"/>
                </a:lnTo>
                <a:lnTo>
                  <a:pt x="361160" y="2874855"/>
                </a:lnTo>
                <a:lnTo>
                  <a:pt x="404468" y="2885730"/>
                </a:lnTo>
                <a:lnTo>
                  <a:pt x="419480" y="2886455"/>
                </a:lnTo>
                <a:lnTo>
                  <a:pt x="9515855" y="2886455"/>
                </a:lnTo>
                <a:lnTo>
                  <a:pt x="9515855" y="3191255"/>
                </a:lnTo>
                <a:close/>
              </a:path>
              <a:path w="9516110" h="3191510">
                <a:moveTo>
                  <a:pt x="9515855" y="2886455"/>
                </a:moveTo>
                <a:lnTo>
                  <a:pt x="9096755" y="2886455"/>
                </a:lnTo>
                <a:lnTo>
                  <a:pt x="9111767" y="2885730"/>
                </a:lnTo>
                <a:lnTo>
                  <a:pt x="9126492" y="2883555"/>
                </a:lnTo>
                <a:lnTo>
                  <a:pt x="9168669" y="2868439"/>
                </a:lnTo>
                <a:lnTo>
                  <a:pt x="9204517" y="2841817"/>
                </a:lnTo>
                <a:lnTo>
                  <a:pt x="9231138" y="2805969"/>
                </a:lnTo>
                <a:lnTo>
                  <a:pt x="9246255" y="2763792"/>
                </a:lnTo>
                <a:lnTo>
                  <a:pt x="9249155" y="2734055"/>
                </a:lnTo>
                <a:lnTo>
                  <a:pt x="9249155" y="381380"/>
                </a:lnTo>
                <a:lnTo>
                  <a:pt x="9242629" y="337207"/>
                </a:lnTo>
                <a:lnTo>
                  <a:pt x="9223493" y="296696"/>
                </a:lnTo>
                <a:lnTo>
                  <a:pt x="9193390" y="263514"/>
                </a:lnTo>
                <a:lnTo>
                  <a:pt x="9155076" y="240581"/>
                </a:lnTo>
                <a:lnTo>
                  <a:pt x="9111767" y="229706"/>
                </a:lnTo>
                <a:lnTo>
                  <a:pt x="9096755" y="228980"/>
                </a:lnTo>
                <a:lnTo>
                  <a:pt x="9515855" y="228980"/>
                </a:lnTo>
                <a:lnTo>
                  <a:pt x="9515855" y="2886455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563" y="2076451"/>
            <a:ext cx="8837612" cy="263842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49325" y="2071687"/>
            <a:ext cx="8837612" cy="2647950"/>
          </a:xfrm>
          <a:custGeom>
            <a:avLst/>
            <a:gdLst/>
            <a:ahLst/>
            <a:cxnLst/>
            <a:rect l="l" t="t" r="r" b="b"/>
            <a:pathLst>
              <a:path w="8972550" h="2647950">
                <a:moveTo>
                  <a:pt x="0" y="2500312"/>
                </a:moveTo>
                <a:lnTo>
                  <a:pt x="0" y="147637"/>
                </a:lnTo>
                <a:lnTo>
                  <a:pt x="176" y="140383"/>
                </a:lnTo>
                <a:lnTo>
                  <a:pt x="8624" y="97903"/>
                </a:lnTo>
                <a:lnTo>
                  <a:pt x="29058" y="59677"/>
                </a:lnTo>
                <a:lnTo>
                  <a:pt x="59681" y="29049"/>
                </a:lnTo>
                <a:lnTo>
                  <a:pt x="97907" y="8620"/>
                </a:lnTo>
                <a:lnTo>
                  <a:pt x="140383" y="176"/>
                </a:lnTo>
                <a:lnTo>
                  <a:pt x="147637" y="0"/>
                </a:lnTo>
                <a:lnTo>
                  <a:pt x="8824912" y="0"/>
                </a:lnTo>
                <a:lnTo>
                  <a:pt x="8867767" y="6351"/>
                </a:lnTo>
                <a:lnTo>
                  <a:pt x="8906932" y="24869"/>
                </a:lnTo>
                <a:lnTo>
                  <a:pt x="8939038" y="53972"/>
                </a:lnTo>
                <a:lnTo>
                  <a:pt x="8961310" y="91135"/>
                </a:lnTo>
                <a:lnTo>
                  <a:pt x="8971841" y="133164"/>
                </a:lnTo>
                <a:lnTo>
                  <a:pt x="8972550" y="147637"/>
                </a:lnTo>
                <a:lnTo>
                  <a:pt x="8972550" y="2500312"/>
                </a:lnTo>
                <a:lnTo>
                  <a:pt x="8966196" y="2543166"/>
                </a:lnTo>
                <a:lnTo>
                  <a:pt x="8947670" y="2582322"/>
                </a:lnTo>
                <a:lnTo>
                  <a:pt x="8918569" y="2614429"/>
                </a:lnTo>
                <a:lnTo>
                  <a:pt x="8881405" y="2636700"/>
                </a:lnTo>
                <a:lnTo>
                  <a:pt x="8839385" y="2647238"/>
                </a:lnTo>
                <a:lnTo>
                  <a:pt x="8824912" y="2647950"/>
                </a:lnTo>
                <a:lnTo>
                  <a:pt x="147637" y="2647950"/>
                </a:lnTo>
                <a:lnTo>
                  <a:pt x="104780" y="2641588"/>
                </a:lnTo>
                <a:lnTo>
                  <a:pt x="65617" y="2623061"/>
                </a:lnTo>
                <a:lnTo>
                  <a:pt x="33511" y="2593967"/>
                </a:lnTo>
                <a:lnTo>
                  <a:pt x="11239" y="2556805"/>
                </a:lnTo>
                <a:lnTo>
                  <a:pt x="708" y="2514780"/>
                </a:lnTo>
                <a:lnTo>
                  <a:pt x="0" y="2500312"/>
                </a:lnTo>
                <a:close/>
              </a:path>
            </a:pathLst>
          </a:custGeom>
          <a:ln w="9525">
            <a:solidFill>
              <a:srgbClr val="0284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7762" y="2373312"/>
            <a:ext cx="123825" cy="206375"/>
          </a:xfrm>
          <a:custGeom>
            <a:avLst/>
            <a:gdLst/>
            <a:ahLst/>
            <a:cxnLst/>
            <a:rect l="l" t="t" r="r" b="b"/>
            <a:pathLst>
              <a:path w="123825" h="206375">
                <a:moveTo>
                  <a:pt x="61912" y="0"/>
                </a:moveTo>
                <a:lnTo>
                  <a:pt x="61912" y="206375"/>
                </a:lnTo>
              </a:path>
              <a:path w="123825" h="206375">
                <a:moveTo>
                  <a:pt x="113506" y="30956"/>
                </a:moveTo>
                <a:lnTo>
                  <a:pt x="36115" y="30956"/>
                </a:lnTo>
                <a:lnTo>
                  <a:pt x="31327" y="30956"/>
                </a:lnTo>
                <a:lnTo>
                  <a:pt x="26715" y="31874"/>
                </a:lnTo>
                <a:lnTo>
                  <a:pt x="22298" y="33701"/>
                </a:lnTo>
                <a:lnTo>
                  <a:pt x="17872" y="35537"/>
                </a:lnTo>
                <a:lnTo>
                  <a:pt x="13961" y="38148"/>
                </a:lnTo>
                <a:lnTo>
                  <a:pt x="10576" y="41532"/>
                </a:lnTo>
                <a:lnTo>
                  <a:pt x="7192" y="44917"/>
                </a:lnTo>
                <a:lnTo>
                  <a:pt x="4581" y="48828"/>
                </a:lnTo>
                <a:lnTo>
                  <a:pt x="2744" y="53255"/>
                </a:lnTo>
                <a:lnTo>
                  <a:pt x="918" y="57671"/>
                </a:lnTo>
                <a:lnTo>
                  <a:pt x="0" y="62283"/>
                </a:lnTo>
                <a:lnTo>
                  <a:pt x="0" y="67071"/>
                </a:lnTo>
                <a:lnTo>
                  <a:pt x="0" y="71859"/>
                </a:lnTo>
                <a:lnTo>
                  <a:pt x="10576" y="92610"/>
                </a:lnTo>
                <a:lnTo>
                  <a:pt x="13961" y="95995"/>
                </a:lnTo>
                <a:lnTo>
                  <a:pt x="17872" y="98605"/>
                </a:lnTo>
                <a:lnTo>
                  <a:pt x="22298" y="100442"/>
                </a:lnTo>
                <a:lnTo>
                  <a:pt x="26715" y="102269"/>
                </a:lnTo>
                <a:lnTo>
                  <a:pt x="31327" y="103187"/>
                </a:lnTo>
                <a:lnTo>
                  <a:pt x="36115" y="103187"/>
                </a:lnTo>
                <a:lnTo>
                  <a:pt x="87709" y="103187"/>
                </a:lnTo>
                <a:lnTo>
                  <a:pt x="92497" y="103187"/>
                </a:lnTo>
                <a:lnTo>
                  <a:pt x="97109" y="104105"/>
                </a:lnTo>
                <a:lnTo>
                  <a:pt x="101526" y="105932"/>
                </a:lnTo>
                <a:lnTo>
                  <a:pt x="105952" y="107769"/>
                </a:lnTo>
                <a:lnTo>
                  <a:pt x="109863" y="110379"/>
                </a:lnTo>
                <a:lnTo>
                  <a:pt x="113248" y="113764"/>
                </a:lnTo>
                <a:lnTo>
                  <a:pt x="116632" y="117148"/>
                </a:lnTo>
                <a:lnTo>
                  <a:pt x="119243" y="121059"/>
                </a:lnTo>
                <a:lnTo>
                  <a:pt x="121080" y="125486"/>
                </a:lnTo>
                <a:lnTo>
                  <a:pt x="122906" y="129902"/>
                </a:lnTo>
                <a:lnTo>
                  <a:pt x="123825" y="134515"/>
                </a:lnTo>
                <a:lnTo>
                  <a:pt x="123825" y="139303"/>
                </a:lnTo>
                <a:lnTo>
                  <a:pt x="123825" y="144091"/>
                </a:lnTo>
                <a:lnTo>
                  <a:pt x="113248" y="164842"/>
                </a:lnTo>
                <a:lnTo>
                  <a:pt x="109863" y="168226"/>
                </a:lnTo>
                <a:lnTo>
                  <a:pt x="105952" y="170837"/>
                </a:lnTo>
                <a:lnTo>
                  <a:pt x="101526" y="172673"/>
                </a:lnTo>
                <a:lnTo>
                  <a:pt x="97109" y="174500"/>
                </a:lnTo>
                <a:lnTo>
                  <a:pt x="92497" y="175418"/>
                </a:lnTo>
                <a:lnTo>
                  <a:pt x="87709" y="175418"/>
                </a:lnTo>
                <a:lnTo>
                  <a:pt x="0" y="175418"/>
                </a:lnTo>
              </a:path>
            </a:pathLst>
          </a:custGeom>
          <a:ln w="20637">
            <a:solidFill>
              <a:srgbClr val="0284C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3150" y="2315550"/>
            <a:ext cx="8373745" cy="8750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74650">
              <a:lnSpc>
                <a:spcPct val="100000"/>
              </a:lnSpc>
              <a:spcBef>
                <a:spcPts val="114"/>
              </a:spcBef>
            </a:pPr>
            <a:r>
              <a:rPr sz="1750" b="1" dirty="0">
                <a:solidFill>
                  <a:srgbClr val="0284C6"/>
                </a:solidFill>
                <a:latin typeface="Arial"/>
                <a:cs typeface="Arial"/>
              </a:rPr>
              <a:t>O Poder do Conceito "2 em 1" no Balcão</a:t>
            </a:r>
            <a:endParaRPr sz="1750" dirty="0">
              <a:latin typeface="Arial"/>
              <a:cs typeface="Arial"/>
            </a:endParaRPr>
          </a:p>
          <a:p>
            <a:pPr marL="12700" marR="5080">
              <a:lnSpc>
                <a:spcPct val="115700"/>
              </a:lnSpc>
              <a:spcBef>
                <a:spcPts val="819"/>
              </a:spcBef>
            </a:pPr>
            <a:r>
              <a:rPr sz="1350" dirty="0">
                <a:solidFill>
                  <a:srgbClr val="334154"/>
                </a:solidFill>
                <a:latin typeface="Century Gothic"/>
                <a:cs typeface="Century Gothic"/>
              </a:rPr>
              <a:t>Em vendas, quando você oferece "duas soluções pelo valor de uma", o valor percebido pelo cérebro do consumidor multiplica instantaneamente.</a:t>
            </a:r>
            <a:endParaRPr sz="1350" dirty="0">
              <a:latin typeface="Century Gothic"/>
              <a:cs typeface="Century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85850" y="3400426"/>
            <a:ext cx="8429625" cy="1047750"/>
            <a:chOff x="1085850" y="3400426"/>
            <a:chExt cx="8429625" cy="1047750"/>
          </a:xfrm>
        </p:grpSpPr>
        <p:sp>
          <p:nvSpPr>
            <p:cNvPr id="12" name="object 12"/>
            <p:cNvSpPr/>
            <p:nvPr/>
          </p:nvSpPr>
          <p:spPr>
            <a:xfrm>
              <a:off x="1090612" y="3405189"/>
              <a:ext cx="8420100" cy="1038225"/>
            </a:xfrm>
            <a:custGeom>
              <a:avLst/>
              <a:gdLst/>
              <a:ahLst/>
              <a:cxnLst/>
              <a:rect l="l" t="t" r="r" b="b"/>
              <a:pathLst>
                <a:path w="8420100" h="1038225">
                  <a:moveTo>
                    <a:pt x="8317753" y="1038224"/>
                  </a:moveTo>
                  <a:lnTo>
                    <a:pt x="102346" y="1038224"/>
                  </a:lnTo>
                  <a:lnTo>
                    <a:pt x="95221" y="1037510"/>
                  </a:lnTo>
                  <a:lnTo>
                    <a:pt x="54663" y="1023756"/>
                  </a:lnTo>
                  <a:lnTo>
                    <a:pt x="22459" y="995514"/>
                  </a:lnTo>
                  <a:lnTo>
                    <a:pt x="3505" y="957110"/>
                  </a:lnTo>
                  <a:lnTo>
                    <a:pt x="0" y="935878"/>
                  </a:lnTo>
                  <a:lnTo>
                    <a:pt x="0" y="928687"/>
                  </a:lnTo>
                  <a:lnTo>
                    <a:pt x="0" y="102346"/>
                  </a:lnTo>
                  <a:lnTo>
                    <a:pt x="11087" y="60969"/>
                  </a:lnTo>
                  <a:lnTo>
                    <a:pt x="37166" y="26993"/>
                  </a:lnTo>
                  <a:lnTo>
                    <a:pt x="74266" y="5581"/>
                  </a:lnTo>
                  <a:lnTo>
                    <a:pt x="102346" y="0"/>
                  </a:lnTo>
                  <a:lnTo>
                    <a:pt x="8317753" y="0"/>
                  </a:lnTo>
                  <a:lnTo>
                    <a:pt x="8359120" y="11087"/>
                  </a:lnTo>
                  <a:lnTo>
                    <a:pt x="8393106" y="37166"/>
                  </a:lnTo>
                  <a:lnTo>
                    <a:pt x="8414508" y="74256"/>
                  </a:lnTo>
                  <a:lnTo>
                    <a:pt x="8420100" y="102346"/>
                  </a:lnTo>
                  <a:lnTo>
                    <a:pt x="8420100" y="935878"/>
                  </a:lnTo>
                  <a:lnTo>
                    <a:pt x="8409012" y="977245"/>
                  </a:lnTo>
                  <a:lnTo>
                    <a:pt x="8382933" y="1011221"/>
                  </a:lnTo>
                  <a:lnTo>
                    <a:pt x="8345833" y="1032633"/>
                  </a:lnTo>
                  <a:lnTo>
                    <a:pt x="8324878" y="1037510"/>
                  </a:lnTo>
                  <a:lnTo>
                    <a:pt x="8317753" y="1038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90612" y="3405189"/>
              <a:ext cx="8420100" cy="1038225"/>
            </a:xfrm>
            <a:custGeom>
              <a:avLst/>
              <a:gdLst/>
              <a:ahLst/>
              <a:cxnLst/>
              <a:rect l="l" t="t" r="r" b="b"/>
              <a:pathLst>
                <a:path w="8420100" h="1038225">
                  <a:moveTo>
                    <a:pt x="0" y="928687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4" y="95221"/>
                  </a:lnTo>
                  <a:lnTo>
                    <a:pt x="2105" y="88163"/>
                  </a:lnTo>
                  <a:lnTo>
                    <a:pt x="3505" y="81105"/>
                  </a:lnTo>
                  <a:lnTo>
                    <a:pt x="5581" y="74256"/>
                  </a:lnTo>
                  <a:lnTo>
                    <a:pt x="8334" y="67617"/>
                  </a:lnTo>
                  <a:lnTo>
                    <a:pt x="11087" y="60969"/>
                  </a:lnTo>
                  <a:lnTo>
                    <a:pt x="14468" y="54654"/>
                  </a:lnTo>
                  <a:lnTo>
                    <a:pt x="42700" y="22450"/>
                  </a:lnTo>
                  <a:lnTo>
                    <a:pt x="67617" y="8334"/>
                  </a:lnTo>
                  <a:lnTo>
                    <a:pt x="74266" y="5581"/>
                  </a:lnTo>
                  <a:lnTo>
                    <a:pt x="81114" y="3505"/>
                  </a:lnTo>
                  <a:lnTo>
                    <a:pt x="88163" y="2105"/>
                  </a:lnTo>
                  <a:lnTo>
                    <a:pt x="95221" y="704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8310562" y="0"/>
                  </a:lnTo>
                  <a:lnTo>
                    <a:pt x="8317753" y="0"/>
                  </a:lnTo>
                  <a:lnTo>
                    <a:pt x="8324878" y="704"/>
                  </a:lnTo>
                  <a:lnTo>
                    <a:pt x="8365436" y="14458"/>
                  </a:lnTo>
                  <a:lnTo>
                    <a:pt x="8388019" y="32080"/>
                  </a:lnTo>
                  <a:lnTo>
                    <a:pt x="8393106" y="37166"/>
                  </a:lnTo>
                  <a:lnTo>
                    <a:pt x="8414508" y="74256"/>
                  </a:lnTo>
                  <a:lnTo>
                    <a:pt x="8417994" y="88163"/>
                  </a:lnTo>
                  <a:lnTo>
                    <a:pt x="8419395" y="95221"/>
                  </a:lnTo>
                  <a:lnTo>
                    <a:pt x="8420100" y="102346"/>
                  </a:lnTo>
                  <a:lnTo>
                    <a:pt x="8420100" y="109537"/>
                  </a:lnTo>
                  <a:lnTo>
                    <a:pt x="8420100" y="928687"/>
                  </a:lnTo>
                  <a:lnTo>
                    <a:pt x="8420100" y="935878"/>
                  </a:lnTo>
                  <a:lnTo>
                    <a:pt x="8419395" y="942994"/>
                  </a:lnTo>
                  <a:lnTo>
                    <a:pt x="8417994" y="950052"/>
                  </a:lnTo>
                  <a:lnTo>
                    <a:pt x="8416594" y="957110"/>
                  </a:lnTo>
                  <a:lnTo>
                    <a:pt x="8414508" y="963958"/>
                  </a:lnTo>
                  <a:lnTo>
                    <a:pt x="8411756" y="970597"/>
                  </a:lnTo>
                  <a:lnTo>
                    <a:pt x="8409012" y="977245"/>
                  </a:lnTo>
                  <a:lnTo>
                    <a:pt x="8388019" y="1006135"/>
                  </a:lnTo>
                  <a:lnTo>
                    <a:pt x="8382933" y="1011221"/>
                  </a:lnTo>
                  <a:lnTo>
                    <a:pt x="8345833" y="1032633"/>
                  </a:lnTo>
                  <a:lnTo>
                    <a:pt x="8317753" y="1038224"/>
                  </a:lnTo>
                  <a:lnTo>
                    <a:pt x="8310562" y="1038224"/>
                  </a:lnTo>
                  <a:lnTo>
                    <a:pt x="109537" y="1038224"/>
                  </a:lnTo>
                  <a:lnTo>
                    <a:pt x="102346" y="1038224"/>
                  </a:lnTo>
                  <a:lnTo>
                    <a:pt x="95221" y="1037510"/>
                  </a:lnTo>
                  <a:lnTo>
                    <a:pt x="88163" y="1036110"/>
                  </a:lnTo>
                  <a:lnTo>
                    <a:pt x="81114" y="1034710"/>
                  </a:lnTo>
                  <a:lnTo>
                    <a:pt x="74266" y="1032633"/>
                  </a:lnTo>
                  <a:lnTo>
                    <a:pt x="67617" y="1029881"/>
                  </a:lnTo>
                  <a:lnTo>
                    <a:pt x="60969" y="1027128"/>
                  </a:lnTo>
                  <a:lnTo>
                    <a:pt x="54663" y="1023756"/>
                  </a:lnTo>
                  <a:lnTo>
                    <a:pt x="48682" y="1019756"/>
                  </a:lnTo>
                  <a:lnTo>
                    <a:pt x="42700" y="1015765"/>
                  </a:lnTo>
                  <a:lnTo>
                    <a:pt x="14468" y="983561"/>
                  </a:lnTo>
                  <a:lnTo>
                    <a:pt x="8334" y="970597"/>
                  </a:lnTo>
                  <a:lnTo>
                    <a:pt x="5581" y="963958"/>
                  </a:lnTo>
                  <a:lnTo>
                    <a:pt x="3505" y="957110"/>
                  </a:lnTo>
                  <a:lnTo>
                    <a:pt x="2105" y="950052"/>
                  </a:lnTo>
                  <a:lnTo>
                    <a:pt x="704" y="942994"/>
                  </a:lnTo>
                  <a:lnTo>
                    <a:pt x="0" y="935878"/>
                  </a:lnTo>
                  <a:lnTo>
                    <a:pt x="0" y="928687"/>
                  </a:lnTo>
                  <a:close/>
                </a:path>
              </a:pathLst>
            </a:custGeom>
            <a:ln w="9524">
              <a:solidFill>
                <a:srgbClr val="B9E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4125" y="3513124"/>
            <a:ext cx="8192770" cy="76738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400" b="1" dirty="0">
                <a:solidFill>
                  <a:srgbClr val="0284C6"/>
                </a:solidFill>
                <a:latin typeface="Gotham Book" panose="02000604040000020004" pitchFamily="50" charset="0"/>
                <a:cs typeface="Century Gothic"/>
              </a:rPr>
              <a:t>COMO DEFINIR PARA O CLIENTE:</a:t>
            </a:r>
            <a:endParaRPr sz="1400" dirty="0">
              <a:latin typeface="Gotham Book" panose="02000604040000020004" pitchFamily="50" charset="0"/>
              <a:cs typeface="Century Gothic"/>
            </a:endParaRPr>
          </a:p>
          <a:p>
            <a:pPr marL="12700" marR="5080">
              <a:lnSpc>
                <a:spcPct val="104200"/>
              </a:lnSpc>
              <a:spcBef>
                <a:spcPts val="380"/>
              </a:spcBef>
            </a:pPr>
            <a:r>
              <a:rPr sz="1400" dirty="0">
                <a:solidFill>
                  <a:srgbClr val="0F162A"/>
                </a:solidFill>
                <a:latin typeface="Gotham Medium" panose="02000604030000020004" pitchFamily="50" charset="0"/>
                <a:cs typeface="Arial"/>
              </a:rPr>
              <a:t>"A Gold Comfort é uma lente 2 em 1: em cima ela corrige 100% da receita do seu médico para longe, e embaixo ela tem um amortecedor digital de relaxamento para o seu celular."</a:t>
            </a:r>
            <a:endParaRPr sz="1400" dirty="0">
              <a:latin typeface="Gotham Medium" panose="02000604030000020004" pitchFamily="50" charset="0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2543" y="7799831"/>
            <a:ext cx="4775344" cy="1859280"/>
          </a:xfrm>
          <a:custGeom>
            <a:avLst/>
            <a:gdLst/>
            <a:ahLst/>
            <a:cxnLst/>
            <a:rect l="l" t="t" r="r" b="b"/>
            <a:pathLst>
              <a:path w="4889500" h="1859279">
                <a:moveTo>
                  <a:pt x="4888991" y="1859279"/>
                </a:moveTo>
                <a:lnTo>
                  <a:pt x="0" y="1859279"/>
                </a:lnTo>
                <a:lnTo>
                  <a:pt x="0" y="0"/>
                </a:lnTo>
                <a:lnTo>
                  <a:pt x="4888991" y="0"/>
                </a:lnTo>
                <a:lnTo>
                  <a:pt x="4888991" y="239267"/>
                </a:lnTo>
                <a:lnTo>
                  <a:pt x="419480" y="239267"/>
                </a:lnTo>
                <a:lnTo>
                  <a:pt x="405406" y="239947"/>
                </a:lnTo>
                <a:lnTo>
                  <a:pt x="364805" y="250143"/>
                </a:lnTo>
                <a:lnTo>
                  <a:pt x="328885" y="271643"/>
                </a:lnTo>
                <a:lnTo>
                  <a:pt x="300662" y="302750"/>
                </a:lnTo>
                <a:lnTo>
                  <a:pt x="282722" y="340728"/>
                </a:lnTo>
                <a:lnTo>
                  <a:pt x="276605" y="382142"/>
                </a:lnTo>
                <a:lnTo>
                  <a:pt x="276605" y="1401317"/>
                </a:lnTo>
                <a:lnTo>
                  <a:pt x="282722" y="1442729"/>
                </a:lnTo>
                <a:lnTo>
                  <a:pt x="300662" y="1480709"/>
                </a:lnTo>
                <a:lnTo>
                  <a:pt x="328885" y="1511816"/>
                </a:lnTo>
                <a:lnTo>
                  <a:pt x="364805" y="1533314"/>
                </a:lnTo>
                <a:lnTo>
                  <a:pt x="405406" y="1543512"/>
                </a:lnTo>
                <a:lnTo>
                  <a:pt x="419480" y="1544192"/>
                </a:lnTo>
                <a:lnTo>
                  <a:pt x="4888991" y="1544192"/>
                </a:lnTo>
                <a:lnTo>
                  <a:pt x="4888991" y="1859279"/>
                </a:lnTo>
                <a:close/>
              </a:path>
              <a:path w="4889500" h="1859279">
                <a:moveTo>
                  <a:pt x="4888991" y="1544192"/>
                </a:moveTo>
                <a:lnTo>
                  <a:pt x="4467605" y="1544192"/>
                </a:lnTo>
                <a:lnTo>
                  <a:pt x="4481680" y="1543512"/>
                </a:lnTo>
                <a:lnTo>
                  <a:pt x="4495484" y="1541472"/>
                </a:lnTo>
                <a:lnTo>
                  <a:pt x="4535024" y="1527300"/>
                </a:lnTo>
                <a:lnTo>
                  <a:pt x="4568634" y="1502343"/>
                </a:lnTo>
                <a:lnTo>
                  <a:pt x="4593591" y="1468736"/>
                </a:lnTo>
                <a:lnTo>
                  <a:pt x="4607761" y="1429196"/>
                </a:lnTo>
                <a:lnTo>
                  <a:pt x="4610480" y="1401317"/>
                </a:lnTo>
                <a:lnTo>
                  <a:pt x="4610480" y="382142"/>
                </a:lnTo>
                <a:lnTo>
                  <a:pt x="4604362" y="340728"/>
                </a:lnTo>
                <a:lnTo>
                  <a:pt x="4586424" y="302750"/>
                </a:lnTo>
                <a:lnTo>
                  <a:pt x="4558200" y="271643"/>
                </a:lnTo>
                <a:lnTo>
                  <a:pt x="4522280" y="250143"/>
                </a:lnTo>
                <a:lnTo>
                  <a:pt x="4481680" y="239947"/>
                </a:lnTo>
                <a:lnTo>
                  <a:pt x="4467605" y="239267"/>
                </a:lnTo>
                <a:lnTo>
                  <a:pt x="4888991" y="239267"/>
                </a:lnTo>
                <a:lnTo>
                  <a:pt x="4888991" y="1544192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33437" y="8034337"/>
            <a:ext cx="4324350" cy="1314450"/>
          </a:xfrm>
          <a:custGeom>
            <a:avLst/>
            <a:gdLst/>
            <a:ahLst/>
            <a:cxnLst/>
            <a:rect l="l" t="t" r="r" b="b"/>
            <a:pathLst>
              <a:path w="4324350" h="1314450">
                <a:moveTo>
                  <a:pt x="4176712" y="1314450"/>
                </a:moveTo>
                <a:lnTo>
                  <a:pt x="120148" y="1314450"/>
                </a:lnTo>
                <a:lnTo>
                  <a:pt x="111785" y="1313497"/>
                </a:lnTo>
                <a:lnTo>
                  <a:pt x="73603" y="1300272"/>
                </a:lnTo>
                <a:lnTo>
                  <a:pt x="42239" y="1276206"/>
                </a:lnTo>
                <a:lnTo>
                  <a:pt x="18290" y="1242703"/>
                </a:lnTo>
                <a:lnTo>
                  <a:pt x="3851" y="1202685"/>
                </a:lnTo>
                <a:lnTo>
                  <a:pt x="0" y="1166812"/>
                </a:lnTo>
                <a:lnTo>
                  <a:pt x="0" y="147637"/>
                </a:lnTo>
                <a:lnTo>
                  <a:pt x="5532" y="104773"/>
                </a:lnTo>
                <a:lnTo>
                  <a:pt x="21669" y="65608"/>
                </a:lnTo>
                <a:lnTo>
                  <a:pt x="47013" y="33507"/>
                </a:lnTo>
                <a:lnTo>
                  <a:pt x="79381" y="11229"/>
                </a:lnTo>
                <a:lnTo>
                  <a:pt x="120148" y="0"/>
                </a:lnTo>
                <a:lnTo>
                  <a:pt x="4176712" y="0"/>
                </a:lnTo>
                <a:lnTo>
                  <a:pt x="4219569" y="6355"/>
                </a:lnTo>
                <a:lnTo>
                  <a:pt x="4258732" y="24879"/>
                </a:lnTo>
                <a:lnTo>
                  <a:pt x="4290838" y="53972"/>
                </a:lnTo>
                <a:lnTo>
                  <a:pt x="4313110" y="91135"/>
                </a:lnTo>
                <a:lnTo>
                  <a:pt x="4323641" y="133164"/>
                </a:lnTo>
                <a:lnTo>
                  <a:pt x="4324350" y="147637"/>
                </a:lnTo>
                <a:lnTo>
                  <a:pt x="4324350" y="1166812"/>
                </a:lnTo>
                <a:lnTo>
                  <a:pt x="4317996" y="1209663"/>
                </a:lnTo>
                <a:lnTo>
                  <a:pt x="4299470" y="1248832"/>
                </a:lnTo>
                <a:lnTo>
                  <a:pt x="4270373" y="1280933"/>
                </a:lnTo>
                <a:lnTo>
                  <a:pt x="4233214" y="1303210"/>
                </a:lnTo>
                <a:lnTo>
                  <a:pt x="4191185" y="1313738"/>
                </a:lnTo>
                <a:lnTo>
                  <a:pt x="4176712" y="1314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92670" y="8029587"/>
            <a:ext cx="4270375" cy="1323975"/>
          </a:xfrm>
          <a:custGeom>
            <a:avLst/>
            <a:gdLst/>
            <a:ahLst/>
            <a:cxnLst/>
            <a:rect l="l" t="t" r="r" b="b"/>
            <a:pathLst>
              <a:path w="4270375" h="1323975">
                <a:moveTo>
                  <a:pt x="4269879" y="152387"/>
                </a:moveTo>
                <a:lnTo>
                  <a:pt x="4263352" y="108216"/>
                </a:lnTo>
                <a:lnTo>
                  <a:pt x="4244213" y="67703"/>
                </a:lnTo>
                <a:lnTo>
                  <a:pt x="4225696" y="45135"/>
                </a:lnTo>
                <a:lnTo>
                  <a:pt x="4225239" y="44627"/>
                </a:lnTo>
                <a:lnTo>
                  <a:pt x="4189387" y="18008"/>
                </a:lnTo>
                <a:lnTo>
                  <a:pt x="4170007" y="9525"/>
                </a:lnTo>
                <a:lnTo>
                  <a:pt x="4161650" y="6515"/>
                </a:lnTo>
                <a:lnTo>
                  <a:pt x="4147210" y="2895"/>
                </a:lnTo>
                <a:lnTo>
                  <a:pt x="4132491" y="723"/>
                </a:lnTo>
                <a:lnTo>
                  <a:pt x="4117479" y="0"/>
                </a:lnTo>
                <a:lnTo>
                  <a:pt x="69354" y="0"/>
                </a:lnTo>
                <a:lnTo>
                  <a:pt x="25171" y="6515"/>
                </a:lnTo>
                <a:lnTo>
                  <a:pt x="0" y="16802"/>
                </a:lnTo>
                <a:lnTo>
                  <a:pt x="26581" y="22110"/>
                </a:lnTo>
                <a:lnTo>
                  <a:pt x="29248" y="20396"/>
                </a:lnTo>
                <a:lnTo>
                  <a:pt x="38976" y="15633"/>
                </a:lnTo>
                <a:lnTo>
                  <a:pt x="48907" y="12242"/>
                </a:lnTo>
                <a:lnTo>
                  <a:pt x="59029" y="10198"/>
                </a:lnTo>
                <a:lnTo>
                  <a:pt x="69354" y="9525"/>
                </a:lnTo>
                <a:lnTo>
                  <a:pt x="4117479" y="9525"/>
                </a:lnTo>
                <a:lnTo>
                  <a:pt x="4158881" y="15633"/>
                </a:lnTo>
                <a:lnTo>
                  <a:pt x="4196867" y="33578"/>
                </a:lnTo>
                <a:lnTo>
                  <a:pt x="4218952" y="51866"/>
                </a:lnTo>
                <a:lnTo>
                  <a:pt x="4227969" y="61798"/>
                </a:lnTo>
                <a:lnTo>
                  <a:pt x="4249471" y="97713"/>
                </a:lnTo>
                <a:lnTo>
                  <a:pt x="4259669" y="138315"/>
                </a:lnTo>
                <a:lnTo>
                  <a:pt x="4260354" y="152387"/>
                </a:lnTo>
                <a:lnTo>
                  <a:pt x="4260354" y="1171562"/>
                </a:lnTo>
                <a:lnTo>
                  <a:pt x="4254233" y="1212977"/>
                </a:lnTo>
                <a:lnTo>
                  <a:pt x="4236288" y="1250962"/>
                </a:lnTo>
                <a:lnTo>
                  <a:pt x="4218495" y="1272590"/>
                </a:lnTo>
                <a:lnTo>
                  <a:pt x="4184891" y="1297546"/>
                </a:lnTo>
                <a:lnTo>
                  <a:pt x="4145356" y="1311719"/>
                </a:lnTo>
                <a:lnTo>
                  <a:pt x="4117479" y="1314450"/>
                </a:lnTo>
                <a:lnTo>
                  <a:pt x="69354" y="1314450"/>
                </a:lnTo>
                <a:lnTo>
                  <a:pt x="29248" y="1303566"/>
                </a:lnTo>
                <a:lnTo>
                  <a:pt x="26593" y="1301851"/>
                </a:lnTo>
                <a:lnTo>
                  <a:pt x="12" y="1307172"/>
                </a:lnTo>
                <a:lnTo>
                  <a:pt x="39611" y="1321066"/>
                </a:lnTo>
                <a:lnTo>
                  <a:pt x="69354" y="1323975"/>
                </a:lnTo>
                <a:lnTo>
                  <a:pt x="4117479" y="1323975"/>
                </a:lnTo>
                <a:lnTo>
                  <a:pt x="4161637" y="1317447"/>
                </a:lnTo>
                <a:lnTo>
                  <a:pt x="4202163" y="1298308"/>
                </a:lnTo>
                <a:lnTo>
                  <a:pt x="4225683" y="1278839"/>
                </a:lnTo>
                <a:lnTo>
                  <a:pt x="4235335" y="1268196"/>
                </a:lnTo>
                <a:lnTo>
                  <a:pt x="4258272" y="1229893"/>
                </a:lnTo>
                <a:lnTo>
                  <a:pt x="4269143" y="1186586"/>
                </a:lnTo>
                <a:lnTo>
                  <a:pt x="4269879" y="1171562"/>
                </a:lnTo>
                <a:lnTo>
                  <a:pt x="4269879" y="152387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9625" y="8046241"/>
            <a:ext cx="110489" cy="1290955"/>
          </a:xfrm>
          <a:custGeom>
            <a:avLst/>
            <a:gdLst/>
            <a:ahLst/>
            <a:cxnLst/>
            <a:rect l="l" t="t" r="r" b="b"/>
            <a:pathLst>
              <a:path w="110490" h="1290954">
                <a:moveTo>
                  <a:pt x="83341" y="1290638"/>
                </a:moveTo>
                <a:lnTo>
                  <a:pt x="44637" y="1262669"/>
                </a:lnTo>
                <a:lnTo>
                  <a:pt x="18015" y="1226819"/>
                </a:lnTo>
                <a:lnTo>
                  <a:pt x="2900" y="1184643"/>
                </a:lnTo>
                <a:lnTo>
                  <a:pt x="0" y="1154907"/>
                </a:lnTo>
                <a:lnTo>
                  <a:pt x="0" y="135732"/>
                </a:lnTo>
                <a:lnTo>
                  <a:pt x="6525" y="91557"/>
                </a:lnTo>
                <a:lnTo>
                  <a:pt x="25659" y="51046"/>
                </a:lnTo>
                <a:lnTo>
                  <a:pt x="55765" y="17865"/>
                </a:lnTo>
                <a:lnTo>
                  <a:pt x="83342" y="0"/>
                </a:lnTo>
                <a:lnTo>
                  <a:pt x="109862" y="5303"/>
                </a:lnTo>
                <a:lnTo>
                  <a:pt x="102959" y="9747"/>
                </a:lnTo>
                <a:lnTo>
                  <a:pt x="94178" y="16913"/>
                </a:lnTo>
                <a:lnTo>
                  <a:pt x="65266" y="56340"/>
                </a:lnTo>
                <a:lnTo>
                  <a:pt x="52111" y="94318"/>
                </a:lnTo>
                <a:lnTo>
                  <a:pt x="47624" y="135732"/>
                </a:lnTo>
                <a:lnTo>
                  <a:pt x="47624" y="1154907"/>
                </a:lnTo>
                <a:lnTo>
                  <a:pt x="52111" y="1196319"/>
                </a:lnTo>
                <a:lnTo>
                  <a:pt x="65266" y="1234298"/>
                </a:lnTo>
                <a:lnTo>
                  <a:pt x="94178" y="1273724"/>
                </a:lnTo>
                <a:lnTo>
                  <a:pt x="109863" y="1285333"/>
                </a:lnTo>
                <a:lnTo>
                  <a:pt x="83341" y="1290638"/>
                </a:lnTo>
                <a:close/>
              </a:path>
            </a:pathLst>
          </a:custGeom>
          <a:solidFill>
            <a:srgbClr val="0284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54100" y="8201883"/>
            <a:ext cx="3738245" cy="112402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FUNÇÃO 1 • LONGE PERFEITO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50" b="1" dirty="0">
                <a:solidFill>
                  <a:srgbClr val="0F162A"/>
                </a:solidFill>
                <a:latin typeface="Century Gothic"/>
                <a:cs typeface="Century Gothic"/>
              </a:rPr>
              <a:t>Precisão Cirúrgica</a:t>
            </a:r>
            <a:endParaRPr sz="1650" dirty="0">
              <a:latin typeface="Century Gothic"/>
              <a:cs typeface="Century Gothic"/>
            </a:endParaRPr>
          </a:p>
          <a:p>
            <a:pPr marL="12700" marR="5080">
              <a:lnSpc>
                <a:spcPct val="105000"/>
              </a:lnSpc>
              <a:spcBef>
                <a:spcPts val="295"/>
              </a:spcBef>
            </a:pP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Correção esférica e cilíndrica de alta definição para trânsito, TV, esportes e visão ampla do dia a dia.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291772" y="7799831"/>
            <a:ext cx="4766627" cy="1859280"/>
          </a:xfrm>
          <a:custGeom>
            <a:avLst/>
            <a:gdLst/>
            <a:ahLst/>
            <a:cxnLst/>
            <a:rect l="l" t="t" r="r" b="b"/>
            <a:pathLst>
              <a:path w="4876800" h="1859279">
                <a:moveTo>
                  <a:pt x="4876799" y="1859279"/>
                </a:moveTo>
                <a:lnTo>
                  <a:pt x="0" y="1859279"/>
                </a:lnTo>
                <a:lnTo>
                  <a:pt x="0" y="0"/>
                </a:lnTo>
                <a:lnTo>
                  <a:pt x="4876799" y="0"/>
                </a:lnTo>
                <a:lnTo>
                  <a:pt x="4876799" y="239267"/>
                </a:lnTo>
                <a:lnTo>
                  <a:pt x="419099" y="239267"/>
                </a:lnTo>
                <a:lnTo>
                  <a:pt x="405025" y="239947"/>
                </a:lnTo>
                <a:lnTo>
                  <a:pt x="364424" y="250143"/>
                </a:lnTo>
                <a:lnTo>
                  <a:pt x="328504" y="271643"/>
                </a:lnTo>
                <a:lnTo>
                  <a:pt x="300281" y="302750"/>
                </a:lnTo>
                <a:lnTo>
                  <a:pt x="282341" y="340728"/>
                </a:lnTo>
                <a:lnTo>
                  <a:pt x="276224" y="382142"/>
                </a:lnTo>
                <a:lnTo>
                  <a:pt x="276224" y="1401317"/>
                </a:lnTo>
                <a:lnTo>
                  <a:pt x="282341" y="1442729"/>
                </a:lnTo>
                <a:lnTo>
                  <a:pt x="300281" y="1480709"/>
                </a:lnTo>
                <a:lnTo>
                  <a:pt x="328504" y="1511816"/>
                </a:lnTo>
                <a:lnTo>
                  <a:pt x="364424" y="1533314"/>
                </a:lnTo>
                <a:lnTo>
                  <a:pt x="405025" y="1543512"/>
                </a:lnTo>
                <a:lnTo>
                  <a:pt x="419099" y="1544192"/>
                </a:lnTo>
                <a:lnTo>
                  <a:pt x="4876799" y="1544192"/>
                </a:lnTo>
                <a:lnTo>
                  <a:pt x="4876799" y="1859279"/>
                </a:lnTo>
                <a:close/>
              </a:path>
              <a:path w="4876800" h="1859279">
                <a:moveTo>
                  <a:pt x="4876799" y="1544192"/>
                </a:moveTo>
                <a:lnTo>
                  <a:pt x="4457699" y="1544192"/>
                </a:lnTo>
                <a:lnTo>
                  <a:pt x="4471774" y="1543512"/>
                </a:lnTo>
                <a:lnTo>
                  <a:pt x="4485578" y="1541472"/>
                </a:lnTo>
                <a:lnTo>
                  <a:pt x="4525118" y="1527300"/>
                </a:lnTo>
                <a:lnTo>
                  <a:pt x="4558728" y="1502343"/>
                </a:lnTo>
                <a:lnTo>
                  <a:pt x="4583683" y="1468736"/>
                </a:lnTo>
                <a:lnTo>
                  <a:pt x="4597854" y="1429196"/>
                </a:lnTo>
                <a:lnTo>
                  <a:pt x="4600574" y="1401317"/>
                </a:lnTo>
                <a:lnTo>
                  <a:pt x="4600574" y="382142"/>
                </a:lnTo>
                <a:lnTo>
                  <a:pt x="4594456" y="340728"/>
                </a:lnTo>
                <a:lnTo>
                  <a:pt x="4576518" y="302750"/>
                </a:lnTo>
                <a:lnTo>
                  <a:pt x="4548294" y="271643"/>
                </a:lnTo>
                <a:lnTo>
                  <a:pt x="4512374" y="250143"/>
                </a:lnTo>
                <a:lnTo>
                  <a:pt x="4471774" y="239947"/>
                </a:lnTo>
                <a:lnTo>
                  <a:pt x="4457699" y="239267"/>
                </a:lnTo>
                <a:lnTo>
                  <a:pt x="4876799" y="239267"/>
                </a:lnTo>
                <a:lnTo>
                  <a:pt x="4876799" y="1544192"/>
                </a:lnTo>
                <a:close/>
              </a:path>
            </a:pathLst>
          </a:custGeom>
          <a:solidFill>
            <a:srgbClr val="000000">
              <a:alpha val="391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72112" y="8034337"/>
            <a:ext cx="4314825" cy="1314450"/>
          </a:xfrm>
          <a:custGeom>
            <a:avLst/>
            <a:gdLst/>
            <a:ahLst/>
            <a:cxnLst/>
            <a:rect l="l" t="t" r="r" b="b"/>
            <a:pathLst>
              <a:path w="4314825" h="1314450">
                <a:moveTo>
                  <a:pt x="4167187" y="1314450"/>
                </a:moveTo>
                <a:lnTo>
                  <a:pt x="120148" y="1314450"/>
                </a:lnTo>
                <a:lnTo>
                  <a:pt x="111785" y="1313497"/>
                </a:lnTo>
                <a:lnTo>
                  <a:pt x="73603" y="1300272"/>
                </a:lnTo>
                <a:lnTo>
                  <a:pt x="42239" y="1276206"/>
                </a:lnTo>
                <a:lnTo>
                  <a:pt x="18290" y="1242703"/>
                </a:lnTo>
                <a:lnTo>
                  <a:pt x="3851" y="1202685"/>
                </a:lnTo>
                <a:lnTo>
                  <a:pt x="0" y="1166812"/>
                </a:lnTo>
                <a:lnTo>
                  <a:pt x="0" y="147637"/>
                </a:lnTo>
                <a:lnTo>
                  <a:pt x="5532" y="104773"/>
                </a:lnTo>
                <a:lnTo>
                  <a:pt x="21669" y="65608"/>
                </a:lnTo>
                <a:lnTo>
                  <a:pt x="47013" y="33507"/>
                </a:lnTo>
                <a:lnTo>
                  <a:pt x="79381" y="11229"/>
                </a:lnTo>
                <a:lnTo>
                  <a:pt x="120148" y="0"/>
                </a:lnTo>
                <a:lnTo>
                  <a:pt x="4167187" y="0"/>
                </a:lnTo>
                <a:lnTo>
                  <a:pt x="4210042" y="6355"/>
                </a:lnTo>
                <a:lnTo>
                  <a:pt x="4249207" y="24879"/>
                </a:lnTo>
                <a:lnTo>
                  <a:pt x="4281313" y="53972"/>
                </a:lnTo>
                <a:lnTo>
                  <a:pt x="4303585" y="91135"/>
                </a:lnTo>
                <a:lnTo>
                  <a:pt x="4314116" y="133164"/>
                </a:lnTo>
                <a:lnTo>
                  <a:pt x="4314825" y="147637"/>
                </a:lnTo>
                <a:lnTo>
                  <a:pt x="4314825" y="1166812"/>
                </a:lnTo>
                <a:lnTo>
                  <a:pt x="4308471" y="1209663"/>
                </a:lnTo>
                <a:lnTo>
                  <a:pt x="4289945" y="1248832"/>
                </a:lnTo>
                <a:lnTo>
                  <a:pt x="4260844" y="1280933"/>
                </a:lnTo>
                <a:lnTo>
                  <a:pt x="4223680" y="1303210"/>
                </a:lnTo>
                <a:lnTo>
                  <a:pt x="4181660" y="1313738"/>
                </a:lnTo>
                <a:lnTo>
                  <a:pt x="4167187" y="1314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31358" y="8029587"/>
            <a:ext cx="4260850" cy="1323975"/>
          </a:xfrm>
          <a:custGeom>
            <a:avLst/>
            <a:gdLst/>
            <a:ahLst/>
            <a:cxnLst/>
            <a:rect l="l" t="t" r="r" b="b"/>
            <a:pathLst>
              <a:path w="4260850" h="1323975">
                <a:moveTo>
                  <a:pt x="4260342" y="152387"/>
                </a:moveTo>
                <a:lnTo>
                  <a:pt x="4253814" y="108216"/>
                </a:lnTo>
                <a:lnTo>
                  <a:pt x="4234675" y="67703"/>
                </a:lnTo>
                <a:lnTo>
                  <a:pt x="4216158" y="45135"/>
                </a:lnTo>
                <a:lnTo>
                  <a:pt x="4215701" y="44627"/>
                </a:lnTo>
                <a:lnTo>
                  <a:pt x="4179849" y="18008"/>
                </a:lnTo>
                <a:lnTo>
                  <a:pt x="4160469" y="9525"/>
                </a:lnTo>
                <a:lnTo>
                  <a:pt x="4152112" y="6515"/>
                </a:lnTo>
                <a:lnTo>
                  <a:pt x="4137672" y="2895"/>
                </a:lnTo>
                <a:lnTo>
                  <a:pt x="4122953" y="723"/>
                </a:lnTo>
                <a:lnTo>
                  <a:pt x="4107942" y="0"/>
                </a:lnTo>
                <a:lnTo>
                  <a:pt x="69342" y="0"/>
                </a:lnTo>
                <a:lnTo>
                  <a:pt x="25158" y="6515"/>
                </a:lnTo>
                <a:lnTo>
                  <a:pt x="0" y="16802"/>
                </a:lnTo>
                <a:lnTo>
                  <a:pt x="26568" y="22110"/>
                </a:lnTo>
                <a:lnTo>
                  <a:pt x="29235" y="20396"/>
                </a:lnTo>
                <a:lnTo>
                  <a:pt x="38963" y="15633"/>
                </a:lnTo>
                <a:lnTo>
                  <a:pt x="48895" y="12242"/>
                </a:lnTo>
                <a:lnTo>
                  <a:pt x="59016" y="10198"/>
                </a:lnTo>
                <a:lnTo>
                  <a:pt x="69342" y="9525"/>
                </a:lnTo>
                <a:lnTo>
                  <a:pt x="4107942" y="9525"/>
                </a:lnTo>
                <a:lnTo>
                  <a:pt x="4149344" y="15633"/>
                </a:lnTo>
                <a:lnTo>
                  <a:pt x="4187329" y="33578"/>
                </a:lnTo>
                <a:lnTo>
                  <a:pt x="4209415" y="51866"/>
                </a:lnTo>
                <a:lnTo>
                  <a:pt x="4218432" y="61798"/>
                </a:lnTo>
                <a:lnTo>
                  <a:pt x="4239933" y="97713"/>
                </a:lnTo>
                <a:lnTo>
                  <a:pt x="4250131" y="138315"/>
                </a:lnTo>
                <a:lnTo>
                  <a:pt x="4250817" y="152387"/>
                </a:lnTo>
                <a:lnTo>
                  <a:pt x="4250817" y="1171562"/>
                </a:lnTo>
                <a:lnTo>
                  <a:pt x="4244695" y="1212977"/>
                </a:lnTo>
                <a:lnTo>
                  <a:pt x="4226750" y="1250962"/>
                </a:lnTo>
                <a:lnTo>
                  <a:pt x="4208957" y="1272590"/>
                </a:lnTo>
                <a:lnTo>
                  <a:pt x="4175353" y="1297546"/>
                </a:lnTo>
                <a:lnTo>
                  <a:pt x="4135818" y="1311719"/>
                </a:lnTo>
                <a:lnTo>
                  <a:pt x="4107942" y="1314450"/>
                </a:lnTo>
                <a:lnTo>
                  <a:pt x="69342" y="1314450"/>
                </a:lnTo>
                <a:lnTo>
                  <a:pt x="29235" y="1303566"/>
                </a:lnTo>
                <a:lnTo>
                  <a:pt x="26581" y="1301851"/>
                </a:lnTo>
                <a:lnTo>
                  <a:pt x="0" y="1307172"/>
                </a:lnTo>
                <a:lnTo>
                  <a:pt x="39598" y="1321066"/>
                </a:lnTo>
                <a:lnTo>
                  <a:pt x="69342" y="1323975"/>
                </a:lnTo>
                <a:lnTo>
                  <a:pt x="4107942" y="1323975"/>
                </a:lnTo>
                <a:lnTo>
                  <a:pt x="4152100" y="1317447"/>
                </a:lnTo>
                <a:lnTo>
                  <a:pt x="4192625" y="1298308"/>
                </a:lnTo>
                <a:lnTo>
                  <a:pt x="4225798" y="1268196"/>
                </a:lnTo>
                <a:lnTo>
                  <a:pt x="4248734" y="1229893"/>
                </a:lnTo>
                <a:lnTo>
                  <a:pt x="4259605" y="1186586"/>
                </a:lnTo>
                <a:lnTo>
                  <a:pt x="4260342" y="1171562"/>
                </a:lnTo>
                <a:lnTo>
                  <a:pt x="4260342" y="152387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48300" y="8046241"/>
            <a:ext cx="110489" cy="1290955"/>
          </a:xfrm>
          <a:custGeom>
            <a:avLst/>
            <a:gdLst/>
            <a:ahLst/>
            <a:cxnLst/>
            <a:rect l="l" t="t" r="r" b="b"/>
            <a:pathLst>
              <a:path w="110489" h="1290954">
                <a:moveTo>
                  <a:pt x="83341" y="1290638"/>
                </a:moveTo>
                <a:lnTo>
                  <a:pt x="44637" y="1262669"/>
                </a:lnTo>
                <a:lnTo>
                  <a:pt x="18015" y="1226819"/>
                </a:lnTo>
                <a:lnTo>
                  <a:pt x="2899" y="1184643"/>
                </a:lnTo>
                <a:lnTo>
                  <a:pt x="0" y="1154907"/>
                </a:lnTo>
                <a:lnTo>
                  <a:pt x="0" y="135732"/>
                </a:lnTo>
                <a:lnTo>
                  <a:pt x="6524" y="91557"/>
                </a:lnTo>
                <a:lnTo>
                  <a:pt x="25659" y="51046"/>
                </a:lnTo>
                <a:lnTo>
                  <a:pt x="55765" y="17865"/>
                </a:lnTo>
                <a:lnTo>
                  <a:pt x="83342" y="0"/>
                </a:lnTo>
                <a:lnTo>
                  <a:pt x="109862" y="5303"/>
                </a:lnTo>
                <a:lnTo>
                  <a:pt x="102958" y="9747"/>
                </a:lnTo>
                <a:lnTo>
                  <a:pt x="94178" y="16913"/>
                </a:lnTo>
                <a:lnTo>
                  <a:pt x="65265" y="56340"/>
                </a:lnTo>
                <a:lnTo>
                  <a:pt x="52110" y="94318"/>
                </a:lnTo>
                <a:lnTo>
                  <a:pt x="47624" y="135732"/>
                </a:lnTo>
                <a:lnTo>
                  <a:pt x="47624" y="1154907"/>
                </a:lnTo>
                <a:lnTo>
                  <a:pt x="52110" y="1196319"/>
                </a:lnTo>
                <a:lnTo>
                  <a:pt x="65265" y="1234298"/>
                </a:lnTo>
                <a:lnTo>
                  <a:pt x="94178" y="1273724"/>
                </a:lnTo>
                <a:lnTo>
                  <a:pt x="109863" y="1285333"/>
                </a:lnTo>
                <a:lnTo>
                  <a:pt x="83341" y="1290638"/>
                </a:lnTo>
                <a:close/>
              </a:path>
            </a:pathLst>
          </a:custGeom>
          <a:solidFill>
            <a:srgbClr val="10B8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689202" y="8201883"/>
            <a:ext cx="4092973" cy="1124026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b="1" dirty="0">
                <a:solidFill>
                  <a:srgbClr val="10B881"/>
                </a:solidFill>
                <a:latin typeface="Century Gothic"/>
                <a:cs typeface="Century Gothic"/>
              </a:rPr>
              <a:t>FUNÇÃO 2 • RELAXAMENTO ATIVO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650" b="1" dirty="0">
                <a:solidFill>
                  <a:srgbClr val="0F162A"/>
                </a:solidFill>
                <a:latin typeface="Century Gothic"/>
                <a:cs typeface="Century Gothic"/>
              </a:rPr>
              <a:t>Amortecimento Digital</a:t>
            </a:r>
            <a:endParaRPr sz="1650" dirty="0">
              <a:latin typeface="Century Gothic"/>
              <a:cs typeface="Century Gothic"/>
            </a:endParaRPr>
          </a:p>
          <a:p>
            <a:pPr marL="12700" marR="5080">
              <a:lnSpc>
                <a:spcPct val="105000"/>
              </a:lnSpc>
              <a:spcBef>
                <a:spcPts val="295"/>
              </a:spcBef>
            </a:pPr>
            <a:r>
              <a:rPr sz="1250" dirty="0">
                <a:solidFill>
                  <a:srgbClr val="63748A"/>
                </a:solidFill>
                <a:latin typeface="Century Gothic"/>
                <a:cs typeface="Century Gothic"/>
              </a:rPr>
              <a:t>Redução milimétrica da potência óptica ao convergir os olhos para baixo, liberando a tensão do músculo ciliar.</a:t>
            </a:r>
            <a:endParaRPr sz="1250" dirty="0">
              <a:latin typeface="Century Gothic"/>
              <a:cs typeface="Century Gothic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57231" y="1837944"/>
            <a:ext cx="7888223" cy="8182356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1668704" y="3632125"/>
            <a:ext cx="4261596" cy="25776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 spc="-10" dirty="0">
                <a:solidFill>
                  <a:srgbClr val="00D2DE"/>
                </a:solidFill>
                <a:latin typeface="Century Gothic"/>
                <a:cs typeface="Century Gothic"/>
              </a:rPr>
              <a:t>E</a:t>
            </a:r>
            <a:r>
              <a:rPr sz="1600" b="1" spc="-1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SQUE</a:t>
            </a:r>
            <a:r>
              <a:rPr sz="1600" b="1" spc="-1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105" dirty="0">
                <a:solidFill>
                  <a:srgbClr val="00D2DE"/>
                </a:solidFill>
                <a:latin typeface="Century Gothic"/>
                <a:cs typeface="Century Gothic"/>
              </a:rPr>
              <a:t>M</a:t>
            </a:r>
            <a:r>
              <a:rPr sz="1600" b="1" spc="-20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A</a:t>
            </a:r>
            <a:r>
              <a:rPr sz="1600" b="1" spc="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ÓPTI</a:t>
            </a:r>
            <a:r>
              <a:rPr sz="1600" b="1" spc="-19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30" dirty="0">
                <a:solidFill>
                  <a:srgbClr val="00D2DE"/>
                </a:solidFill>
                <a:latin typeface="Century Gothic"/>
                <a:cs typeface="Century Gothic"/>
              </a:rPr>
              <a:t>CO</a:t>
            </a:r>
            <a:r>
              <a:rPr sz="1600" b="1" spc="2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60" dirty="0">
                <a:solidFill>
                  <a:srgbClr val="00D2DE"/>
                </a:solidFill>
                <a:latin typeface="Century Gothic"/>
                <a:cs typeface="Century Gothic"/>
              </a:rPr>
              <a:t>D</a:t>
            </a:r>
            <a:r>
              <a:rPr sz="1600" b="1" spc="-18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80" dirty="0">
                <a:solidFill>
                  <a:srgbClr val="00D2DE"/>
                </a:solidFill>
                <a:latin typeface="Century Gothic"/>
                <a:cs typeface="Century Gothic"/>
              </a:rPr>
              <a:t>O</a:t>
            </a:r>
            <a:r>
              <a:rPr sz="1600" b="1" spc="1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PR</a:t>
            </a:r>
            <a:r>
              <a:rPr sz="1600" b="1" spc="-1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45" dirty="0">
                <a:solidFill>
                  <a:srgbClr val="00D2DE"/>
                </a:solidFill>
                <a:latin typeface="Century Gothic"/>
                <a:cs typeface="Century Gothic"/>
              </a:rPr>
              <a:t>OD</a:t>
            </a:r>
            <a:r>
              <a:rPr sz="1600" b="1" spc="-18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UTO</a:t>
            </a:r>
            <a:r>
              <a:rPr sz="1600" b="1" spc="2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2</a:t>
            </a:r>
            <a:r>
              <a:rPr sz="1600" b="1" spc="7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10" dirty="0">
                <a:solidFill>
                  <a:srgbClr val="00D2DE"/>
                </a:solidFill>
                <a:latin typeface="Century Gothic"/>
                <a:cs typeface="Century Gothic"/>
              </a:rPr>
              <a:t>E</a:t>
            </a:r>
            <a:r>
              <a:rPr sz="1600" b="1" spc="-1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dirty="0">
                <a:solidFill>
                  <a:srgbClr val="00D2DE"/>
                </a:solidFill>
                <a:latin typeface="Century Gothic"/>
                <a:cs typeface="Century Gothic"/>
              </a:rPr>
              <a:t>M</a:t>
            </a:r>
            <a:r>
              <a:rPr sz="1600" b="1" spc="6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600" b="1" spc="-50" dirty="0">
                <a:solidFill>
                  <a:srgbClr val="00D2DE"/>
                </a:solidFill>
                <a:latin typeface="Century Gothic"/>
                <a:cs typeface="Century Gothic"/>
              </a:rPr>
              <a:t>1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912725" y="4618688"/>
            <a:ext cx="1773555" cy="48005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530"/>
              </a:spcBef>
            </a:pPr>
            <a:r>
              <a:rPr sz="1200" b="1" spc="-30" dirty="0">
                <a:solidFill>
                  <a:srgbClr val="38BCF8"/>
                </a:solidFill>
                <a:latin typeface="Trebuchet MS"/>
                <a:cs typeface="Trebuchet MS"/>
              </a:rPr>
              <a:t>100%</a:t>
            </a:r>
            <a:r>
              <a:rPr sz="1200" b="1" spc="-75" dirty="0">
                <a:solidFill>
                  <a:srgbClr val="38BCF8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38BCF8"/>
                </a:solidFill>
                <a:latin typeface="Trebuchet MS"/>
                <a:cs typeface="Trebuchet MS"/>
              </a:rPr>
              <a:t>GRAU </a:t>
            </a:r>
            <a:r>
              <a:rPr sz="1200" b="1" spc="-50" dirty="0">
                <a:solidFill>
                  <a:srgbClr val="38BCF8"/>
                </a:solidFill>
                <a:latin typeface="Trebuchet MS"/>
                <a:cs typeface="Trebuchet MS"/>
              </a:rPr>
              <a:t>DE</a:t>
            </a:r>
            <a:r>
              <a:rPr sz="1200" b="1" spc="-70" dirty="0">
                <a:solidFill>
                  <a:srgbClr val="38BCF8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38BCF8"/>
                </a:solidFill>
                <a:latin typeface="Trebuchet MS"/>
                <a:cs typeface="Trebuchet MS"/>
              </a:rPr>
              <a:t>LONGE</a:t>
            </a:r>
            <a:endParaRPr sz="12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385"/>
              </a:spcBef>
            </a:pPr>
            <a:r>
              <a:rPr sz="1100" spc="-35" dirty="0">
                <a:solidFill>
                  <a:srgbClr val="CAD4E0"/>
                </a:solidFill>
                <a:latin typeface="Microsoft Sans Serif"/>
                <a:cs typeface="Microsoft Sans Serif"/>
              </a:rPr>
              <a:t>Receita</a:t>
            </a:r>
            <a:r>
              <a:rPr sz="1100" spc="-140" dirty="0">
                <a:solidFill>
                  <a:srgbClr val="CAD4E0"/>
                </a:solidFill>
                <a:latin typeface="Microsoft Sans Serif"/>
                <a:cs typeface="Microsoft Sans Serif"/>
              </a:rPr>
              <a:t> </a:t>
            </a:r>
            <a:r>
              <a:rPr sz="1100" spc="-20" dirty="0">
                <a:solidFill>
                  <a:srgbClr val="CAD4E0"/>
                </a:solidFill>
                <a:latin typeface="Microsoft Sans Serif"/>
                <a:cs typeface="Microsoft Sans Serif"/>
              </a:rPr>
              <a:t>Médica</a:t>
            </a:r>
            <a:r>
              <a:rPr sz="1100" spc="-140" dirty="0">
                <a:solidFill>
                  <a:srgbClr val="CAD4E0"/>
                </a:solidFill>
                <a:latin typeface="Microsoft Sans Serif"/>
                <a:cs typeface="Microsoft Sans Serif"/>
              </a:rPr>
              <a:t> </a:t>
            </a:r>
            <a:r>
              <a:rPr sz="1100" spc="125" dirty="0">
                <a:solidFill>
                  <a:srgbClr val="CAD4E0"/>
                </a:solidFill>
                <a:latin typeface="Microsoft Sans Serif"/>
                <a:cs typeface="Microsoft Sans Serif"/>
              </a:rPr>
              <a:t>•</a:t>
            </a:r>
            <a:r>
              <a:rPr sz="1100" spc="-95" dirty="0">
                <a:solidFill>
                  <a:srgbClr val="CAD4E0"/>
                </a:solidFill>
                <a:latin typeface="Microsoft Sans Serif"/>
                <a:cs typeface="Microsoft Sans Serif"/>
              </a:rPr>
              <a:t> </a:t>
            </a:r>
            <a:r>
              <a:rPr sz="1100" dirty="0">
                <a:solidFill>
                  <a:srgbClr val="CAD4E0"/>
                </a:solidFill>
                <a:latin typeface="Microsoft Sans Serif"/>
                <a:cs typeface="Microsoft Sans Serif"/>
              </a:rPr>
              <a:t>Foco</a:t>
            </a:r>
            <a:r>
              <a:rPr sz="1100" spc="-55" dirty="0">
                <a:solidFill>
                  <a:srgbClr val="CAD4E0"/>
                </a:solidFill>
                <a:latin typeface="Microsoft Sans Serif"/>
                <a:cs typeface="Microsoft Sans Serif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Microsoft Sans Serif"/>
                <a:cs typeface="Microsoft Sans Serif"/>
              </a:rPr>
              <a:t>Infinito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2761442" y="5496149"/>
            <a:ext cx="2080895" cy="125095"/>
          </a:xfrm>
          <a:custGeom>
            <a:avLst/>
            <a:gdLst/>
            <a:ahLst/>
            <a:cxnLst/>
            <a:rect l="l" t="t" r="r" b="b"/>
            <a:pathLst>
              <a:path w="2080894" h="125095">
                <a:moveTo>
                  <a:pt x="56083" y="31003"/>
                </a:moveTo>
                <a:lnTo>
                  <a:pt x="0" y="18602"/>
                </a:lnTo>
                <a:lnTo>
                  <a:pt x="4114" y="0"/>
                </a:lnTo>
                <a:lnTo>
                  <a:pt x="60198" y="12411"/>
                </a:lnTo>
                <a:lnTo>
                  <a:pt x="56083" y="31003"/>
                </a:lnTo>
                <a:close/>
              </a:path>
              <a:path w="2080894" h="125095">
                <a:moveTo>
                  <a:pt x="168392" y="53197"/>
                </a:moveTo>
                <a:lnTo>
                  <a:pt x="112423" y="42567"/>
                </a:lnTo>
                <a:lnTo>
                  <a:pt x="115976" y="23850"/>
                </a:lnTo>
                <a:lnTo>
                  <a:pt x="171954" y="34480"/>
                </a:lnTo>
                <a:lnTo>
                  <a:pt x="168392" y="53197"/>
                </a:lnTo>
                <a:close/>
              </a:path>
              <a:path w="2080894" h="125095">
                <a:moveTo>
                  <a:pt x="281673" y="72189"/>
                </a:moveTo>
                <a:lnTo>
                  <a:pt x="225028" y="63103"/>
                </a:lnTo>
                <a:lnTo>
                  <a:pt x="228047" y="44291"/>
                </a:lnTo>
                <a:lnTo>
                  <a:pt x="284692" y="53378"/>
                </a:lnTo>
                <a:lnTo>
                  <a:pt x="281673" y="72189"/>
                </a:lnTo>
                <a:close/>
              </a:path>
              <a:path w="2080894" h="125095">
                <a:moveTo>
                  <a:pt x="394773" y="87953"/>
                </a:moveTo>
                <a:lnTo>
                  <a:pt x="338394" y="80476"/>
                </a:lnTo>
                <a:lnTo>
                  <a:pt x="340899" y="61598"/>
                </a:lnTo>
                <a:lnTo>
                  <a:pt x="397278" y="69065"/>
                </a:lnTo>
                <a:lnTo>
                  <a:pt x="394773" y="87953"/>
                </a:lnTo>
                <a:close/>
              </a:path>
              <a:path w="2080894" h="125095">
                <a:moveTo>
                  <a:pt x="509073" y="100831"/>
                </a:moveTo>
                <a:lnTo>
                  <a:pt x="452208" y="94802"/>
                </a:lnTo>
                <a:lnTo>
                  <a:pt x="454218" y="75857"/>
                </a:lnTo>
                <a:lnTo>
                  <a:pt x="511082" y="81886"/>
                </a:lnTo>
                <a:lnTo>
                  <a:pt x="509073" y="100831"/>
                </a:lnTo>
                <a:close/>
              </a:path>
              <a:path w="2080894" h="125095">
                <a:moveTo>
                  <a:pt x="623154" y="110785"/>
                </a:moveTo>
                <a:lnTo>
                  <a:pt x="565823" y="106137"/>
                </a:lnTo>
                <a:lnTo>
                  <a:pt x="567356" y="87144"/>
                </a:lnTo>
                <a:lnTo>
                  <a:pt x="624687" y="91792"/>
                </a:lnTo>
                <a:lnTo>
                  <a:pt x="623154" y="110785"/>
                </a:lnTo>
                <a:close/>
              </a:path>
              <a:path w="2080894" h="125095">
                <a:moveTo>
                  <a:pt x="737311" y="117976"/>
                </a:moveTo>
                <a:lnTo>
                  <a:pt x="680599" y="114738"/>
                </a:lnTo>
                <a:lnTo>
                  <a:pt x="681685" y="95716"/>
                </a:lnTo>
                <a:lnTo>
                  <a:pt x="738397" y="98955"/>
                </a:lnTo>
                <a:lnTo>
                  <a:pt x="737311" y="117976"/>
                </a:lnTo>
                <a:close/>
              </a:path>
              <a:path w="2080894" h="125095">
                <a:moveTo>
                  <a:pt x="852249" y="122548"/>
                </a:moveTo>
                <a:lnTo>
                  <a:pt x="794737" y="120586"/>
                </a:lnTo>
                <a:lnTo>
                  <a:pt x="795318" y="103508"/>
                </a:lnTo>
                <a:lnTo>
                  <a:pt x="795385" y="101546"/>
                </a:lnTo>
                <a:lnTo>
                  <a:pt x="852897" y="103508"/>
                </a:lnTo>
                <a:lnTo>
                  <a:pt x="852316" y="120586"/>
                </a:lnTo>
                <a:lnTo>
                  <a:pt x="852249" y="122548"/>
                </a:lnTo>
                <a:close/>
              </a:path>
              <a:path w="2080894" h="125095">
                <a:moveTo>
                  <a:pt x="966330" y="124539"/>
                </a:moveTo>
                <a:lnTo>
                  <a:pt x="909275" y="123853"/>
                </a:lnTo>
                <a:lnTo>
                  <a:pt x="909495" y="105489"/>
                </a:lnTo>
                <a:lnTo>
                  <a:pt x="909504" y="104803"/>
                </a:lnTo>
                <a:lnTo>
                  <a:pt x="966558" y="105489"/>
                </a:lnTo>
                <a:lnTo>
                  <a:pt x="966338" y="123853"/>
                </a:lnTo>
                <a:lnTo>
                  <a:pt x="966330" y="124539"/>
                </a:lnTo>
                <a:close/>
              </a:path>
              <a:path w="2080894" h="125095">
                <a:moveTo>
                  <a:pt x="1024261" y="124615"/>
                </a:moveTo>
                <a:lnTo>
                  <a:pt x="1024080" y="105565"/>
                </a:lnTo>
                <a:lnTo>
                  <a:pt x="1080877" y="105032"/>
                </a:lnTo>
                <a:lnTo>
                  <a:pt x="1081058" y="124082"/>
                </a:lnTo>
                <a:lnTo>
                  <a:pt x="1024261" y="124615"/>
                </a:lnTo>
                <a:close/>
              </a:path>
              <a:path w="2080894" h="125095">
                <a:moveTo>
                  <a:pt x="1138275" y="122948"/>
                </a:moveTo>
                <a:lnTo>
                  <a:pt x="1137694" y="103908"/>
                </a:lnTo>
                <a:lnTo>
                  <a:pt x="1195473" y="102165"/>
                </a:lnTo>
                <a:lnTo>
                  <a:pt x="1196054" y="121205"/>
                </a:lnTo>
                <a:lnTo>
                  <a:pt x="1138275" y="122948"/>
                </a:lnTo>
                <a:close/>
              </a:path>
              <a:path w="2080894" h="125095">
                <a:moveTo>
                  <a:pt x="1252804" y="118910"/>
                </a:moveTo>
                <a:lnTo>
                  <a:pt x="1251842" y="99888"/>
                </a:lnTo>
                <a:lnTo>
                  <a:pt x="1309154" y="97002"/>
                </a:lnTo>
                <a:lnTo>
                  <a:pt x="1310106" y="116024"/>
                </a:lnTo>
                <a:lnTo>
                  <a:pt x="1252804" y="118910"/>
                </a:lnTo>
                <a:close/>
              </a:path>
              <a:path w="2080894" h="125095">
                <a:moveTo>
                  <a:pt x="1367818" y="112537"/>
                </a:moveTo>
                <a:lnTo>
                  <a:pt x="1366475" y="93535"/>
                </a:lnTo>
                <a:lnTo>
                  <a:pt x="1422368" y="89592"/>
                </a:lnTo>
                <a:lnTo>
                  <a:pt x="1423711" y="108594"/>
                </a:lnTo>
                <a:lnTo>
                  <a:pt x="1367818" y="112537"/>
                </a:lnTo>
                <a:close/>
              </a:path>
              <a:path w="2080894" h="125095">
                <a:moveTo>
                  <a:pt x="1482061" y="103908"/>
                </a:moveTo>
                <a:lnTo>
                  <a:pt x="1480346" y="84934"/>
                </a:lnTo>
                <a:lnTo>
                  <a:pt x="1536963" y="79819"/>
                </a:lnTo>
                <a:lnTo>
                  <a:pt x="1538678" y="98783"/>
                </a:lnTo>
                <a:lnTo>
                  <a:pt x="1482061" y="103908"/>
                </a:lnTo>
                <a:close/>
              </a:path>
              <a:path w="2080894" h="125095">
                <a:moveTo>
                  <a:pt x="1595685" y="93068"/>
                </a:moveTo>
                <a:lnTo>
                  <a:pt x="1593589" y="74133"/>
                </a:lnTo>
                <a:lnTo>
                  <a:pt x="1650939" y="67789"/>
                </a:lnTo>
                <a:lnTo>
                  <a:pt x="1653035" y="86725"/>
                </a:lnTo>
                <a:lnTo>
                  <a:pt x="1595685" y="93068"/>
                </a:lnTo>
                <a:close/>
              </a:path>
              <a:path w="2080894" h="125095">
                <a:moveTo>
                  <a:pt x="1709070" y="79962"/>
                </a:moveTo>
                <a:lnTo>
                  <a:pt x="1706594" y="61074"/>
                </a:lnTo>
                <a:lnTo>
                  <a:pt x="1764382" y="53492"/>
                </a:lnTo>
                <a:lnTo>
                  <a:pt x="1766858" y="72380"/>
                </a:lnTo>
                <a:lnTo>
                  <a:pt x="1709070" y="79962"/>
                </a:lnTo>
                <a:close/>
              </a:path>
              <a:path w="2080894" h="125095">
                <a:moveTo>
                  <a:pt x="1822894" y="64427"/>
                </a:moveTo>
                <a:lnTo>
                  <a:pt x="1820008" y="45596"/>
                </a:lnTo>
                <a:lnTo>
                  <a:pt x="1877015" y="36861"/>
                </a:lnTo>
                <a:lnTo>
                  <a:pt x="1879901" y="55692"/>
                </a:lnTo>
                <a:lnTo>
                  <a:pt x="1822894" y="64427"/>
                </a:lnTo>
                <a:close/>
              </a:path>
              <a:path w="2080894" h="125095">
                <a:moveTo>
                  <a:pt x="1937213" y="46205"/>
                </a:moveTo>
                <a:lnTo>
                  <a:pt x="1933860" y="27460"/>
                </a:lnTo>
                <a:lnTo>
                  <a:pt x="1989677" y="17478"/>
                </a:lnTo>
                <a:lnTo>
                  <a:pt x="1993030" y="36233"/>
                </a:lnTo>
                <a:lnTo>
                  <a:pt x="1937213" y="46205"/>
                </a:lnTo>
                <a:close/>
              </a:path>
              <a:path w="2080894" h="125095">
                <a:moveTo>
                  <a:pt x="2050122" y="25098"/>
                </a:moveTo>
                <a:lnTo>
                  <a:pt x="2046293" y="6438"/>
                </a:lnTo>
                <a:lnTo>
                  <a:pt x="2076373" y="19"/>
                </a:lnTo>
                <a:lnTo>
                  <a:pt x="2080641" y="18583"/>
                </a:lnTo>
                <a:lnTo>
                  <a:pt x="2059515" y="23158"/>
                </a:lnTo>
                <a:lnTo>
                  <a:pt x="2050122" y="25098"/>
                </a:lnTo>
                <a:close/>
              </a:path>
            </a:pathLst>
          </a:custGeom>
          <a:solidFill>
            <a:srgbClr val="00D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927125" y="5748527"/>
            <a:ext cx="1727200" cy="1663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spc="-30" dirty="0">
                <a:solidFill>
                  <a:srgbClr val="00D2DE"/>
                </a:solidFill>
                <a:latin typeface="Century Gothic"/>
                <a:cs typeface="Century Gothic"/>
              </a:rPr>
              <a:t>TRANSIÇÃO</a:t>
            </a:r>
            <a:r>
              <a:rPr sz="900" b="1" spc="-4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900" b="1" spc="-10" dirty="0">
                <a:solidFill>
                  <a:srgbClr val="00D2DE"/>
                </a:solidFill>
                <a:latin typeface="Century Gothic"/>
                <a:cs typeface="Century Gothic"/>
              </a:rPr>
              <a:t>SUAVE</a:t>
            </a:r>
            <a:r>
              <a:rPr sz="900" b="1" spc="-3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900" b="1" dirty="0">
                <a:solidFill>
                  <a:srgbClr val="00D2DE"/>
                </a:solidFill>
                <a:latin typeface="Century Gothic"/>
                <a:cs typeface="Century Gothic"/>
              </a:rPr>
              <a:t>•</a:t>
            </a:r>
            <a:r>
              <a:rPr sz="900" b="1" spc="-9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900" b="1" dirty="0">
                <a:solidFill>
                  <a:srgbClr val="00D2DE"/>
                </a:solidFill>
                <a:latin typeface="Century Gothic"/>
                <a:cs typeface="Century Gothic"/>
              </a:rPr>
              <a:t>SEM</a:t>
            </a:r>
            <a:r>
              <a:rPr sz="900" b="1" spc="-5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900" b="1" spc="-20" dirty="0">
                <a:solidFill>
                  <a:srgbClr val="00D2DE"/>
                </a:solidFill>
                <a:latin typeface="Century Gothic"/>
                <a:cs typeface="Century Gothic"/>
              </a:rPr>
              <a:t>SALTO</a:t>
            </a:r>
            <a:endParaRPr sz="900" dirty="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827000" y="6086490"/>
            <a:ext cx="1946275" cy="69121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450"/>
              </a:spcBef>
            </a:pPr>
            <a:r>
              <a:rPr sz="1200" b="1" dirty="0">
                <a:solidFill>
                  <a:srgbClr val="34D299"/>
                </a:solidFill>
                <a:latin typeface="Trebuchet MS"/>
                <a:cs typeface="Trebuchet MS"/>
              </a:rPr>
              <a:t>ÁREA DE RELAXAMENTO</a:t>
            </a:r>
            <a:endParaRPr sz="1200" dirty="0">
              <a:latin typeface="Trebuchet MS"/>
              <a:cs typeface="Trebuchet MS"/>
            </a:endParaRPr>
          </a:p>
          <a:p>
            <a:pPr marL="12065" marR="5080" algn="ctr">
              <a:lnSpc>
                <a:spcPts val="1650"/>
              </a:lnSpc>
              <a:spcBef>
                <a:spcPts val="75"/>
              </a:spcBef>
            </a:pPr>
            <a:r>
              <a:rPr sz="1100" dirty="0">
                <a:solidFill>
                  <a:srgbClr val="CAD4E0"/>
                </a:solidFill>
                <a:latin typeface="Microsoft Sans Serif"/>
                <a:cs typeface="Microsoft Sans Serif"/>
              </a:rPr>
              <a:t>Amortecedor Muscular para Telas </a:t>
            </a:r>
            <a:r>
              <a:rPr sz="1100" b="1" dirty="0" err="1">
                <a:solidFill>
                  <a:srgbClr val="10B881"/>
                </a:solidFill>
                <a:latin typeface="Century Gothic"/>
                <a:cs typeface="Century Gothic"/>
              </a:rPr>
              <a:t>Alívio</a:t>
            </a:r>
            <a:r>
              <a:rPr sz="1100" b="1" dirty="0">
                <a:solidFill>
                  <a:srgbClr val="10B881"/>
                </a:solidFill>
                <a:latin typeface="Century Gothic"/>
                <a:cs typeface="Century Gothic"/>
              </a:rPr>
              <a:t> </a:t>
            </a:r>
            <a:r>
              <a:rPr sz="1100" b="1" dirty="0" err="1">
                <a:solidFill>
                  <a:srgbClr val="10B881"/>
                </a:solidFill>
                <a:latin typeface="Century Gothic"/>
                <a:cs typeface="Century Gothic"/>
              </a:rPr>
              <a:t>Acomodativo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11345" y="7600994"/>
            <a:ext cx="4766627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dirty="0">
                <a:solidFill>
                  <a:srgbClr val="93A2B8"/>
                </a:solidFill>
                <a:latin typeface="Microsoft Sans Serif"/>
                <a:cs typeface="Microsoft Sans Serif"/>
              </a:rPr>
              <a:t>Nenhuma linha aparente • Adaptação em minutos • Estética 100% limpa</a:t>
            </a: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96566" y="9425826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96925" y="9491250"/>
            <a:ext cx="2593975" cy="1924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spc="-60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250" b="1" spc="-11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85" dirty="0">
                <a:solidFill>
                  <a:srgbClr val="0284C6"/>
                </a:solidFill>
                <a:latin typeface="Century Gothic"/>
                <a:cs typeface="Century Gothic"/>
              </a:rPr>
              <a:t>2</a:t>
            </a:r>
            <a:r>
              <a:rPr sz="1250" b="1" spc="-1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60" dirty="0">
                <a:solidFill>
                  <a:srgbClr val="0284C6"/>
                </a:solidFill>
                <a:latin typeface="Century Gothic"/>
                <a:cs typeface="Century Gothic"/>
              </a:rPr>
              <a:t>•</a:t>
            </a:r>
            <a:r>
              <a:rPr sz="1250" b="1" spc="-12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250" b="1" spc="-10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95" dirty="0">
                <a:solidFill>
                  <a:srgbClr val="0284C6"/>
                </a:solidFill>
                <a:latin typeface="Century Gothic"/>
                <a:cs typeface="Century Gothic"/>
              </a:rPr>
              <a:t>Revolução</a:t>
            </a:r>
            <a:r>
              <a:rPr sz="1250" b="1" spc="-10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125" dirty="0">
                <a:solidFill>
                  <a:srgbClr val="0284C6"/>
                </a:solidFill>
                <a:latin typeface="Century Gothic"/>
                <a:cs typeface="Century Gothic"/>
              </a:rPr>
              <a:t>do</a:t>
            </a:r>
            <a:r>
              <a:rPr sz="1250" b="1" spc="-11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Produto</a:t>
            </a:r>
            <a:r>
              <a:rPr sz="1250" b="1" spc="-11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85" dirty="0">
                <a:solidFill>
                  <a:srgbClr val="0284C6"/>
                </a:solidFill>
                <a:latin typeface="Century Gothic"/>
                <a:cs typeface="Century Gothic"/>
              </a:rPr>
              <a:t>2</a:t>
            </a:r>
            <a:r>
              <a:rPr sz="1250" b="1" spc="-1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165" dirty="0">
                <a:solidFill>
                  <a:srgbClr val="0284C6"/>
                </a:solidFill>
                <a:latin typeface="Century Gothic"/>
                <a:cs typeface="Century Gothic"/>
              </a:rPr>
              <a:t>em</a:t>
            </a:r>
            <a:r>
              <a:rPr sz="1250" b="1" spc="-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250" b="1" spc="-330" dirty="0">
                <a:solidFill>
                  <a:srgbClr val="0284C6"/>
                </a:solidFill>
                <a:latin typeface="Century Gothic"/>
                <a:cs typeface="Century Gothic"/>
              </a:rPr>
              <a:t>1</a:t>
            </a:r>
            <a:endParaRPr sz="1250">
              <a:latin typeface="Century Gothic"/>
              <a:cs typeface="Century Gothic"/>
            </a:endParaRPr>
          </a:p>
        </p:txBody>
      </p:sp>
      <p:grpSp>
        <p:nvGrpSpPr>
          <p:cNvPr id="37" name="object 3">
            <a:extLst>
              <a:ext uri="{FF2B5EF4-FFF2-40B4-BE49-F238E27FC236}">
                <a16:creationId xmlns:a16="http://schemas.microsoft.com/office/drawing/2014/main" id="{682A34C6-0E5F-44F2-8BC4-DC6EA31FBBE0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38" name="object 4">
              <a:extLst>
                <a:ext uri="{FF2B5EF4-FFF2-40B4-BE49-F238E27FC236}">
                  <a16:creationId xmlns:a16="http://schemas.microsoft.com/office/drawing/2014/main" id="{DB42AE65-9E75-4638-B969-C5AE30F7F6A1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5">
              <a:extLst>
                <a:ext uri="{FF2B5EF4-FFF2-40B4-BE49-F238E27FC236}">
                  <a16:creationId xmlns:a16="http://schemas.microsoft.com/office/drawing/2014/main" id="{5CB30871-60BF-4FEE-8054-98FF39BA501D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6">
            <a:extLst>
              <a:ext uri="{FF2B5EF4-FFF2-40B4-BE49-F238E27FC236}">
                <a16:creationId xmlns:a16="http://schemas.microsoft.com/office/drawing/2014/main" id="{47A5177E-861F-4B98-B722-DC4D53144A8F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286000" cy="266700"/>
          </a:xfrm>
          <a:custGeom>
            <a:avLst/>
            <a:gdLst/>
            <a:ahLst/>
            <a:cxnLst/>
            <a:rect l="l" t="t" r="r" b="b"/>
            <a:pathLst>
              <a:path w="2286000" h="266700">
                <a:moveTo>
                  <a:pt x="215265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5"/>
                </a:lnTo>
                <a:lnTo>
                  <a:pt x="53908" y="240447"/>
                </a:lnTo>
                <a:lnTo>
                  <a:pt x="26243" y="212792"/>
                </a:lnTo>
                <a:lnTo>
                  <a:pt x="7792" y="178262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23"/>
                </a:lnTo>
                <a:lnTo>
                  <a:pt x="26243" y="53898"/>
                </a:lnTo>
                <a:lnTo>
                  <a:pt x="53908" y="26235"/>
                </a:lnTo>
                <a:lnTo>
                  <a:pt x="88432" y="7784"/>
                </a:lnTo>
                <a:lnTo>
                  <a:pt x="126799" y="160"/>
                </a:lnTo>
                <a:lnTo>
                  <a:pt x="133350" y="0"/>
                </a:lnTo>
                <a:lnTo>
                  <a:pt x="2152650" y="0"/>
                </a:lnTo>
                <a:lnTo>
                  <a:pt x="2191359" y="5735"/>
                </a:lnTo>
                <a:lnTo>
                  <a:pt x="2226735" y="22459"/>
                </a:lnTo>
                <a:lnTo>
                  <a:pt x="2255730" y="48746"/>
                </a:lnTo>
                <a:lnTo>
                  <a:pt x="2275846" y="82305"/>
                </a:lnTo>
                <a:lnTo>
                  <a:pt x="2285358" y="120278"/>
                </a:lnTo>
                <a:lnTo>
                  <a:pt x="2286000" y="133350"/>
                </a:lnTo>
                <a:lnTo>
                  <a:pt x="2285839" y="139899"/>
                </a:lnTo>
                <a:lnTo>
                  <a:pt x="2278207" y="178262"/>
                </a:lnTo>
                <a:lnTo>
                  <a:pt x="2259755" y="212792"/>
                </a:lnTo>
                <a:lnTo>
                  <a:pt x="2232091" y="240447"/>
                </a:lnTo>
                <a:lnTo>
                  <a:pt x="2197567" y="258905"/>
                </a:lnTo>
                <a:lnTo>
                  <a:pt x="2159200" y="266539"/>
                </a:lnTo>
                <a:lnTo>
                  <a:pt x="215265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199580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2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:</a:t>
            </a:r>
            <a:r>
              <a:rPr sz="1100" b="1" spc="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VOLUÇÃO</a:t>
            </a:r>
            <a:r>
              <a:rPr sz="1100" b="1" spc="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5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LI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95" dirty="0">
                <a:solidFill>
                  <a:srgbClr val="0284C6"/>
                </a:solidFill>
                <a:latin typeface="Century Gothic"/>
                <a:cs typeface="Century Gothic"/>
              </a:rPr>
              <a:t>N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5" dirty="0">
                <a:solidFill>
                  <a:srgbClr val="0284C6"/>
                </a:solidFill>
                <a:latin typeface="Century Gothic"/>
                <a:cs typeface="Century Gothic"/>
              </a:rPr>
              <a:t>H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65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7227570" cy="880744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spc="-240" dirty="0">
                <a:solidFill>
                  <a:srgbClr val="0F162A"/>
                </a:solidFill>
                <a:latin typeface="Arial"/>
                <a:cs typeface="Arial"/>
              </a:rPr>
              <a:t>Gold</a:t>
            </a:r>
            <a:r>
              <a:rPr sz="3050" spc="-17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45" dirty="0">
                <a:solidFill>
                  <a:srgbClr val="0F162A"/>
                </a:solidFill>
                <a:latin typeface="Arial"/>
                <a:cs typeface="Arial"/>
              </a:rPr>
              <a:t>Comfort</a:t>
            </a:r>
            <a:r>
              <a:rPr sz="3050" spc="-17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20" dirty="0">
                <a:solidFill>
                  <a:srgbClr val="0F162A"/>
                </a:solidFill>
                <a:latin typeface="Arial"/>
                <a:cs typeface="Arial"/>
              </a:rPr>
              <a:t>Standard</a:t>
            </a:r>
            <a:r>
              <a:rPr sz="3050" spc="-165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50" dirty="0">
                <a:solidFill>
                  <a:srgbClr val="0F162A"/>
                </a:solidFill>
                <a:latin typeface="Arial"/>
                <a:cs typeface="Arial"/>
              </a:rPr>
              <a:t>vs.</a:t>
            </a:r>
            <a:r>
              <a:rPr sz="3050" spc="-25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240" dirty="0">
                <a:solidFill>
                  <a:srgbClr val="0F162A"/>
                </a:solidFill>
                <a:latin typeface="Arial"/>
                <a:cs typeface="Arial"/>
              </a:rPr>
              <a:t>Gold</a:t>
            </a:r>
            <a:r>
              <a:rPr sz="3050" spc="-165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145" dirty="0">
                <a:solidFill>
                  <a:srgbClr val="0F162A"/>
                </a:solidFill>
                <a:latin typeface="Arial"/>
                <a:cs typeface="Arial"/>
              </a:rPr>
              <a:t>Comfort</a:t>
            </a:r>
            <a:r>
              <a:rPr sz="3050" spc="-170" dirty="0">
                <a:solidFill>
                  <a:srgbClr val="0F162A"/>
                </a:solidFill>
                <a:latin typeface="Arial"/>
                <a:cs typeface="Arial"/>
              </a:rPr>
              <a:t> </a:t>
            </a:r>
            <a:r>
              <a:rPr sz="3050" spc="-305" dirty="0">
                <a:solidFill>
                  <a:srgbClr val="0F162A"/>
                </a:solidFill>
                <a:latin typeface="Arial"/>
                <a:cs typeface="Arial"/>
              </a:rPr>
              <a:t>IA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O</a:t>
            </a:r>
            <a:r>
              <a:rPr sz="1400" b="0" spc="-12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30" dirty="0">
                <a:solidFill>
                  <a:srgbClr val="63748A"/>
                </a:solidFill>
                <a:latin typeface="Century Gothic"/>
                <a:cs typeface="Century Gothic"/>
              </a:rPr>
              <a:t>que</a:t>
            </a:r>
            <a:r>
              <a:rPr sz="1400" b="0" spc="-17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55" dirty="0">
                <a:solidFill>
                  <a:srgbClr val="63748A"/>
                </a:solidFill>
                <a:latin typeface="Century Gothic"/>
                <a:cs typeface="Century Gothic"/>
              </a:rPr>
              <a:t>muda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45" dirty="0">
                <a:solidFill>
                  <a:srgbClr val="63748A"/>
                </a:solidFill>
                <a:latin typeface="Century Gothic"/>
                <a:cs typeface="Century Gothic"/>
              </a:rPr>
              <a:t>com</a:t>
            </a:r>
            <a:r>
              <a:rPr sz="1400" b="0" spc="-9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229" dirty="0">
                <a:solidFill>
                  <a:srgbClr val="63748A"/>
                </a:solidFill>
                <a:latin typeface="Century Gothic"/>
                <a:cs typeface="Century Gothic"/>
              </a:rPr>
              <a:t>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90" dirty="0">
                <a:solidFill>
                  <a:srgbClr val="63748A"/>
                </a:solidFill>
                <a:latin typeface="Century Gothic"/>
                <a:cs typeface="Century Gothic"/>
              </a:rPr>
              <a:t>Inteligência</a:t>
            </a:r>
            <a:r>
              <a:rPr sz="1400" b="0" spc="-11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50" dirty="0">
                <a:solidFill>
                  <a:srgbClr val="63748A"/>
                </a:solidFill>
                <a:latin typeface="Century Gothic"/>
                <a:cs typeface="Century Gothic"/>
              </a:rPr>
              <a:t>Artificial</a:t>
            </a:r>
            <a:r>
              <a:rPr sz="1400" b="0" spc="-13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65" dirty="0">
                <a:solidFill>
                  <a:srgbClr val="63748A"/>
                </a:solidFill>
                <a:latin typeface="Century Gothic"/>
                <a:cs typeface="Century Gothic"/>
              </a:rPr>
              <a:t>Preditiva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35" dirty="0">
                <a:solidFill>
                  <a:srgbClr val="63748A"/>
                </a:solidFill>
                <a:latin typeface="Century Gothic"/>
                <a:cs typeface="Century Gothic"/>
              </a:rPr>
              <a:t>e</a:t>
            </a:r>
            <a:r>
              <a:rPr sz="1400" b="0" spc="-170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40" dirty="0">
                <a:solidFill>
                  <a:srgbClr val="63748A"/>
                </a:solidFill>
                <a:latin typeface="Century Gothic"/>
                <a:cs typeface="Century Gothic"/>
              </a:rPr>
              <a:t>quando </a:t>
            </a:r>
            <a:r>
              <a:rPr sz="1400" b="0" spc="-90" dirty="0">
                <a:solidFill>
                  <a:srgbClr val="63748A"/>
                </a:solidFill>
                <a:latin typeface="Century Gothic"/>
                <a:cs typeface="Century Gothic"/>
              </a:rPr>
              <a:t>indicar</a:t>
            </a:r>
            <a:r>
              <a:rPr sz="1400" b="0" spc="-125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90" dirty="0">
                <a:solidFill>
                  <a:srgbClr val="63748A"/>
                </a:solidFill>
                <a:latin typeface="Century Gothic"/>
                <a:cs typeface="Century Gothic"/>
              </a:rPr>
              <a:t>cada</a:t>
            </a:r>
            <a:r>
              <a:rPr sz="1400" b="0" spc="-114" dirty="0">
                <a:solidFill>
                  <a:srgbClr val="63748A"/>
                </a:solidFill>
                <a:latin typeface="Century Gothic"/>
                <a:cs typeface="Century Gothic"/>
              </a:rPr>
              <a:t> </a:t>
            </a:r>
            <a:r>
              <a:rPr sz="1400" b="0" spc="-10" dirty="0">
                <a:solidFill>
                  <a:srgbClr val="63748A"/>
                </a:solidFill>
                <a:latin typeface="Century Gothic"/>
                <a:cs typeface="Century Gothic"/>
              </a:rPr>
              <a:t>versão.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2543" y="1837944"/>
            <a:ext cx="8539409" cy="7821295"/>
            <a:chOff x="542543" y="1837944"/>
            <a:chExt cx="8726805" cy="7821295"/>
          </a:xfrm>
        </p:grpSpPr>
        <p:sp>
          <p:nvSpPr>
            <p:cNvPr id="6" name="object 6"/>
            <p:cNvSpPr/>
            <p:nvPr/>
          </p:nvSpPr>
          <p:spPr>
            <a:xfrm>
              <a:off x="542543" y="1837944"/>
              <a:ext cx="8726805" cy="7821295"/>
            </a:xfrm>
            <a:custGeom>
              <a:avLst/>
              <a:gdLst/>
              <a:ahLst/>
              <a:cxnLst/>
              <a:rect l="l" t="t" r="r" b="b"/>
              <a:pathLst>
                <a:path w="8726805" h="7821295">
                  <a:moveTo>
                    <a:pt x="8726423" y="7821167"/>
                  </a:moveTo>
                  <a:lnTo>
                    <a:pt x="0" y="7821167"/>
                  </a:lnTo>
                  <a:lnTo>
                    <a:pt x="0" y="0"/>
                  </a:lnTo>
                  <a:lnTo>
                    <a:pt x="8726423" y="0"/>
                  </a:lnTo>
                  <a:lnTo>
                    <a:pt x="8726423" y="238505"/>
                  </a:lnTo>
                  <a:lnTo>
                    <a:pt x="419480" y="238505"/>
                  </a:lnTo>
                  <a:lnTo>
                    <a:pt x="405406" y="239185"/>
                  </a:lnTo>
                  <a:lnTo>
                    <a:pt x="364805" y="249381"/>
                  </a:lnTo>
                  <a:lnTo>
                    <a:pt x="328885" y="270881"/>
                  </a:lnTo>
                  <a:lnTo>
                    <a:pt x="300662" y="301989"/>
                  </a:lnTo>
                  <a:lnTo>
                    <a:pt x="282722" y="339969"/>
                  </a:lnTo>
                  <a:lnTo>
                    <a:pt x="276605" y="381380"/>
                  </a:lnTo>
                  <a:lnTo>
                    <a:pt x="276605" y="7363205"/>
                  </a:lnTo>
                  <a:lnTo>
                    <a:pt x="282722" y="7404617"/>
                  </a:lnTo>
                  <a:lnTo>
                    <a:pt x="300662" y="7442597"/>
                  </a:lnTo>
                  <a:lnTo>
                    <a:pt x="328885" y="7473703"/>
                  </a:lnTo>
                  <a:lnTo>
                    <a:pt x="364805" y="7495202"/>
                  </a:lnTo>
                  <a:lnTo>
                    <a:pt x="405406" y="7505400"/>
                  </a:lnTo>
                  <a:lnTo>
                    <a:pt x="419480" y="7506080"/>
                  </a:lnTo>
                  <a:lnTo>
                    <a:pt x="8726423" y="7506080"/>
                  </a:lnTo>
                  <a:lnTo>
                    <a:pt x="8726423" y="7821167"/>
                  </a:lnTo>
                  <a:close/>
                </a:path>
                <a:path w="8726805" h="7821295">
                  <a:moveTo>
                    <a:pt x="8726423" y="7506080"/>
                  </a:moveTo>
                  <a:lnTo>
                    <a:pt x="8306180" y="7506080"/>
                  </a:lnTo>
                  <a:lnTo>
                    <a:pt x="8320255" y="7505400"/>
                  </a:lnTo>
                  <a:lnTo>
                    <a:pt x="8334058" y="7503360"/>
                  </a:lnTo>
                  <a:lnTo>
                    <a:pt x="8373599" y="7489188"/>
                  </a:lnTo>
                  <a:lnTo>
                    <a:pt x="8407206" y="7464231"/>
                  </a:lnTo>
                  <a:lnTo>
                    <a:pt x="8432164" y="7430624"/>
                  </a:lnTo>
                  <a:lnTo>
                    <a:pt x="8446335" y="7391083"/>
                  </a:lnTo>
                  <a:lnTo>
                    <a:pt x="8449055" y="7363205"/>
                  </a:lnTo>
                  <a:lnTo>
                    <a:pt x="8449055" y="381380"/>
                  </a:lnTo>
                  <a:lnTo>
                    <a:pt x="8442936" y="339969"/>
                  </a:lnTo>
                  <a:lnTo>
                    <a:pt x="8424998" y="301989"/>
                  </a:lnTo>
                  <a:lnTo>
                    <a:pt x="8396774" y="270881"/>
                  </a:lnTo>
                  <a:lnTo>
                    <a:pt x="8360855" y="249381"/>
                  </a:lnTo>
                  <a:lnTo>
                    <a:pt x="8320255" y="239185"/>
                  </a:lnTo>
                  <a:lnTo>
                    <a:pt x="8306180" y="238505"/>
                  </a:lnTo>
                  <a:lnTo>
                    <a:pt x="8726423" y="238505"/>
                  </a:lnTo>
                  <a:lnTo>
                    <a:pt x="8726423" y="750608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4387" y="2095500"/>
              <a:ext cx="8181975" cy="7253605"/>
            </a:xfrm>
            <a:custGeom>
              <a:avLst/>
              <a:gdLst/>
              <a:ahLst/>
              <a:cxnLst/>
              <a:rect l="l" t="t" r="r" b="b"/>
              <a:pathLst>
                <a:path w="8181975" h="7253605">
                  <a:moveTo>
                    <a:pt x="8034337" y="7253287"/>
                  </a:moveTo>
                  <a:lnTo>
                    <a:pt x="147637" y="7253287"/>
                  </a:lnTo>
                  <a:lnTo>
                    <a:pt x="140383" y="7253109"/>
                  </a:lnTo>
                  <a:lnTo>
                    <a:pt x="97907" y="7244653"/>
                  </a:lnTo>
                  <a:lnTo>
                    <a:pt x="59681" y="7224227"/>
                  </a:lnTo>
                  <a:lnTo>
                    <a:pt x="29058" y="7193600"/>
                  </a:lnTo>
                  <a:lnTo>
                    <a:pt x="8624" y="7155375"/>
                  </a:lnTo>
                  <a:lnTo>
                    <a:pt x="176" y="7112903"/>
                  </a:lnTo>
                  <a:lnTo>
                    <a:pt x="0" y="7105650"/>
                  </a:lnTo>
                  <a:lnTo>
                    <a:pt x="0" y="115690"/>
                  </a:lnTo>
                  <a:lnTo>
                    <a:pt x="14944" y="68922"/>
                  </a:lnTo>
                  <a:lnTo>
                    <a:pt x="43243" y="36261"/>
                  </a:lnTo>
                  <a:lnTo>
                    <a:pt x="78040" y="14611"/>
                  </a:lnTo>
                  <a:lnTo>
                    <a:pt x="118833" y="2381"/>
                  </a:lnTo>
                  <a:lnTo>
                    <a:pt x="147637" y="0"/>
                  </a:lnTo>
                  <a:lnTo>
                    <a:pt x="8034337" y="0"/>
                  </a:lnTo>
                  <a:lnTo>
                    <a:pt x="8077192" y="5325"/>
                  </a:lnTo>
                  <a:lnTo>
                    <a:pt x="8116357" y="20859"/>
                  </a:lnTo>
                  <a:lnTo>
                    <a:pt x="8148463" y="45263"/>
                  </a:lnTo>
                  <a:lnTo>
                    <a:pt x="8174440" y="83943"/>
                  </a:lnTo>
                  <a:lnTo>
                    <a:pt x="8181975" y="115690"/>
                  </a:lnTo>
                  <a:lnTo>
                    <a:pt x="8181975" y="7105650"/>
                  </a:lnTo>
                  <a:lnTo>
                    <a:pt x="8175618" y="7148506"/>
                  </a:lnTo>
                  <a:lnTo>
                    <a:pt x="8157095" y="7187669"/>
                  </a:lnTo>
                  <a:lnTo>
                    <a:pt x="8127994" y="7219772"/>
                  </a:lnTo>
                  <a:lnTo>
                    <a:pt x="8090830" y="7242038"/>
                  </a:lnTo>
                  <a:lnTo>
                    <a:pt x="8048810" y="7252575"/>
                  </a:lnTo>
                  <a:lnTo>
                    <a:pt x="8034337" y="72532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4239" y="2066926"/>
              <a:ext cx="8162290" cy="117475"/>
            </a:xfrm>
            <a:custGeom>
              <a:avLst/>
              <a:gdLst/>
              <a:ahLst/>
              <a:cxnLst/>
              <a:rect l="l" t="t" r="r" b="b"/>
              <a:pathLst>
                <a:path w="8162290" h="117475">
                  <a:moveTo>
                    <a:pt x="4963" y="117476"/>
                  </a:moveTo>
                  <a:lnTo>
                    <a:pt x="0" y="87692"/>
                  </a:lnTo>
                  <a:lnTo>
                    <a:pt x="3400" y="80486"/>
                  </a:lnTo>
                  <a:lnTo>
                    <a:pt x="11045" y="67715"/>
                  </a:lnTo>
                  <a:lnTo>
                    <a:pt x="41151" y="34533"/>
                  </a:lnTo>
                  <a:lnTo>
                    <a:pt x="79465" y="11600"/>
                  </a:lnTo>
                  <a:lnTo>
                    <a:pt x="122773" y="725"/>
                  </a:lnTo>
                  <a:lnTo>
                    <a:pt x="137785" y="0"/>
                  </a:lnTo>
                  <a:lnTo>
                    <a:pt x="8024485" y="0"/>
                  </a:lnTo>
                  <a:lnTo>
                    <a:pt x="8068658" y="6525"/>
                  </a:lnTo>
                  <a:lnTo>
                    <a:pt x="8109170" y="25659"/>
                  </a:lnTo>
                  <a:lnTo>
                    <a:pt x="8142350" y="55765"/>
                  </a:lnTo>
                  <a:lnTo>
                    <a:pt x="8143378" y="57150"/>
                  </a:lnTo>
                  <a:lnTo>
                    <a:pt x="137785" y="57150"/>
                  </a:lnTo>
                  <a:lnTo>
                    <a:pt x="123711" y="57603"/>
                  </a:lnTo>
                  <a:lnTo>
                    <a:pt x="83110" y="64401"/>
                  </a:lnTo>
                  <a:lnTo>
                    <a:pt x="47190" y="78734"/>
                  </a:lnTo>
                  <a:lnTo>
                    <a:pt x="11800" y="107454"/>
                  </a:lnTo>
                  <a:lnTo>
                    <a:pt x="5785" y="115948"/>
                  </a:lnTo>
                  <a:lnTo>
                    <a:pt x="4963" y="117476"/>
                  </a:lnTo>
                  <a:close/>
                </a:path>
                <a:path w="8162290" h="117475">
                  <a:moveTo>
                    <a:pt x="8157307" y="117476"/>
                  </a:moveTo>
                  <a:lnTo>
                    <a:pt x="8125511" y="85048"/>
                  </a:lnTo>
                  <a:lnTo>
                    <a:pt x="8079160" y="64401"/>
                  </a:lnTo>
                  <a:lnTo>
                    <a:pt x="8038560" y="57603"/>
                  </a:lnTo>
                  <a:lnTo>
                    <a:pt x="8024485" y="57150"/>
                  </a:lnTo>
                  <a:lnTo>
                    <a:pt x="8143378" y="57150"/>
                  </a:lnTo>
                  <a:lnTo>
                    <a:pt x="8151223" y="67715"/>
                  </a:lnTo>
                  <a:lnTo>
                    <a:pt x="8158868" y="80486"/>
                  </a:lnTo>
                  <a:lnTo>
                    <a:pt x="8162270" y="87692"/>
                  </a:lnTo>
                  <a:lnTo>
                    <a:pt x="8157307" y="117476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625" y="2154376"/>
              <a:ext cx="8191500" cy="7199630"/>
            </a:xfrm>
            <a:custGeom>
              <a:avLst/>
              <a:gdLst/>
              <a:ahLst/>
              <a:cxnLst/>
              <a:rect l="l" t="t" r="r" b="b"/>
              <a:pathLst>
                <a:path w="8191500" h="7199630">
                  <a:moveTo>
                    <a:pt x="8191500" y="64947"/>
                  </a:moveTo>
                  <a:lnTo>
                    <a:pt x="8184972" y="20777"/>
                  </a:lnTo>
                  <a:lnTo>
                    <a:pt x="8176755" y="0"/>
                  </a:lnTo>
                  <a:lnTo>
                    <a:pt x="8171789" y="29806"/>
                  </a:lnTo>
                  <a:lnTo>
                    <a:pt x="8175853" y="37350"/>
                  </a:lnTo>
                  <a:lnTo>
                    <a:pt x="8179244" y="46367"/>
                  </a:lnTo>
                  <a:lnTo>
                    <a:pt x="8181289" y="55575"/>
                  </a:lnTo>
                  <a:lnTo>
                    <a:pt x="8181975" y="64947"/>
                  </a:lnTo>
                  <a:lnTo>
                    <a:pt x="8181975" y="7046773"/>
                  </a:lnTo>
                  <a:lnTo>
                    <a:pt x="8175853" y="7088187"/>
                  </a:lnTo>
                  <a:lnTo>
                    <a:pt x="8157908" y="7126173"/>
                  </a:lnTo>
                  <a:lnTo>
                    <a:pt x="8129689" y="7157275"/>
                  </a:lnTo>
                  <a:lnTo>
                    <a:pt x="8093773" y="7178776"/>
                  </a:lnTo>
                  <a:lnTo>
                    <a:pt x="8053171" y="7188975"/>
                  </a:lnTo>
                  <a:lnTo>
                    <a:pt x="8039100" y="7189660"/>
                  </a:lnTo>
                  <a:lnTo>
                    <a:pt x="152400" y="7189660"/>
                  </a:lnTo>
                  <a:lnTo>
                    <a:pt x="110985" y="7183539"/>
                  </a:lnTo>
                  <a:lnTo>
                    <a:pt x="72999" y="7165594"/>
                  </a:lnTo>
                  <a:lnTo>
                    <a:pt x="51866" y="7148258"/>
                  </a:lnTo>
                  <a:lnTo>
                    <a:pt x="26403" y="7114197"/>
                  </a:lnTo>
                  <a:lnTo>
                    <a:pt x="12242" y="7074662"/>
                  </a:lnTo>
                  <a:lnTo>
                    <a:pt x="9525" y="7046773"/>
                  </a:lnTo>
                  <a:lnTo>
                    <a:pt x="9525" y="64947"/>
                  </a:lnTo>
                  <a:lnTo>
                    <a:pt x="10198" y="55575"/>
                  </a:lnTo>
                  <a:lnTo>
                    <a:pt x="12242" y="46367"/>
                  </a:lnTo>
                  <a:lnTo>
                    <a:pt x="15633" y="37350"/>
                  </a:lnTo>
                  <a:lnTo>
                    <a:pt x="19697" y="29806"/>
                  </a:lnTo>
                  <a:lnTo>
                    <a:pt x="14732" y="0"/>
                  </a:lnTo>
                  <a:lnTo>
                    <a:pt x="723" y="49936"/>
                  </a:lnTo>
                  <a:lnTo>
                    <a:pt x="0" y="64947"/>
                  </a:lnTo>
                  <a:lnTo>
                    <a:pt x="0" y="7046773"/>
                  </a:lnTo>
                  <a:lnTo>
                    <a:pt x="6515" y="7090956"/>
                  </a:lnTo>
                  <a:lnTo>
                    <a:pt x="25654" y="7131456"/>
                  </a:lnTo>
                  <a:lnTo>
                    <a:pt x="44678" y="7154494"/>
                  </a:lnTo>
                  <a:lnTo>
                    <a:pt x="80479" y="7181164"/>
                  </a:lnTo>
                  <a:lnTo>
                    <a:pt x="122656" y="7196277"/>
                  </a:lnTo>
                  <a:lnTo>
                    <a:pt x="152400" y="7199185"/>
                  </a:lnTo>
                  <a:lnTo>
                    <a:pt x="8039100" y="7199185"/>
                  </a:lnTo>
                  <a:lnTo>
                    <a:pt x="8083258" y="7192658"/>
                  </a:lnTo>
                  <a:lnTo>
                    <a:pt x="8123783" y="7173519"/>
                  </a:lnTo>
                  <a:lnTo>
                    <a:pt x="8146859" y="7154545"/>
                  </a:lnTo>
                  <a:lnTo>
                    <a:pt x="8156956" y="7143407"/>
                  </a:lnTo>
                  <a:lnTo>
                    <a:pt x="8179892" y="7105104"/>
                  </a:lnTo>
                  <a:lnTo>
                    <a:pt x="8190763" y="7061797"/>
                  </a:lnTo>
                  <a:lnTo>
                    <a:pt x="8191500" y="7046773"/>
                  </a:lnTo>
                  <a:lnTo>
                    <a:pt x="8191500" y="64947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86600" y="2409827"/>
              <a:ext cx="1638300" cy="219075"/>
            </a:xfrm>
            <a:custGeom>
              <a:avLst/>
              <a:gdLst/>
              <a:ahLst/>
              <a:cxnLst/>
              <a:rect l="l" t="t" r="r" b="b"/>
              <a:pathLst>
                <a:path w="1638300" h="219075">
                  <a:moveTo>
                    <a:pt x="1584902" y="219075"/>
                  </a:moveTo>
                  <a:lnTo>
                    <a:pt x="53397" y="219075"/>
                  </a:lnTo>
                  <a:lnTo>
                    <a:pt x="49682" y="218703"/>
                  </a:lnTo>
                  <a:lnTo>
                    <a:pt x="14087" y="199672"/>
                  </a:lnTo>
                  <a:lnTo>
                    <a:pt x="0" y="165677"/>
                  </a:lnTo>
                  <a:lnTo>
                    <a:pt x="0" y="161925"/>
                  </a:lnTo>
                  <a:lnTo>
                    <a:pt x="0" y="53397"/>
                  </a:lnTo>
                  <a:lnTo>
                    <a:pt x="19392" y="14077"/>
                  </a:lnTo>
                  <a:lnTo>
                    <a:pt x="53397" y="0"/>
                  </a:lnTo>
                  <a:lnTo>
                    <a:pt x="1584902" y="0"/>
                  </a:lnTo>
                  <a:lnTo>
                    <a:pt x="1624212" y="19392"/>
                  </a:lnTo>
                  <a:lnTo>
                    <a:pt x="1638300" y="53397"/>
                  </a:lnTo>
                  <a:lnTo>
                    <a:pt x="1638300" y="165677"/>
                  </a:lnTo>
                  <a:lnTo>
                    <a:pt x="1618907" y="204987"/>
                  </a:lnTo>
                  <a:lnTo>
                    <a:pt x="1588617" y="218703"/>
                  </a:lnTo>
                  <a:lnTo>
                    <a:pt x="1584902" y="219075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771514" y="2421445"/>
            <a:ext cx="1762886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0369A0"/>
                </a:solidFill>
                <a:latin typeface="Century Gothic"/>
                <a:cs typeface="Century Gothic"/>
              </a:rPr>
              <a:t>FREEFORM TRADICIONAL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3150" y="2229811"/>
            <a:ext cx="7308850" cy="1103507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b="1" dirty="0">
                <a:solidFill>
                  <a:srgbClr val="0284C6"/>
                </a:solidFill>
                <a:latin typeface="Arial"/>
                <a:cs typeface="Arial"/>
              </a:rPr>
              <a:t>VS Gold Comfort (Standard)</a:t>
            </a:r>
            <a:endParaRPr sz="1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A entrada perfeita no universo das lentes com alívio acomodativo.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⚙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Surfaçagem Digital Freeform: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Lente usinada ponto a ponto na face interna.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3149" y="3412599"/>
            <a:ext cx="7523605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⚙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Relaxamento Padronizado: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Uma curva calibrada para alívio diário do estresse ocular.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3150" y="3777549"/>
            <a:ext cx="1871980" cy="402033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07975" marR="5080" indent="-295275" algn="l">
              <a:lnSpc>
                <a:spcPts val="1430"/>
              </a:lnSpc>
              <a:spcBef>
                <a:spcPts val="335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⚙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Campo Visual Amplo: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52572" y="3780188"/>
            <a:ext cx="5752465" cy="41655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30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Reduz aberrações em comparação direta com lentes prontas de estoque (+40% de nitidez periférica).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0612" y="4381055"/>
            <a:ext cx="7678420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solidFill>
                  <a:srgbClr val="334154"/>
                </a:solidFill>
                <a:latin typeface="Segoe UI Symbol"/>
                <a:cs typeface="Segoe UI Symbol"/>
              </a:rPr>
              <a:t>⚙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Excelente Custo-Benefício: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Ideal para o cliente que busca conforto visual gastando pouco.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85850" y="8372477"/>
            <a:ext cx="7639050" cy="704850"/>
            <a:chOff x="1085850" y="8372477"/>
            <a:chExt cx="7639050" cy="704850"/>
          </a:xfrm>
        </p:grpSpPr>
        <p:sp>
          <p:nvSpPr>
            <p:cNvPr id="18" name="object 18"/>
            <p:cNvSpPr/>
            <p:nvPr/>
          </p:nvSpPr>
          <p:spPr>
            <a:xfrm>
              <a:off x="1090612" y="8377239"/>
              <a:ext cx="7629525" cy="695325"/>
            </a:xfrm>
            <a:custGeom>
              <a:avLst/>
              <a:gdLst/>
              <a:ahLst/>
              <a:cxnLst/>
              <a:rect l="l" t="t" r="r" b="b"/>
              <a:pathLst>
                <a:path w="7629525" h="695325">
                  <a:moveTo>
                    <a:pt x="7544981" y="695325"/>
                  </a:moveTo>
                  <a:lnTo>
                    <a:pt x="84543" y="695325"/>
                  </a:lnTo>
                  <a:lnTo>
                    <a:pt x="78657" y="694734"/>
                  </a:lnTo>
                  <a:lnTo>
                    <a:pt x="35271" y="676770"/>
                  </a:lnTo>
                  <a:lnTo>
                    <a:pt x="9163" y="644947"/>
                  </a:lnTo>
                  <a:lnTo>
                    <a:pt x="0" y="610781"/>
                  </a:lnTo>
                  <a:lnTo>
                    <a:pt x="0" y="604837"/>
                  </a:lnTo>
                  <a:lnTo>
                    <a:pt x="0" y="84543"/>
                  </a:lnTo>
                  <a:lnTo>
                    <a:pt x="11944" y="45148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7544981" y="0"/>
                  </a:lnTo>
                  <a:lnTo>
                    <a:pt x="7584366" y="11944"/>
                  </a:lnTo>
                  <a:lnTo>
                    <a:pt x="7617571" y="45148"/>
                  </a:lnTo>
                  <a:lnTo>
                    <a:pt x="7629525" y="84543"/>
                  </a:lnTo>
                  <a:lnTo>
                    <a:pt x="7629525" y="610781"/>
                  </a:lnTo>
                  <a:lnTo>
                    <a:pt x="7617571" y="650157"/>
                  </a:lnTo>
                  <a:lnTo>
                    <a:pt x="7584366" y="683361"/>
                  </a:lnTo>
                  <a:lnTo>
                    <a:pt x="7550867" y="694734"/>
                  </a:lnTo>
                  <a:lnTo>
                    <a:pt x="7544981" y="695325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90612" y="8377239"/>
              <a:ext cx="7629525" cy="695325"/>
            </a:xfrm>
            <a:custGeom>
              <a:avLst/>
              <a:gdLst/>
              <a:ahLst/>
              <a:cxnLst/>
              <a:rect l="l" t="t" r="r" b="b"/>
              <a:pathLst>
                <a:path w="7629525" h="695325">
                  <a:moveTo>
                    <a:pt x="0" y="604837"/>
                  </a:moveTo>
                  <a:lnTo>
                    <a:pt x="0" y="90487"/>
                  </a:lnTo>
                  <a:lnTo>
                    <a:pt x="0" y="84543"/>
                  </a:lnTo>
                  <a:lnTo>
                    <a:pt x="581" y="78657"/>
                  </a:lnTo>
                  <a:lnTo>
                    <a:pt x="1743" y="72828"/>
                  </a:lnTo>
                  <a:lnTo>
                    <a:pt x="2895" y="66998"/>
                  </a:lnTo>
                  <a:lnTo>
                    <a:pt x="4610" y="61340"/>
                  </a:lnTo>
                  <a:lnTo>
                    <a:pt x="26498" y="26498"/>
                  </a:lnTo>
                  <a:lnTo>
                    <a:pt x="40214" y="15249"/>
                  </a:lnTo>
                  <a:lnTo>
                    <a:pt x="45158" y="11944"/>
                  </a:lnTo>
                  <a:lnTo>
                    <a:pt x="50368" y="9153"/>
                  </a:lnTo>
                  <a:lnTo>
                    <a:pt x="55854" y="6886"/>
                  </a:lnTo>
                  <a:lnTo>
                    <a:pt x="61350" y="4610"/>
                  </a:lnTo>
                  <a:lnTo>
                    <a:pt x="67008" y="2895"/>
                  </a:lnTo>
                  <a:lnTo>
                    <a:pt x="72837" y="1743"/>
                  </a:lnTo>
                  <a:lnTo>
                    <a:pt x="78657" y="581"/>
                  </a:lnTo>
                  <a:lnTo>
                    <a:pt x="84543" y="0"/>
                  </a:lnTo>
                  <a:lnTo>
                    <a:pt x="90487" y="0"/>
                  </a:lnTo>
                  <a:lnTo>
                    <a:pt x="7539037" y="0"/>
                  </a:lnTo>
                  <a:lnTo>
                    <a:pt x="7544981" y="0"/>
                  </a:lnTo>
                  <a:lnTo>
                    <a:pt x="7550867" y="581"/>
                  </a:lnTo>
                  <a:lnTo>
                    <a:pt x="7556687" y="1743"/>
                  </a:lnTo>
                  <a:lnTo>
                    <a:pt x="7562516" y="2895"/>
                  </a:lnTo>
                  <a:lnTo>
                    <a:pt x="7568174" y="4610"/>
                  </a:lnTo>
                  <a:lnTo>
                    <a:pt x="7573660" y="6886"/>
                  </a:lnTo>
                  <a:lnTo>
                    <a:pt x="7579156" y="9153"/>
                  </a:lnTo>
                  <a:lnTo>
                    <a:pt x="7584366" y="11944"/>
                  </a:lnTo>
                  <a:lnTo>
                    <a:pt x="7589310" y="15249"/>
                  </a:lnTo>
                  <a:lnTo>
                    <a:pt x="7594244" y="18545"/>
                  </a:lnTo>
                  <a:lnTo>
                    <a:pt x="7598816" y="22298"/>
                  </a:lnTo>
                  <a:lnTo>
                    <a:pt x="7603016" y="26498"/>
                  </a:lnTo>
                  <a:lnTo>
                    <a:pt x="7607226" y="30699"/>
                  </a:lnTo>
                  <a:lnTo>
                    <a:pt x="7626629" y="67008"/>
                  </a:lnTo>
                  <a:lnTo>
                    <a:pt x="7627781" y="72828"/>
                  </a:lnTo>
                  <a:lnTo>
                    <a:pt x="7628943" y="78657"/>
                  </a:lnTo>
                  <a:lnTo>
                    <a:pt x="7629525" y="84543"/>
                  </a:lnTo>
                  <a:lnTo>
                    <a:pt x="7629525" y="90487"/>
                  </a:lnTo>
                  <a:lnTo>
                    <a:pt x="7629525" y="604837"/>
                  </a:lnTo>
                  <a:lnTo>
                    <a:pt x="7629525" y="610781"/>
                  </a:lnTo>
                  <a:lnTo>
                    <a:pt x="7628943" y="616658"/>
                  </a:lnTo>
                  <a:lnTo>
                    <a:pt x="7627781" y="622487"/>
                  </a:lnTo>
                  <a:lnTo>
                    <a:pt x="7626629" y="628307"/>
                  </a:lnTo>
                  <a:lnTo>
                    <a:pt x="7607226" y="664616"/>
                  </a:lnTo>
                  <a:lnTo>
                    <a:pt x="7603016" y="668816"/>
                  </a:lnTo>
                  <a:lnTo>
                    <a:pt x="7598816" y="673017"/>
                  </a:lnTo>
                  <a:lnTo>
                    <a:pt x="7594244" y="676760"/>
                  </a:lnTo>
                  <a:lnTo>
                    <a:pt x="7589310" y="680056"/>
                  </a:lnTo>
                  <a:lnTo>
                    <a:pt x="7584366" y="683361"/>
                  </a:lnTo>
                  <a:lnTo>
                    <a:pt x="7579156" y="686152"/>
                  </a:lnTo>
                  <a:lnTo>
                    <a:pt x="7573660" y="688428"/>
                  </a:lnTo>
                  <a:lnTo>
                    <a:pt x="7568174" y="690705"/>
                  </a:lnTo>
                  <a:lnTo>
                    <a:pt x="7562516" y="692419"/>
                  </a:lnTo>
                  <a:lnTo>
                    <a:pt x="7556687" y="693572"/>
                  </a:lnTo>
                  <a:lnTo>
                    <a:pt x="7550867" y="694734"/>
                  </a:lnTo>
                  <a:lnTo>
                    <a:pt x="7544981" y="695325"/>
                  </a:lnTo>
                  <a:lnTo>
                    <a:pt x="7539037" y="695325"/>
                  </a:lnTo>
                  <a:lnTo>
                    <a:pt x="90487" y="695325"/>
                  </a:lnTo>
                  <a:lnTo>
                    <a:pt x="84543" y="695325"/>
                  </a:lnTo>
                  <a:lnTo>
                    <a:pt x="78657" y="694734"/>
                  </a:lnTo>
                  <a:lnTo>
                    <a:pt x="72837" y="693572"/>
                  </a:lnTo>
                  <a:lnTo>
                    <a:pt x="67008" y="692419"/>
                  </a:lnTo>
                  <a:lnTo>
                    <a:pt x="40214" y="680065"/>
                  </a:lnTo>
                  <a:lnTo>
                    <a:pt x="35271" y="676770"/>
                  </a:lnTo>
                  <a:lnTo>
                    <a:pt x="15249" y="655100"/>
                  </a:lnTo>
                  <a:lnTo>
                    <a:pt x="11944" y="650157"/>
                  </a:lnTo>
                  <a:lnTo>
                    <a:pt x="1743" y="622487"/>
                  </a:lnTo>
                  <a:lnTo>
                    <a:pt x="581" y="616658"/>
                  </a:lnTo>
                  <a:lnTo>
                    <a:pt x="0" y="610781"/>
                  </a:lnTo>
                  <a:lnTo>
                    <a:pt x="0" y="604837"/>
                  </a:lnTo>
                  <a:close/>
                </a:path>
              </a:pathLst>
            </a:custGeom>
            <a:ln w="9525">
              <a:solidFill>
                <a:srgbClr val="B9E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35075" y="8487554"/>
            <a:ext cx="6541134" cy="4347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90"/>
              </a:spcBef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Indicação Principal:  </a:t>
            </a:r>
            <a:r>
              <a:rPr sz="1250" dirty="0" err="1">
                <a:solidFill>
                  <a:srgbClr val="0369A0"/>
                </a:solidFill>
                <a:latin typeface="Century Gothic"/>
                <a:cs typeface="Century Gothic"/>
              </a:rPr>
              <a:t>Clientes</a:t>
            </a:r>
            <a:r>
              <a:rPr sz="1250" dirty="0">
                <a:solidFill>
                  <a:srgbClr val="0369A0"/>
                </a:solidFill>
                <a:latin typeface="Century Gothic"/>
                <a:cs typeface="Century Gothic"/>
              </a:rPr>
              <a:t> que passam até 4 a 6 horas em telas e buscam um upgrade econômico para sair da lente comum.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15250" y="1837944"/>
            <a:ext cx="8630586" cy="7821295"/>
            <a:chOff x="9019031" y="1837944"/>
            <a:chExt cx="8726805" cy="7821295"/>
          </a:xfrm>
        </p:grpSpPr>
        <p:sp>
          <p:nvSpPr>
            <p:cNvPr id="22" name="object 22"/>
            <p:cNvSpPr/>
            <p:nvPr/>
          </p:nvSpPr>
          <p:spPr>
            <a:xfrm>
              <a:off x="9019031" y="1837944"/>
              <a:ext cx="8726805" cy="7821295"/>
            </a:xfrm>
            <a:custGeom>
              <a:avLst/>
              <a:gdLst/>
              <a:ahLst/>
              <a:cxnLst/>
              <a:rect l="l" t="t" r="r" b="b"/>
              <a:pathLst>
                <a:path w="8726805" h="7821295">
                  <a:moveTo>
                    <a:pt x="8726423" y="7821167"/>
                  </a:moveTo>
                  <a:lnTo>
                    <a:pt x="0" y="7821167"/>
                  </a:lnTo>
                  <a:lnTo>
                    <a:pt x="0" y="0"/>
                  </a:lnTo>
                  <a:lnTo>
                    <a:pt x="8726423" y="0"/>
                  </a:lnTo>
                  <a:lnTo>
                    <a:pt x="8726423" y="228980"/>
                  </a:lnTo>
                  <a:lnTo>
                    <a:pt x="420242" y="228980"/>
                  </a:lnTo>
                  <a:lnTo>
                    <a:pt x="405229" y="229706"/>
                  </a:lnTo>
                  <a:lnTo>
                    <a:pt x="361919" y="240581"/>
                  </a:lnTo>
                  <a:lnTo>
                    <a:pt x="323607" y="263514"/>
                  </a:lnTo>
                  <a:lnTo>
                    <a:pt x="293502" y="296696"/>
                  </a:lnTo>
                  <a:lnTo>
                    <a:pt x="274367" y="337207"/>
                  </a:lnTo>
                  <a:lnTo>
                    <a:pt x="267842" y="381380"/>
                  </a:lnTo>
                  <a:lnTo>
                    <a:pt x="267842" y="7363205"/>
                  </a:lnTo>
                  <a:lnTo>
                    <a:pt x="274367" y="7407378"/>
                  </a:lnTo>
                  <a:lnTo>
                    <a:pt x="293502" y="7447888"/>
                  </a:lnTo>
                  <a:lnTo>
                    <a:pt x="323607" y="7481070"/>
                  </a:lnTo>
                  <a:lnTo>
                    <a:pt x="361928" y="7504005"/>
                  </a:lnTo>
                  <a:lnTo>
                    <a:pt x="405230" y="7514880"/>
                  </a:lnTo>
                  <a:lnTo>
                    <a:pt x="420242" y="7515605"/>
                  </a:lnTo>
                  <a:lnTo>
                    <a:pt x="8726423" y="7515605"/>
                  </a:lnTo>
                  <a:lnTo>
                    <a:pt x="8726423" y="7821167"/>
                  </a:lnTo>
                  <a:close/>
                </a:path>
                <a:path w="8726805" h="7821295">
                  <a:moveTo>
                    <a:pt x="8726423" y="7515605"/>
                  </a:moveTo>
                  <a:lnTo>
                    <a:pt x="8306942" y="7515605"/>
                  </a:lnTo>
                  <a:lnTo>
                    <a:pt x="8321954" y="7514880"/>
                  </a:lnTo>
                  <a:lnTo>
                    <a:pt x="8336678" y="7512705"/>
                  </a:lnTo>
                  <a:lnTo>
                    <a:pt x="8378853" y="7497588"/>
                  </a:lnTo>
                  <a:lnTo>
                    <a:pt x="8414704" y="7470967"/>
                  </a:lnTo>
                  <a:lnTo>
                    <a:pt x="8441324" y="7435117"/>
                  </a:lnTo>
                  <a:lnTo>
                    <a:pt x="8456440" y="7392942"/>
                  </a:lnTo>
                  <a:lnTo>
                    <a:pt x="8459342" y="7363205"/>
                  </a:lnTo>
                  <a:lnTo>
                    <a:pt x="8459342" y="381380"/>
                  </a:lnTo>
                  <a:lnTo>
                    <a:pt x="8452814" y="337207"/>
                  </a:lnTo>
                  <a:lnTo>
                    <a:pt x="8433680" y="296696"/>
                  </a:lnTo>
                  <a:lnTo>
                    <a:pt x="8403576" y="263514"/>
                  </a:lnTo>
                  <a:lnTo>
                    <a:pt x="8365260" y="240581"/>
                  </a:lnTo>
                  <a:lnTo>
                    <a:pt x="8321954" y="229706"/>
                  </a:lnTo>
                  <a:lnTo>
                    <a:pt x="8306942" y="228980"/>
                  </a:lnTo>
                  <a:lnTo>
                    <a:pt x="8726423" y="228980"/>
                  </a:lnTo>
                  <a:lnTo>
                    <a:pt x="8726423" y="7515605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00" y="2124076"/>
              <a:ext cx="8172450" cy="721995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301491" y="2066926"/>
              <a:ext cx="8162290" cy="117475"/>
            </a:xfrm>
            <a:custGeom>
              <a:avLst/>
              <a:gdLst/>
              <a:ahLst/>
              <a:cxnLst/>
              <a:rect l="l" t="t" r="r" b="b"/>
              <a:pathLst>
                <a:path w="8162290" h="117475">
                  <a:moveTo>
                    <a:pt x="4964" y="117473"/>
                  </a:moveTo>
                  <a:lnTo>
                    <a:pt x="0" y="87689"/>
                  </a:lnTo>
                  <a:lnTo>
                    <a:pt x="3399" y="80486"/>
                  </a:lnTo>
                  <a:lnTo>
                    <a:pt x="11043" y="67715"/>
                  </a:lnTo>
                  <a:lnTo>
                    <a:pt x="41148" y="34533"/>
                  </a:lnTo>
                  <a:lnTo>
                    <a:pt x="79460" y="11600"/>
                  </a:lnTo>
                  <a:lnTo>
                    <a:pt x="122770" y="725"/>
                  </a:lnTo>
                  <a:lnTo>
                    <a:pt x="137784" y="0"/>
                  </a:lnTo>
                  <a:lnTo>
                    <a:pt x="8024484" y="0"/>
                  </a:lnTo>
                  <a:lnTo>
                    <a:pt x="8068655" y="6525"/>
                  </a:lnTo>
                  <a:lnTo>
                    <a:pt x="8109167" y="25659"/>
                  </a:lnTo>
                  <a:lnTo>
                    <a:pt x="8142348" y="55765"/>
                  </a:lnTo>
                  <a:lnTo>
                    <a:pt x="8143376" y="57150"/>
                  </a:lnTo>
                  <a:lnTo>
                    <a:pt x="137784" y="57150"/>
                  </a:lnTo>
                  <a:lnTo>
                    <a:pt x="123709" y="57603"/>
                  </a:lnTo>
                  <a:lnTo>
                    <a:pt x="83109" y="64401"/>
                  </a:lnTo>
                  <a:lnTo>
                    <a:pt x="47188" y="78734"/>
                  </a:lnTo>
                  <a:lnTo>
                    <a:pt x="11798" y="107454"/>
                  </a:lnTo>
                  <a:lnTo>
                    <a:pt x="5784" y="115948"/>
                  </a:lnTo>
                  <a:lnTo>
                    <a:pt x="4964" y="117473"/>
                  </a:lnTo>
                  <a:close/>
                </a:path>
                <a:path w="8162290" h="117475">
                  <a:moveTo>
                    <a:pt x="8157306" y="117473"/>
                  </a:moveTo>
                  <a:lnTo>
                    <a:pt x="8125510" y="85048"/>
                  </a:lnTo>
                  <a:lnTo>
                    <a:pt x="8079159" y="64401"/>
                  </a:lnTo>
                  <a:lnTo>
                    <a:pt x="8038557" y="57603"/>
                  </a:lnTo>
                  <a:lnTo>
                    <a:pt x="8024484" y="57150"/>
                  </a:lnTo>
                  <a:lnTo>
                    <a:pt x="8143376" y="57150"/>
                  </a:lnTo>
                  <a:lnTo>
                    <a:pt x="8151222" y="67715"/>
                  </a:lnTo>
                  <a:lnTo>
                    <a:pt x="8158866" y="80486"/>
                  </a:lnTo>
                  <a:lnTo>
                    <a:pt x="8162265" y="87689"/>
                  </a:lnTo>
                  <a:lnTo>
                    <a:pt x="8157306" y="117473"/>
                  </a:lnTo>
                  <a:close/>
                </a:path>
              </a:pathLst>
            </a:custGeom>
            <a:solidFill>
              <a:srgbClr val="00D2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86875" y="2154376"/>
              <a:ext cx="8191500" cy="7199630"/>
            </a:xfrm>
            <a:custGeom>
              <a:avLst/>
              <a:gdLst/>
              <a:ahLst/>
              <a:cxnLst/>
              <a:rect l="l" t="t" r="r" b="b"/>
              <a:pathLst>
                <a:path w="8191500" h="7199630">
                  <a:moveTo>
                    <a:pt x="8191500" y="64947"/>
                  </a:moveTo>
                  <a:lnTo>
                    <a:pt x="8184959" y="20777"/>
                  </a:lnTo>
                  <a:lnTo>
                    <a:pt x="8176755" y="0"/>
                  </a:lnTo>
                  <a:lnTo>
                    <a:pt x="8171789" y="29806"/>
                  </a:lnTo>
                  <a:lnTo>
                    <a:pt x="8175853" y="37350"/>
                  </a:lnTo>
                  <a:lnTo>
                    <a:pt x="8179244" y="46367"/>
                  </a:lnTo>
                  <a:lnTo>
                    <a:pt x="8181289" y="55575"/>
                  </a:lnTo>
                  <a:lnTo>
                    <a:pt x="8181975" y="64947"/>
                  </a:lnTo>
                  <a:lnTo>
                    <a:pt x="8181975" y="7046773"/>
                  </a:lnTo>
                  <a:lnTo>
                    <a:pt x="8175853" y="7088187"/>
                  </a:lnTo>
                  <a:lnTo>
                    <a:pt x="8157908" y="7126173"/>
                  </a:lnTo>
                  <a:lnTo>
                    <a:pt x="8129689" y="7157275"/>
                  </a:lnTo>
                  <a:lnTo>
                    <a:pt x="8093773" y="7178776"/>
                  </a:lnTo>
                  <a:lnTo>
                    <a:pt x="8053171" y="7188975"/>
                  </a:lnTo>
                  <a:lnTo>
                    <a:pt x="8039100" y="7189660"/>
                  </a:lnTo>
                  <a:lnTo>
                    <a:pt x="152400" y="7189660"/>
                  </a:lnTo>
                  <a:lnTo>
                    <a:pt x="110985" y="7183539"/>
                  </a:lnTo>
                  <a:lnTo>
                    <a:pt x="72999" y="7165594"/>
                  </a:lnTo>
                  <a:lnTo>
                    <a:pt x="51866" y="7148258"/>
                  </a:lnTo>
                  <a:lnTo>
                    <a:pt x="26403" y="7114197"/>
                  </a:lnTo>
                  <a:lnTo>
                    <a:pt x="12242" y="7074662"/>
                  </a:lnTo>
                  <a:lnTo>
                    <a:pt x="9525" y="7046773"/>
                  </a:lnTo>
                  <a:lnTo>
                    <a:pt x="9525" y="64947"/>
                  </a:lnTo>
                  <a:lnTo>
                    <a:pt x="10198" y="55575"/>
                  </a:lnTo>
                  <a:lnTo>
                    <a:pt x="12242" y="46367"/>
                  </a:lnTo>
                  <a:lnTo>
                    <a:pt x="15633" y="37350"/>
                  </a:lnTo>
                  <a:lnTo>
                    <a:pt x="19697" y="29806"/>
                  </a:lnTo>
                  <a:lnTo>
                    <a:pt x="14732" y="0"/>
                  </a:lnTo>
                  <a:lnTo>
                    <a:pt x="723" y="49936"/>
                  </a:lnTo>
                  <a:lnTo>
                    <a:pt x="0" y="64947"/>
                  </a:lnTo>
                  <a:lnTo>
                    <a:pt x="0" y="7046773"/>
                  </a:lnTo>
                  <a:lnTo>
                    <a:pt x="6515" y="7090956"/>
                  </a:lnTo>
                  <a:lnTo>
                    <a:pt x="25654" y="7131456"/>
                  </a:lnTo>
                  <a:lnTo>
                    <a:pt x="44665" y="7154507"/>
                  </a:lnTo>
                  <a:lnTo>
                    <a:pt x="80479" y="7181164"/>
                  </a:lnTo>
                  <a:lnTo>
                    <a:pt x="122656" y="7196277"/>
                  </a:lnTo>
                  <a:lnTo>
                    <a:pt x="152400" y="7199185"/>
                  </a:lnTo>
                  <a:lnTo>
                    <a:pt x="8039100" y="7199185"/>
                  </a:lnTo>
                  <a:lnTo>
                    <a:pt x="8083258" y="7192658"/>
                  </a:lnTo>
                  <a:lnTo>
                    <a:pt x="8123771" y="7173519"/>
                  </a:lnTo>
                  <a:lnTo>
                    <a:pt x="8146859" y="7154545"/>
                  </a:lnTo>
                  <a:lnTo>
                    <a:pt x="8156956" y="7143407"/>
                  </a:lnTo>
                  <a:lnTo>
                    <a:pt x="8179892" y="7105104"/>
                  </a:lnTo>
                  <a:lnTo>
                    <a:pt x="8190763" y="7061797"/>
                  </a:lnTo>
                  <a:lnTo>
                    <a:pt x="8191500" y="7046773"/>
                  </a:lnTo>
                  <a:lnTo>
                    <a:pt x="8191500" y="64947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5582900" y="2409827"/>
              <a:ext cx="1619250" cy="219075"/>
            </a:xfrm>
            <a:custGeom>
              <a:avLst/>
              <a:gdLst/>
              <a:ahLst/>
              <a:cxnLst/>
              <a:rect l="l" t="t" r="r" b="b"/>
              <a:pathLst>
                <a:path w="1619250" h="219075">
                  <a:moveTo>
                    <a:pt x="1565852" y="219075"/>
                  </a:moveTo>
                  <a:lnTo>
                    <a:pt x="53397" y="219075"/>
                  </a:lnTo>
                  <a:lnTo>
                    <a:pt x="49682" y="218703"/>
                  </a:lnTo>
                  <a:lnTo>
                    <a:pt x="14087" y="199672"/>
                  </a:lnTo>
                  <a:lnTo>
                    <a:pt x="0" y="165677"/>
                  </a:lnTo>
                  <a:lnTo>
                    <a:pt x="0" y="161925"/>
                  </a:lnTo>
                  <a:lnTo>
                    <a:pt x="0" y="53397"/>
                  </a:lnTo>
                  <a:lnTo>
                    <a:pt x="19392" y="14077"/>
                  </a:lnTo>
                  <a:lnTo>
                    <a:pt x="53397" y="0"/>
                  </a:lnTo>
                  <a:lnTo>
                    <a:pt x="1565852" y="0"/>
                  </a:lnTo>
                  <a:lnTo>
                    <a:pt x="1605162" y="19392"/>
                  </a:lnTo>
                  <a:lnTo>
                    <a:pt x="1619250" y="53397"/>
                  </a:lnTo>
                  <a:lnTo>
                    <a:pt x="1619250" y="165677"/>
                  </a:lnTo>
                  <a:lnTo>
                    <a:pt x="1599857" y="204987"/>
                  </a:lnTo>
                  <a:lnTo>
                    <a:pt x="1569567" y="218703"/>
                  </a:lnTo>
                  <a:lnTo>
                    <a:pt x="1565852" y="219075"/>
                  </a:lnTo>
                  <a:close/>
                </a:path>
              </a:pathLst>
            </a:custGeom>
            <a:solidFill>
              <a:srgbClr val="DC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5575798" y="2421445"/>
            <a:ext cx="1569202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14803C"/>
                </a:solidFill>
                <a:latin typeface="Century Gothic"/>
                <a:cs typeface="Century Gothic"/>
              </a:rPr>
              <a:t>INTELIGÊNCIA ARTIFICIAL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550398" y="2229811"/>
            <a:ext cx="5610225" cy="7418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750" b="1" dirty="0">
                <a:solidFill>
                  <a:srgbClr val="0791B1"/>
                </a:solidFill>
                <a:latin typeface="Arial"/>
                <a:cs typeface="Arial"/>
              </a:rPr>
              <a:t>VS Gold Comfort IA</a:t>
            </a:r>
            <a:endParaRPr sz="17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O topo da engenharia óptica com personalização preditiva.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550399" y="3088749"/>
            <a:ext cx="7496175" cy="432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Algoritmo Preditivo por IA: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Mapeia a trajetória dinâmica do olhar e calcula a lente em </a:t>
            </a:r>
            <a:r>
              <a:rPr sz="1350" dirty="0" err="1">
                <a:solidFill>
                  <a:srgbClr val="334154"/>
                </a:solidFill>
                <a:latin typeface="Arial"/>
                <a:cs typeface="Arial"/>
              </a:rPr>
              <a:t>malha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 ultra-</a:t>
            </a:r>
            <a:r>
              <a:rPr lang="pt-BR" sz="1350" dirty="0">
                <a:solidFill>
                  <a:srgbClr val="334154"/>
                </a:solidFill>
                <a:latin typeface="Arial"/>
                <a:cs typeface="Arial"/>
              </a:rPr>
              <a:t>suave. Elimina qualquer interferência de gradiente de astigmatismo.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87374" y="3564025"/>
            <a:ext cx="4676775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Escolha exata da </a:t>
            </a:r>
            <a:r>
              <a:rPr sz="1350" dirty="0" err="1">
                <a:solidFill>
                  <a:srgbClr val="334154"/>
                </a:solidFill>
                <a:latin typeface="Arial"/>
                <a:cs typeface="Arial"/>
              </a:rPr>
              <a:t>potência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:</a:t>
            </a:r>
            <a:r>
              <a:rPr lang="pt-BR" sz="13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0.40, 0.60, 0.80, 1.00 e 1.25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507282" y="3488396"/>
            <a:ext cx="4361117" cy="659796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5 Zonas de Boo</a:t>
            </a:r>
            <a:r>
              <a:rPr lang="pt-BR" sz="1350" b="1" dirty="0">
                <a:solidFill>
                  <a:srgbClr val="334154"/>
                </a:solidFill>
                <a:latin typeface="Century Gothic"/>
                <a:cs typeface="Century Gothic"/>
              </a:rPr>
              <a:t>st Personalizado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:</a:t>
            </a:r>
            <a:endParaRPr sz="1350" dirty="0">
              <a:latin typeface="Century Gothic"/>
              <a:cs typeface="Century Gothic"/>
            </a:endParaRPr>
          </a:p>
          <a:p>
            <a:pPr marL="307975" marR="346710" indent="-295275">
              <a:lnSpc>
                <a:spcPts val="1430"/>
              </a:lnSpc>
              <a:spcBef>
                <a:spcPts val="1135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Eliminação do Astigmatismo Oblíquo: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972977" y="3894882"/>
            <a:ext cx="3965929" cy="401392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30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Zero sensação de flutuação lateral ou distorção em movimentos rápidos.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45636" y="4376688"/>
            <a:ext cx="7505700" cy="432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dirty="0">
                <a:solidFill>
                  <a:srgbClr val="334154"/>
                </a:solidFill>
                <a:latin typeface="Segoe UI Symbol"/>
                <a:cs typeface="Segoe UI Symbol"/>
              </a:rPr>
              <a:t>🧠 </a:t>
            </a: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Adaptação Instantânea (Zero Rejeição): </a:t>
            </a: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 cérebro não percebe a transição, apenas a leveza nos olhos.</a:t>
            </a:r>
            <a:endParaRPr sz="1350" dirty="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563100" y="8372477"/>
            <a:ext cx="7639050" cy="704850"/>
            <a:chOff x="9563100" y="8372477"/>
            <a:chExt cx="7639050" cy="704850"/>
          </a:xfrm>
        </p:grpSpPr>
        <p:sp>
          <p:nvSpPr>
            <p:cNvPr id="35" name="object 35"/>
            <p:cNvSpPr/>
            <p:nvPr/>
          </p:nvSpPr>
          <p:spPr>
            <a:xfrm>
              <a:off x="9567862" y="8377239"/>
              <a:ext cx="7629525" cy="695325"/>
            </a:xfrm>
            <a:custGeom>
              <a:avLst/>
              <a:gdLst/>
              <a:ahLst/>
              <a:cxnLst/>
              <a:rect l="l" t="t" r="r" b="b"/>
              <a:pathLst>
                <a:path w="7629525" h="695325">
                  <a:moveTo>
                    <a:pt x="7544981" y="695325"/>
                  </a:moveTo>
                  <a:lnTo>
                    <a:pt x="84543" y="695325"/>
                  </a:lnTo>
                  <a:lnTo>
                    <a:pt x="78657" y="694734"/>
                  </a:lnTo>
                  <a:lnTo>
                    <a:pt x="35271" y="676770"/>
                  </a:lnTo>
                  <a:lnTo>
                    <a:pt x="9163" y="644947"/>
                  </a:lnTo>
                  <a:lnTo>
                    <a:pt x="0" y="610781"/>
                  </a:lnTo>
                  <a:lnTo>
                    <a:pt x="0" y="604837"/>
                  </a:lnTo>
                  <a:lnTo>
                    <a:pt x="0" y="84543"/>
                  </a:lnTo>
                  <a:lnTo>
                    <a:pt x="11944" y="45148"/>
                  </a:lnTo>
                  <a:lnTo>
                    <a:pt x="45158" y="11944"/>
                  </a:lnTo>
                  <a:lnTo>
                    <a:pt x="84543" y="0"/>
                  </a:lnTo>
                  <a:lnTo>
                    <a:pt x="7544981" y="0"/>
                  </a:lnTo>
                  <a:lnTo>
                    <a:pt x="7584366" y="11944"/>
                  </a:lnTo>
                  <a:lnTo>
                    <a:pt x="7617571" y="45148"/>
                  </a:lnTo>
                  <a:lnTo>
                    <a:pt x="7629525" y="84543"/>
                  </a:lnTo>
                  <a:lnTo>
                    <a:pt x="7629525" y="610781"/>
                  </a:lnTo>
                  <a:lnTo>
                    <a:pt x="7617571" y="650157"/>
                  </a:lnTo>
                  <a:lnTo>
                    <a:pt x="7584366" y="683361"/>
                  </a:lnTo>
                  <a:lnTo>
                    <a:pt x="7550858" y="694734"/>
                  </a:lnTo>
                  <a:lnTo>
                    <a:pt x="7544981" y="695325"/>
                  </a:lnTo>
                  <a:close/>
                </a:path>
              </a:pathLst>
            </a:custGeom>
            <a:solidFill>
              <a:srgbClr val="EC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567862" y="8377239"/>
              <a:ext cx="7629525" cy="695325"/>
            </a:xfrm>
            <a:custGeom>
              <a:avLst/>
              <a:gdLst/>
              <a:ahLst/>
              <a:cxnLst/>
              <a:rect l="l" t="t" r="r" b="b"/>
              <a:pathLst>
                <a:path w="7629525" h="695325">
                  <a:moveTo>
                    <a:pt x="0" y="604837"/>
                  </a:moveTo>
                  <a:lnTo>
                    <a:pt x="0" y="90487"/>
                  </a:lnTo>
                  <a:lnTo>
                    <a:pt x="0" y="84543"/>
                  </a:lnTo>
                  <a:lnTo>
                    <a:pt x="581" y="78657"/>
                  </a:lnTo>
                  <a:lnTo>
                    <a:pt x="1743" y="72828"/>
                  </a:lnTo>
                  <a:lnTo>
                    <a:pt x="2895" y="66998"/>
                  </a:lnTo>
                  <a:lnTo>
                    <a:pt x="4610" y="61340"/>
                  </a:lnTo>
                  <a:lnTo>
                    <a:pt x="26498" y="26498"/>
                  </a:lnTo>
                  <a:lnTo>
                    <a:pt x="40214" y="15249"/>
                  </a:lnTo>
                  <a:lnTo>
                    <a:pt x="45158" y="11944"/>
                  </a:lnTo>
                  <a:lnTo>
                    <a:pt x="50368" y="9153"/>
                  </a:lnTo>
                  <a:lnTo>
                    <a:pt x="55854" y="6886"/>
                  </a:lnTo>
                  <a:lnTo>
                    <a:pt x="61350" y="4610"/>
                  </a:lnTo>
                  <a:lnTo>
                    <a:pt x="67008" y="2895"/>
                  </a:lnTo>
                  <a:lnTo>
                    <a:pt x="72837" y="1743"/>
                  </a:lnTo>
                  <a:lnTo>
                    <a:pt x="78657" y="581"/>
                  </a:lnTo>
                  <a:lnTo>
                    <a:pt x="84543" y="0"/>
                  </a:lnTo>
                  <a:lnTo>
                    <a:pt x="90487" y="0"/>
                  </a:lnTo>
                  <a:lnTo>
                    <a:pt x="7539037" y="0"/>
                  </a:lnTo>
                  <a:lnTo>
                    <a:pt x="7544981" y="0"/>
                  </a:lnTo>
                  <a:lnTo>
                    <a:pt x="7550858" y="581"/>
                  </a:lnTo>
                  <a:lnTo>
                    <a:pt x="7556687" y="1743"/>
                  </a:lnTo>
                  <a:lnTo>
                    <a:pt x="7562516" y="2895"/>
                  </a:lnTo>
                  <a:lnTo>
                    <a:pt x="7568174" y="4610"/>
                  </a:lnTo>
                  <a:lnTo>
                    <a:pt x="7573660" y="6886"/>
                  </a:lnTo>
                  <a:lnTo>
                    <a:pt x="7579147" y="9153"/>
                  </a:lnTo>
                  <a:lnTo>
                    <a:pt x="7584366" y="11944"/>
                  </a:lnTo>
                  <a:lnTo>
                    <a:pt x="7589310" y="15249"/>
                  </a:lnTo>
                  <a:lnTo>
                    <a:pt x="7594244" y="18545"/>
                  </a:lnTo>
                  <a:lnTo>
                    <a:pt x="7598816" y="22298"/>
                  </a:lnTo>
                  <a:lnTo>
                    <a:pt x="7603016" y="26498"/>
                  </a:lnTo>
                  <a:lnTo>
                    <a:pt x="7607217" y="30699"/>
                  </a:lnTo>
                  <a:lnTo>
                    <a:pt x="7622628" y="55854"/>
                  </a:lnTo>
                  <a:lnTo>
                    <a:pt x="7624905" y="61340"/>
                  </a:lnTo>
                  <a:lnTo>
                    <a:pt x="7626629" y="67008"/>
                  </a:lnTo>
                  <a:lnTo>
                    <a:pt x="7627781" y="72828"/>
                  </a:lnTo>
                  <a:lnTo>
                    <a:pt x="7628943" y="78657"/>
                  </a:lnTo>
                  <a:lnTo>
                    <a:pt x="7629525" y="84543"/>
                  </a:lnTo>
                  <a:lnTo>
                    <a:pt x="7629525" y="90487"/>
                  </a:lnTo>
                  <a:lnTo>
                    <a:pt x="7629525" y="604837"/>
                  </a:lnTo>
                  <a:lnTo>
                    <a:pt x="7629525" y="610781"/>
                  </a:lnTo>
                  <a:lnTo>
                    <a:pt x="7628943" y="616658"/>
                  </a:lnTo>
                  <a:lnTo>
                    <a:pt x="7627781" y="622487"/>
                  </a:lnTo>
                  <a:lnTo>
                    <a:pt x="7626629" y="628307"/>
                  </a:lnTo>
                  <a:lnTo>
                    <a:pt x="7607217" y="664616"/>
                  </a:lnTo>
                  <a:lnTo>
                    <a:pt x="7603016" y="668816"/>
                  </a:lnTo>
                  <a:lnTo>
                    <a:pt x="7598816" y="673017"/>
                  </a:lnTo>
                  <a:lnTo>
                    <a:pt x="7594244" y="676760"/>
                  </a:lnTo>
                  <a:lnTo>
                    <a:pt x="7589310" y="680056"/>
                  </a:lnTo>
                  <a:lnTo>
                    <a:pt x="7584366" y="683361"/>
                  </a:lnTo>
                  <a:lnTo>
                    <a:pt x="7579156" y="686152"/>
                  </a:lnTo>
                  <a:lnTo>
                    <a:pt x="7573660" y="688428"/>
                  </a:lnTo>
                  <a:lnTo>
                    <a:pt x="7568174" y="690705"/>
                  </a:lnTo>
                  <a:lnTo>
                    <a:pt x="7562516" y="692419"/>
                  </a:lnTo>
                  <a:lnTo>
                    <a:pt x="7556687" y="693572"/>
                  </a:lnTo>
                  <a:lnTo>
                    <a:pt x="7550858" y="694734"/>
                  </a:lnTo>
                  <a:lnTo>
                    <a:pt x="7544981" y="695325"/>
                  </a:lnTo>
                  <a:lnTo>
                    <a:pt x="7539037" y="695325"/>
                  </a:lnTo>
                  <a:lnTo>
                    <a:pt x="90487" y="695325"/>
                  </a:lnTo>
                  <a:lnTo>
                    <a:pt x="84543" y="695325"/>
                  </a:lnTo>
                  <a:lnTo>
                    <a:pt x="78657" y="694734"/>
                  </a:lnTo>
                  <a:lnTo>
                    <a:pt x="72837" y="693572"/>
                  </a:lnTo>
                  <a:lnTo>
                    <a:pt x="67008" y="692419"/>
                  </a:lnTo>
                  <a:lnTo>
                    <a:pt x="40214" y="680065"/>
                  </a:lnTo>
                  <a:lnTo>
                    <a:pt x="35271" y="676770"/>
                  </a:lnTo>
                  <a:lnTo>
                    <a:pt x="15249" y="655100"/>
                  </a:lnTo>
                  <a:lnTo>
                    <a:pt x="11944" y="650157"/>
                  </a:lnTo>
                  <a:lnTo>
                    <a:pt x="0" y="610781"/>
                  </a:lnTo>
                  <a:lnTo>
                    <a:pt x="0" y="604837"/>
                  </a:lnTo>
                  <a:close/>
                </a:path>
              </a:pathLst>
            </a:custGeom>
            <a:ln w="9525">
              <a:solidFill>
                <a:srgbClr val="A4F3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712325" y="8487554"/>
            <a:ext cx="7074534" cy="415498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250" b="1" dirty="0">
                <a:solidFill>
                  <a:srgbClr val="0791B1"/>
                </a:solidFill>
                <a:latin typeface="Century Gothic"/>
                <a:cs typeface="Century Gothic"/>
              </a:rPr>
              <a:t>Indicação Principal:</a:t>
            </a:r>
            <a:r>
              <a:rPr lang="pt-BR" sz="1250" b="1" dirty="0">
                <a:solidFill>
                  <a:srgbClr val="0791B1"/>
                </a:solidFill>
                <a:latin typeface="Century Gothic"/>
                <a:cs typeface="Century Gothic"/>
              </a:rPr>
              <a:t> </a:t>
            </a:r>
            <a:r>
              <a:rPr sz="1250" dirty="0">
                <a:solidFill>
                  <a:srgbClr val="0E7490"/>
                </a:solidFill>
                <a:latin typeface="Century Gothic"/>
                <a:cs typeface="Century Gothic"/>
              </a:rPr>
              <a:t>Heavy users de telas (8h+), gamers, profissionais corporativos e pré-présbitas que exigem o máximo em precisão.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18190" y="9419857"/>
            <a:ext cx="24796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2 • Evolução Tecnológica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41" name="object 3">
            <a:extLst>
              <a:ext uri="{FF2B5EF4-FFF2-40B4-BE49-F238E27FC236}">
                <a16:creationId xmlns:a16="http://schemas.microsoft.com/office/drawing/2014/main" id="{2B2248BF-99E2-4C48-89DD-65EF508B1B8C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42" name="object 4">
              <a:extLst>
                <a:ext uri="{FF2B5EF4-FFF2-40B4-BE49-F238E27FC236}">
                  <a16:creationId xmlns:a16="http://schemas.microsoft.com/office/drawing/2014/main" id="{0FFEFBF5-7EE1-4ECE-BFCB-521820B30837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5">
              <a:extLst>
                <a:ext uri="{FF2B5EF4-FFF2-40B4-BE49-F238E27FC236}">
                  <a16:creationId xmlns:a16="http://schemas.microsoft.com/office/drawing/2014/main" id="{E24F47A2-CFCC-4AF2-AD80-808091265DF0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6">
            <a:extLst>
              <a:ext uri="{FF2B5EF4-FFF2-40B4-BE49-F238E27FC236}">
                <a16:creationId xmlns:a16="http://schemas.microsoft.com/office/drawing/2014/main" id="{8B55AE2A-40F0-48F6-81D7-7A0AC1B6A831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3000375" cy="266700"/>
          </a:xfrm>
          <a:custGeom>
            <a:avLst/>
            <a:gdLst/>
            <a:ahLst/>
            <a:cxnLst/>
            <a:rect l="l" t="t" r="r" b="b"/>
            <a:pathLst>
              <a:path w="3000375" h="266700">
                <a:moveTo>
                  <a:pt x="2867025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5"/>
                </a:lnTo>
                <a:lnTo>
                  <a:pt x="53908" y="240447"/>
                </a:lnTo>
                <a:lnTo>
                  <a:pt x="26243" y="212783"/>
                </a:lnTo>
                <a:lnTo>
                  <a:pt x="7792" y="178254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7"/>
                </a:lnTo>
                <a:lnTo>
                  <a:pt x="7792" y="88426"/>
                </a:lnTo>
                <a:lnTo>
                  <a:pt x="26243" y="53898"/>
                </a:lnTo>
                <a:lnTo>
                  <a:pt x="53908" y="26239"/>
                </a:lnTo>
                <a:lnTo>
                  <a:pt x="88432" y="7784"/>
                </a:lnTo>
                <a:lnTo>
                  <a:pt x="126799" y="160"/>
                </a:lnTo>
                <a:lnTo>
                  <a:pt x="133350" y="0"/>
                </a:lnTo>
                <a:lnTo>
                  <a:pt x="2867025" y="0"/>
                </a:lnTo>
                <a:lnTo>
                  <a:pt x="2905734" y="5734"/>
                </a:lnTo>
                <a:lnTo>
                  <a:pt x="2941110" y="22459"/>
                </a:lnTo>
                <a:lnTo>
                  <a:pt x="2970105" y="48746"/>
                </a:lnTo>
                <a:lnTo>
                  <a:pt x="2990221" y="82315"/>
                </a:lnTo>
                <a:lnTo>
                  <a:pt x="2999733" y="120278"/>
                </a:lnTo>
                <a:lnTo>
                  <a:pt x="3000375" y="133350"/>
                </a:lnTo>
                <a:lnTo>
                  <a:pt x="3000214" y="139899"/>
                </a:lnTo>
                <a:lnTo>
                  <a:pt x="2992582" y="178254"/>
                </a:lnTo>
                <a:lnTo>
                  <a:pt x="2974130" y="212783"/>
                </a:lnTo>
                <a:lnTo>
                  <a:pt x="2946466" y="240447"/>
                </a:lnTo>
                <a:lnTo>
                  <a:pt x="2911942" y="258905"/>
                </a:lnTo>
                <a:lnTo>
                  <a:pt x="2873575" y="266539"/>
                </a:lnTo>
                <a:lnTo>
                  <a:pt x="2867025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71018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1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0" dirty="0">
                <a:solidFill>
                  <a:srgbClr val="0284C6"/>
                </a:solidFill>
                <a:latin typeface="Century Gothic"/>
                <a:cs typeface="Century Gothic"/>
              </a:rPr>
              <a:t>3:</a:t>
            </a:r>
            <a:r>
              <a:rPr sz="1100" b="1" spc="5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45" dirty="0">
                <a:solidFill>
                  <a:srgbClr val="0284C6"/>
                </a:solidFill>
                <a:latin typeface="Century Gothic"/>
                <a:cs typeface="Century Gothic"/>
              </a:rPr>
              <a:t>G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UI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30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100" b="1" spc="2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PR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0" dirty="0">
                <a:solidFill>
                  <a:srgbClr val="0284C6"/>
                </a:solidFill>
                <a:latin typeface="Century Gothic"/>
                <a:cs typeface="Century Gothic"/>
              </a:rPr>
              <a:t>ÁTI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30" dirty="0">
                <a:solidFill>
                  <a:srgbClr val="0284C6"/>
                </a:solidFill>
                <a:latin typeface="Century Gothic"/>
                <a:cs typeface="Century Gothic"/>
              </a:rPr>
              <a:t>CO</a:t>
            </a:r>
            <a:r>
              <a:rPr sz="1100" b="1" spc="1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PR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SCR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5" dirty="0">
                <a:solidFill>
                  <a:srgbClr val="0284C6"/>
                </a:solidFill>
                <a:latin typeface="Century Gothic"/>
                <a:cs typeface="Century Gothic"/>
              </a:rPr>
              <a:t>ÇÃO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1314380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Segmentação Descomplicada das 5 Potências (D0.40 a D1.25)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escolher com rapidez e segurança a potência perfeita para cada perfil de cliente.</a:t>
            </a:r>
            <a:endParaRPr sz="1400" dirty="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052" y="1787745"/>
            <a:ext cx="17202911" cy="27828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77899" y="2225408"/>
            <a:ext cx="1946305" cy="57195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50" b="1" dirty="0">
                <a:solidFill>
                  <a:srgbClr val="0284C6"/>
                </a:solidFill>
                <a:latin typeface="Trebuchet MS"/>
                <a:cs typeface="Trebuchet MS"/>
              </a:rPr>
              <a:t>D0.40</a:t>
            </a:r>
            <a:endParaRPr sz="2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b="1" dirty="0">
                <a:solidFill>
                  <a:srgbClr val="63748A"/>
                </a:solidFill>
                <a:latin typeface="Century Gothic"/>
                <a:cs typeface="Century Gothic"/>
              </a:rPr>
              <a:t>+0.40 D de Alívio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7900" y="2844873"/>
            <a:ext cx="2526665" cy="6629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18 a 25 anos</a:t>
            </a:r>
            <a:endParaRPr sz="1250">
              <a:latin typeface="Century Gothic"/>
              <a:cs typeface="Century Gothic"/>
            </a:endParaRPr>
          </a:p>
          <a:p>
            <a:pPr marL="12700" marR="5080">
              <a:lnSpc>
                <a:spcPct val="102299"/>
              </a:lnSpc>
              <a:spcBef>
                <a:spcPts val="345"/>
              </a:spcBef>
            </a:pPr>
            <a:r>
              <a:rPr sz="1100" dirty="0">
                <a:solidFill>
                  <a:srgbClr val="63748A"/>
                </a:solidFill>
                <a:latin typeface="Microsoft Sans Serif"/>
                <a:cs typeface="Microsoft Sans Serif"/>
              </a:rPr>
              <a:t>Estudantes, universitários, gamers e jovens profissionais.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3150" y="3687928"/>
            <a:ext cx="2519680" cy="30841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04"/>
              </a:spcBef>
            </a:pPr>
            <a:r>
              <a:rPr sz="1000" b="1" dirty="0">
                <a:solidFill>
                  <a:srgbClr val="0369A0"/>
                </a:solidFill>
                <a:latin typeface="Arial"/>
                <a:cs typeface="Arial"/>
              </a:rPr>
              <a:t>Foco: Prevenção de astenopia e alívio de olho seco.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42010" y="2225408"/>
            <a:ext cx="2287390" cy="57195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50" b="1" dirty="0">
                <a:solidFill>
                  <a:srgbClr val="0791B1"/>
                </a:solidFill>
                <a:latin typeface="Trebuchet MS"/>
                <a:cs typeface="Trebuchet MS"/>
              </a:rPr>
              <a:t>D0.60</a:t>
            </a:r>
            <a:endParaRPr sz="2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b="1" dirty="0">
                <a:solidFill>
                  <a:srgbClr val="63748A"/>
                </a:solidFill>
                <a:latin typeface="Century Gothic"/>
                <a:cs typeface="Century Gothic"/>
              </a:rPr>
              <a:t>+0.60 D de Alívio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42010" y="2844873"/>
            <a:ext cx="2803525" cy="6629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25 a 33 anos</a:t>
            </a:r>
            <a:endParaRPr sz="1250">
              <a:latin typeface="Century Gothic"/>
              <a:cs typeface="Century Gothic"/>
            </a:endParaRPr>
          </a:p>
          <a:p>
            <a:pPr marL="12700" marR="5080">
              <a:lnSpc>
                <a:spcPct val="102299"/>
              </a:lnSpc>
              <a:spcBef>
                <a:spcPts val="345"/>
              </a:spcBef>
            </a:pPr>
            <a:r>
              <a:rPr sz="1100" dirty="0">
                <a:solidFill>
                  <a:srgbClr val="63748A"/>
                </a:solidFill>
                <a:latin typeface="Microsoft Sans Serif"/>
                <a:cs typeface="Microsoft Sans Serif"/>
              </a:rPr>
              <a:t>Analistas, advogados, TI e uso contínuo de telas múltiplas.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9981" y="3687928"/>
            <a:ext cx="2646680" cy="3218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solidFill>
                  <a:srgbClr val="0E7490"/>
                </a:solidFill>
                <a:latin typeface="Arial"/>
                <a:cs typeface="Arial"/>
              </a:rPr>
              <a:t>Foco: Eliminar dores nas têmporas ao fim do dia.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06269" y="2225408"/>
            <a:ext cx="1946304" cy="57195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50" b="1" dirty="0">
                <a:solidFill>
                  <a:srgbClr val="059569"/>
                </a:solidFill>
                <a:latin typeface="Trebuchet MS"/>
                <a:cs typeface="Trebuchet MS"/>
              </a:rPr>
              <a:t>D0.80</a:t>
            </a:r>
            <a:endParaRPr sz="2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b="1" dirty="0">
                <a:solidFill>
                  <a:srgbClr val="63748A"/>
                </a:solidFill>
                <a:latin typeface="Century Gothic"/>
                <a:cs typeface="Century Gothic"/>
              </a:rPr>
              <a:t>+0.80 D de Alívio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06269" y="2844873"/>
            <a:ext cx="2602230" cy="6629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33 a 38 anos</a:t>
            </a:r>
            <a:endParaRPr sz="1250">
              <a:latin typeface="Century Gothic"/>
              <a:cs typeface="Century Gothic"/>
            </a:endParaRPr>
          </a:p>
          <a:p>
            <a:pPr marL="12700" marR="5080">
              <a:lnSpc>
                <a:spcPct val="102299"/>
              </a:lnSpc>
              <a:spcBef>
                <a:spcPts val="345"/>
              </a:spcBef>
            </a:pPr>
            <a:r>
              <a:rPr sz="1100" dirty="0">
                <a:solidFill>
                  <a:srgbClr val="63748A"/>
                </a:solidFill>
                <a:latin typeface="Microsoft Sans Serif"/>
                <a:cs typeface="Microsoft Sans Serif"/>
              </a:rPr>
              <a:t>Adultos ativos com início sutil de lentidão no foco longe-perto.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42034" y="3647239"/>
            <a:ext cx="2629535" cy="30841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04"/>
              </a:spcBef>
            </a:pPr>
            <a:r>
              <a:rPr sz="1000" b="1" dirty="0">
                <a:solidFill>
                  <a:srgbClr val="047856"/>
                </a:solidFill>
                <a:latin typeface="Arial"/>
                <a:cs typeface="Arial"/>
              </a:rPr>
              <a:t>Foco: Agilidade e conforto na troca contínua de foco.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70530" y="2225408"/>
            <a:ext cx="1443385" cy="57195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50" b="1" dirty="0">
                <a:solidFill>
                  <a:srgbClr val="D97705"/>
                </a:solidFill>
                <a:latin typeface="Trebuchet MS"/>
                <a:cs typeface="Trebuchet MS"/>
              </a:rPr>
              <a:t>D1.00</a:t>
            </a:r>
            <a:endParaRPr sz="2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b="1" dirty="0">
                <a:solidFill>
                  <a:srgbClr val="63748A"/>
                </a:solidFill>
                <a:latin typeface="Century Gothic"/>
                <a:cs typeface="Century Gothic"/>
              </a:rPr>
              <a:t>+1.00 D de Alívio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70530" y="2844873"/>
            <a:ext cx="2870200" cy="6629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38 a 43 anos</a:t>
            </a:r>
            <a:endParaRPr sz="1250">
              <a:latin typeface="Century Gothic"/>
              <a:cs typeface="Century Gothic"/>
            </a:endParaRPr>
          </a:p>
          <a:p>
            <a:pPr marL="12700" marR="5080">
              <a:lnSpc>
                <a:spcPct val="102299"/>
              </a:lnSpc>
              <a:spcBef>
                <a:spcPts val="345"/>
              </a:spcBef>
            </a:pPr>
            <a:r>
              <a:rPr sz="1100" b="1" dirty="0">
                <a:solidFill>
                  <a:srgbClr val="63748A"/>
                </a:solidFill>
                <a:latin typeface="Century Gothic"/>
                <a:cs typeface="Century Gothic"/>
              </a:rPr>
              <a:t>Pré-présbitas clássicos</a:t>
            </a:r>
            <a:r>
              <a:rPr sz="1100" dirty="0">
                <a:solidFill>
                  <a:srgbClr val="63748A"/>
                </a:solidFill>
                <a:latin typeface="Microsoft Sans Serif"/>
                <a:cs typeface="Microsoft Sans Serif"/>
              </a:rPr>
              <a:t>. Esforço para ler rótulos e mensagens à noite.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24200" y="3647239"/>
            <a:ext cx="2562860" cy="30841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04"/>
              </a:spcBef>
            </a:pPr>
            <a:r>
              <a:rPr sz="1000" b="1" dirty="0">
                <a:solidFill>
                  <a:srgbClr val="B45308"/>
                </a:solidFill>
                <a:latin typeface="Arial"/>
                <a:cs typeface="Arial"/>
              </a:rPr>
              <a:t>Foco: Leitura nítida sem estigma de "óculos de velho".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34790" y="2225408"/>
            <a:ext cx="1946304" cy="57195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50" b="1" dirty="0">
                <a:solidFill>
                  <a:srgbClr val="7B39EC"/>
                </a:solidFill>
                <a:latin typeface="Trebuchet MS"/>
                <a:cs typeface="Trebuchet MS"/>
              </a:rPr>
              <a:t>D1.25</a:t>
            </a:r>
            <a:endParaRPr sz="2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00" b="1" dirty="0">
                <a:solidFill>
                  <a:srgbClr val="63748A"/>
                </a:solidFill>
                <a:latin typeface="Century Gothic"/>
                <a:cs typeface="Century Gothic"/>
              </a:rPr>
              <a:t>+1.25 D de Alívio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34790" y="2844873"/>
            <a:ext cx="2849880" cy="66294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42 a 46 anos</a:t>
            </a:r>
            <a:endParaRPr sz="1250">
              <a:latin typeface="Century Gothic"/>
              <a:cs typeface="Century Gothic"/>
            </a:endParaRPr>
          </a:p>
          <a:p>
            <a:pPr marL="12700" marR="5080">
              <a:lnSpc>
                <a:spcPct val="102299"/>
              </a:lnSpc>
              <a:spcBef>
                <a:spcPts val="345"/>
              </a:spcBef>
            </a:pPr>
            <a:r>
              <a:rPr sz="1100" b="1" dirty="0">
                <a:solidFill>
                  <a:srgbClr val="63748A"/>
                </a:solidFill>
                <a:latin typeface="Century Gothic"/>
                <a:cs typeface="Century Gothic"/>
              </a:rPr>
              <a:t>Ponte para Presbiopia</a:t>
            </a:r>
            <a:r>
              <a:rPr sz="1100" dirty="0">
                <a:solidFill>
                  <a:srgbClr val="63748A"/>
                </a:solidFill>
                <a:latin typeface="Microsoft Sans Serif"/>
                <a:cs typeface="Microsoft Sans Serif"/>
              </a:rPr>
              <a:t>. Transição suave antes do primeiro multifocal.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539691" y="3647239"/>
            <a:ext cx="2524760" cy="308417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204"/>
              </a:spcBef>
            </a:pPr>
            <a:r>
              <a:rPr sz="1000" b="1" dirty="0">
                <a:solidFill>
                  <a:srgbClr val="6D28D9"/>
                </a:solidFill>
                <a:latin typeface="Arial"/>
                <a:cs typeface="Arial"/>
              </a:rPr>
              <a:t>Foco: Leitura suave sem distorções laterais de multifocal.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42543" y="8400288"/>
            <a:ext cx="17203420" cy="1259205"/>
            <a:chOff x="542543" y="8400288"/>
            <a:chExt cx="17203420" cy="1259205"/>
          </a:xfrm>
        </p:grpSpPr>
        <p:sp>
          <p:nvSpPr>
            <p:cNvPr id="22" name="object 22"/>
            <p:cNvSpPr/>
            <p:nvPr/>
          </p:nvSpPr>
          <p:spPr>
            <a:xfrm>
              <a:off x="542543" y="8400288"/>
              <a:ext cx="17203420" cy="1259205"/>
            </a:xfrm>
            <a:custGeom>
              <a:avLst/>
              <a:gdLst/>
              <a:ahLst/>
              <a:cxnLst/>
              <a:rect l="l" t="t" r="r" b="b"/>
              <a:pathLst>
                <a:path w="17203420" h="1259204">
                  <a:moveTo>
                    <a:pt x="17202911" y="1258823"/>
                  </a:moveTo>
                  <a:lnTo>
                    <a:pt x="0" y="1258823"/>
                  </a:lnTo>
                  <a:lnTo>
                    <a:pt x="0" y="0"/>
                  </a:lnTo>
                  <a:lnTo>
                    <a:pt x="17202911" y="0"/>
                  </a:lnTo>
                  <a:lnTo>
                    <a:pt x="17202911" y="238886"/>
                  </a:lnTo>
                  <a:lnTo>
                    <a:pt x="419480" y="238886"/>
                  </a:lnTo>
                  <a:lnTo>
                    <a:pt x="405406" y="239566"/>
                  </a:lnTo>
                  <a:lnTo>
                    <a:pt x="364805" y="249762"/>
                  </a:lnTo>
                  <a:lnTo>
                    <a:pt x="328885" y="271262"/>
                  </a:lnTo>
                  <a:lnTo>
                    <a:pt x="300662" y="302367"/>
                  </a:lnTo>
                  <a:lnTo>
                    <a:pt x="282722" y="340347"/>
                  </a:lnTo>
                  <a:lnTo>
                    <a:pt x="276605" y="381761"/>
                  </a:lnTo>
                  <a:lnTo>
                    <a:pt x="276605" y="800861"/>
                  </a:lnTo>
                  <a:lnTo>
                    <a:pt x="282722" y="842273"/>
                  </a:lnTo>
                  <a:lnTo>
                    <a:pt x="300662" y="880253"/>
                  </a:lnTo>
                  <a:lnTo>
                    <a:pt x="328885" y="911360"/>
                  </a:lnTo>
                  <a:lnTo>
                    <a:pt x="364805" y="932858"/>
                  </a:lnTo>
                  <a:lnTo>
                    <a:pt x="405406" y="943056"/>
                  </a:lnTo>
                  <a:lnTo>
                    <a:pt x="419480" y="943736"/>
                  </a:lnTo>
                  <a:lnTo>
                    <a:pt x="17202911" y="943736"/>
                  </a:lnTo>
                  <a:lnTo>
                    <a:pt x="17202911" y="1258823"/>
                  </a:lnTo>
                  <a:close/>
                </a:path>
                <a:path w="17203420" h="1259204">
                  <a:moveTo>
                    <a:pt x="17202911" y="943736"/>
                  </a:moveTo>
                  <a:lnTo>
                    <a:pt x="16783430" y="943736"/>
                  </a:lnTo>
                  <a:lnTo>
                    <a:pt x="16797503" y="943056"/>
                  </a:lnTo>
                  <a:lnTo>
                    <a:pt x="16811307" y="941017"/>
                  </a:lnTo>
                  <a:lnTo>
                    <a:pt x="16850847" y="926844"/>
                  </a:lnTo>
                  <a:lnTo>
                    <a:pt x="16884456" y="901887"/>
                  </a:lnTo>
                  <a:lnTo>
                    <a:pt x="16909412" y="868280"/>
                  </a:lnTo>
                  <a:lnTo>
                    <a:pt x="16923585" y="828740"/>
                  </a:lnTo>
                  <a:lnTo>
                    <a:pt x="16926305" y="800861"/>
                  </a:lnTo>
                  <a:lnTo>
                    <a:pt x="16926305" y="381761"/>
                  </a:lnTo>
                  <a:lnTo>
                    <a:pt x="16920186" y="340347"/>
                  </a:lnTo>
                  <a:lnTo>
                    <a:pt x="16902246" y="302367"/>
                  </a:lnTo>
                  <a:lnTo>
                    <a:pt x="16874023" y="271262"/>
                  </a:lnTo>
                  <a:lnTo>
                    <a:pt x="16838105" y="249762"/>
                  </a:lnTo>
                  <a:lnTo>
                    <a:pt x="16797503" y="239566"/>
                  </a:lnTo>
                  <a:lnTo>
                    <a:pt x="16783430" y="238886"/>
                  </a:lnTo>
                  <a:lnTo>
                    <a:pt x="17202911" y="238886"/>
                  </a:lnTo>
                  <a:lnTo>
                    <a:pt x="17202911" y="943736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624" y="8629650"/>
              <a:ext cx="16668750" cy="723900"/>
            </a:xfrm>
            <a:custGeom>
              <a:avLst/>
              <a:gdLst/>
              <a:ahLst/>
              <a:cxnLst/>
              <a:rect l="l" t="t" r="r" b="b"/>
              <a:pathLst>
                <a:path w="16668750" h="723900">
                  <a:moveTo>
                    <a:pt x="16516350" y="723900"/>
                  </a:moveTo>
                  <a:lnTo>
                    <a:pt x="152400" y="723900"/>
                  </a:lnTo>
                  <a:lnTo>
                    <a:pt x="144911" y="723716"/>
                  </a:lnTo>
                  <a:lnTo>
                    <a:pt x="101067" y="714985"/>
                  </a:lnTo>
                  <a:lnTo>
                    <a:pt x="61606" y="693893"/>
                  </a:lnTo>
                  <a:lnTo>
                    <a:pt x="29992" y="662284"/>
                  </a:lnTo>
                  <a:lnTo>
                    <a:pt x="8904" y="622823"/>
                  </a:lnTo>
                  <a:lnTo>
                    <a:pt x="182" y="578984"/>
                  </a:lnTo>
                  <a:lnTo>
                    <a:pt x="0" y="571500"/>
                  </a:lnTo>
                  <a:lnTo>
                    <a:pt x="0" y="152400"/>
                  </a:lnTo>
                  <a:lnTo>
                    <a:pt x="6559" y="108155"/>
                  </a:lnTo>
                  <a:lnTo>
                    <a:pt x="25679" y="67722"/>
                  </a:lnTo>
                  <a:lnTo>
                    <a:pt x="55715" y="34585"/>
                  </a:lnTo>
                  <a:lnTo>
                    <a:pt x="94078" y="11591"/>
                  </a:lnTo>
                  <a:lnTo>
                    <a:pt x="137461" y="733"/>
                  </a:lnTo>
                  <a:lnTo>
                    <a:pt x="152400" y="0"/>
                  </a:lnTo>
                  <a:lnTo>
                    <a:pt x="16516350" y="0"/>
                  </a:lnTo>
                  <a:lnTo>
                    <a:pt x="16560588" y="6554"/>
                  </a:lnTo>
                  <a:lnTo>
                    <a:pt x="16601017" y="25679"/>
                  </a:lnTo>
                  <a:lnTo>
                    <a:pt x="16634156" y="55710"/>
                  </a:lnTo>
                  <a:lnTo>
                    <a:pt x="16657148" y="94068"/>
                  </a:lnTo>
                  <a:lnTo>
                    <a:pt x="16668015" y="137456"/>
                  </a:lnTo>
                  <a:lnTo>
                    <a:pt x="16668750" y="152400"/>
                  </a:lnTo>
                  <a:lnTo>
                    <a:pt x="16668750" y="571500"/>
                  </a:lnTo>
                  <a:lnTo>
                    <a:pt x="16662186" y="615730"/>
                  </a:lnTo>
                  <a:lnTo>
                    <a:pt x="16643061" y="656158"/>
                  </a:lnTo>
                  <a:lnTo>
                    <a:pt x="16613031" y="689301"/>
                  </a:lnTo>
                  <a:lnTo>
                    <a:pt x="16574671" y="712289"/>
                  </a:lnTo>
                  <a:lnTo>
                    <a:pt x="16531285" y="723165"/>
                  </a:lnTo>
                  <a:lnTo>
                    <a:pt x="16516350" y="723900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95375" y="8717072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lnTo>
                    <a:pt x="129779" y="337757"/>
                  </a:lnTo>
                  <a:lnTo>
                    <a:pt x="90627" y="322653"/>
                  </a:lnTo>
                  <a:lnTo>
                    <a:pt x="56318" y="298490"/>
                  </a:lnTo>
                  <a:lnTo>
                    <a:pt x="28898" y="266700"/>
                  </a:lnTo>
                  <a:lnTo>
                    <a:pt x="10017" y="229192"/>
                  </a:lnTo>
                  <a:lnTo>
                    <a:pt x="822" y="188253"/>
                  </a:lnTo>
                  <a:lnTo>
                    <a:pt x="0" y="171450"/>
                  </a:lnTo>
                  <a:lnTo>
                    <a:pt x="205" y="163025"/>
                  </a:lnTo>
                  <a:lnTo>
                    <a:pt x="7379" y="121675"/>
                  </a:lnTo>
                  <a:lnTo>
                    <a:pt x="24387" y="83305"/>
                  </a:lnTo>
                  <a:lnTo>
                    <a:pt x="50215" y="50206"/>
                  </a:lnTo>
                  <a:lnTo>
                    <a:pt x="83314" y="24379"/>
                  </a:lnTo>
                  <a:lnTo>
                    <a:pt x="121680" y="7375"/>
                  </a:lnTo>
                  <a:lnTo>
                    <a:pt x="163027" y="205"/>
                  </a:lnTo>
                  <a:lnTo>
                    <a:pt x="171450" y="0"/>
                  </a:lnTo>
                  <a:lnTo>
                    <a:pt x="179872" y="205"/>
                  </a:lnTo>
                  <a:lnTo>
                    <a:pt x="221219" y="7374"/>
                  </a:lnTo>
                  <a:lnTo>
                    <a:pt x="259585" y="24379"/>
                  </a:lnTo>
                  <a:lnTo>
                    <a:pt x="292684" y="50206"/>
                  </a:lnTo>
                  <a:lnTo>
                    <a:pt x="318512" y="83305"/>
                  </a:lnTo>
                  <a:lnTo>
                    <a:pt x="335520" y="121675"/>
                  </a:lnTo>
                  <a:lnTo>
                    <a:pt x="342694" y="163025"/>
                  </a:lnTo>
                  <a:lnTo>
                    <a:pt x="342900" y="171450"/>
                  </a:lnTo>
                  <a:lnTo>
                    <a:pt x="342694" y="179872"/>
                  </a:lnTo>
                  <a:lnTo>
                    <a:pt x="335520" y="221209"/>
                  </a:lnTo>
                  <a:lnTo>
                    <a:pt x="318512" y="259579"/>
                  </a:lnTo>
                  <a:lnTo>
                    <a:pt x="292684" y="292684"/>
                  </a:lnTo>
                  <a:lnTo>
                    <a:pt x="259585" y="318510"/>
                  </a:lnTo>
                  <a:lnTo>
                    <a:pt x="221219" y="335515"/>
                  </a:lnTo>
                  <a:lnTo>
                    <a:pt x="179872" y="342694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00D2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6973" y="8795390"/>
            <a:ext cx="13147040" cy="427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350" b="1" dirty="0">
                <a:solidFill>
                  <a:srgbClr val="0F162A"/>
                </a:solidFill>
                <a:latin typeface="Arial"/>
                <a:cs typeface="Arial"/>
              </a:rPr>
              <a:t>!	</a:t>
            </a:r>
            <a:r>
              <a:rPr sz="1350" b="1" dirty="0">
                <a:solidFill>
                  <a:srgbClr val="00D2DE"/>
                </a:solidFill>
                <a:latin typeface="Arial"/>
                <a:cs typeface="Arial"/>
              </a:rPr>
              <a:t>Regra Prática do Balcão: </a:t>
            </a:r>
            <a:r>
              <a:rPr sz="1350" dirty="0">
                <a:solidFill>
                  <a:srgbClr val="FFFFFF"/>
                </a:solidFill>
                <a:latin typeface="Century Gothic"/>
                <a:cs typeface="Century Gothic"/>
              </a:rPr>
              <a:t>Na dúvida entre duas potências, selecione a menor para jovens (&lt;30 anos) e a maior para clientes acima de 38 </a:t>
            </a:r>
            <a:r>
              <a:rPr sz="1350" dirty="0" err="1">
                <a:solidFill>
                  <a:srgbClr val="FFFFFF"/>
                </a:solidFill>
                <a:latin typeface="Century Gothic"/>
                <a:cs typeface="Century Gothic"/>
              </a:rPr>
              <a:t>anos</a:t>
            </a:r>
            <a:r>
              <a:rPr sz="1350" dirty="0">
                <a:solidFill>
                  <a:srgbClr val="FFFFFF"/>
                </a:solidFill>
                <a:latin typeface="Century Gothic"/>
                <a:cs typeface="Century Gothic"/>
              </a:rPr>
              <a:t>.</a:t>
            </a:r>
            <a:r>
              <a:rPr lang="pt-BR" sz="1350" dirty="0">
                <a:solidFill>
                  <a:srgbClr val="FFFFFF"/>
                </a:solidFill>
                <a:latin typeface="Century Gothic"/>
                <a:cs typeface="Century Gothic"/>
              </a:rPr>
              <a:t> A                                             </a:t>
            </a:r>
            <a:r>
              <a:rPr sz="1350" dirty="0" err="1">
                <a:solidFill>
                  <a:srgbClr val="FFFFFF"/>
                </a:solidFill>
                <a:latin typeface="Century Gothic"/>
                <a:cs typeface="Century Gothic"/>
              </a:rPr>
              <a:t>adaptação</a:t>
            </a:r>
            <a:r>
              <a:rPr sz="1350" dirty="0">
                <a:solidFill>
                  <a:srgbClr val="FFFFFF"/>
                </a:solidFill>
                <a:latin typeface="Century Gothic"/>
                <a:cs typeface="Century Gothic"/>
              </a:rPr>
              <a:t> é garantida e imediata.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878309" y="8823923"/>
            <a:ext cx="2411277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93A2B8"/>
                </a:solidFill>
                <a:latin typeface="Arial"/>
                <a:cs typeface="Arial"/>
              </a:rPr>
              <a:t>5 OPÇÕES EXCLUSIVAS IA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9625" y="9353555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1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1" y="0"/>
                </a:lnTo>
                <a:lnTo>
                  <a:pt x="16668751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96924" y="9463126"/>
            <a:ext cx="3927475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3 • Matriz de Segmentação por Potência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30" name="object 3">
            <a:extLst>
              <a:ext uri="{FF2B5EF4-FFF2-40B4-BE49-F238E27FC236}">
                <a16:creationId xmlns:a16="http://schemas.microsoft.com/office/drawing/2014/main" id="{AA8CA3A8-0C60-44F4-8FB6-67E4B9C0281D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31" name="object 4">
              <a:extLst>
                <a:ext uri="{FF2B5EF4-FFF2-40B4-BE49-F238E27FC236}">
                  <a16:creationId xmlns:a16="http://schemas.microsoft.com/office/drawing/2014/main" id="{60F9C7AF-5E93-4C1C-A97E-41C2E158E627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3DAF663E-8277-480F-AC51-32D310A62C14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6">
            <a:extLst>
              <a:ext uri="{FF2B5EF4-FFF2-40B4-BE49-F238E27FC236}">
                <a16:creationId xmlns:a16="http://schemas.microsoft.com/office/drawing/2014/main" id="{D6ED96FA-464E-45B6-8455-218E57485B88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428875" cy="266700"/>
          </a:xfrm>
          <a:custGeom>
            <a:avLst/>
            <a:gdLst/>
            <a:ahLst/>
            <a:cxnLst/>
            <a:rect l="l" t="t" r="r" b="b"/>
            <a:pathLst>
              <a:path w="2428875" h="266700">
                <a:moveTo>
                  <a:pt x="2295525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897"/>
                </a:lnTo>
                <a:lnTo>
                  <a:pt x="53908" y="240447"/>
                </a:lnTo>
                <a:lnTo>
                  <a:pt x="26243" y="212783"/>
                </a:lnTo>
                <a:lnTo>
                  <a:pt x="7792" y="178254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7"/>
                </a:lnTo>
                <a:lnTo>
                  <a:pt x="7792" y="88426"/>
                </a:lnTo>
                <a:lnTo>
                  <a:pt x="26243" y="53898"/>
                </a:lnTo>
                <a:lnTo>
                  <a:pt x="53908" y="26243"/>
                </a:lnTo>
                <a:lnTo>
                  <a:pt x="88432" y="7784"/>
                </a:lnTo>
                <a:lnTo>
                  <a:pt x="126799" y="160"/>
                </a:lnTo>
                <a:lnTo>
                  <a:pt x="133350" y="0"/>
                </a:lnTo>
                <a:lnTo>
                  <a:pt x="2295525" y="0"/>
                </a:lnTo>
                <a:lnTo>
                  <a:pt x="2334234" y="5735"/>
                </a:lnTo>
                <a:lnTo>
                  <a:pt x="2369610" y="22469"/>
                </a:lnTo>
                <a:lnTo>
                  <a:pt x="2398605" y="48746"/>
                </a:lnTo>
                <a:lnTo>
                  <a:pt x="2418721" y="82315"/>
                </a:lnTo>
                <a:lnTo>
                  <a:pt x="2428233" y="120278"/>
                </a:lnTo>
                <a:lnTo>
                  <a:pt x="2428875" y="133350"/>
                </a:lnTo>
                <a:lnTo>
                  <a:pt x="2428714" y="139899"/>
                </a:lnTo>
                <a:lnTo>
                  <a:pt x="2421082" y="178254"/>
                </a:lnTo>
                <a:lnTo>
                  <a:pt x="2402630" y="212783"/>
                </a:lnTo>
                <a:lnTo>
                  <a:pt x="2374966" y="240447"/>
                </a:lnTo>
                <a:lnTo>
                  <a:pt x="2340442" y="258905"/>
                </a:lnTo>
                <a:lnTo>
                  <a:pt x="2302075" y="266539"/>
                </a:lnTo>
                <a:lnTo>
                  <a:pt x="2295525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14249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4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:</a:t>
            </a:r>
            <a:r>
              <a:rPr sz="1100" b="1" spc="4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BATALH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30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100" b="1" spc="1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6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25" dirty="0">
                <a:solidFill>
                  <a:srgbClr val="0284C6"/>
                </a:solidFill>
                <a:latin typeface="Century Gothic"/>
                <a:cs typeface="Century Gothic"/>
              </a:rPr>
              <a:t>M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5" dirty="0">
                <a:solidFill>
                  <a:srgbClr val="0284C6"/>
                </a:solidFill>
                <a:latin typeface="Century Gothic"/>
                <a:cs typeface="Century Gothic"/>
              </a:rPr>
              <a:t>CAD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865822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Duelo de Titãs: Matriz Competitiva Direta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a Gold Comfort IA se posiciona frente aos gigantes multinacionais de mercado.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600" y="1905000"/>
            <a:ext cx="17068800" cy="7687309"/>
            <a:chOff x="609600" y="1905000"/>
            <a:chExt cx="17068800" cy="7687309"/>
          </a:xfrm>
        </p:grpSpPr>
        <p:sp>
          <p:nvSpPr>
            <p:cNvPr id="6" name="object 6"/>
            <p:cNvSpPr/>
            <p:nvPr/>
          </p:nvSpPr>
          <p:spPr>
            <a:xfrm>
              <a:off x="609600" y="1905000"/>
              <a:ext cx="17068800" cy="7687309"/>
            </a:xfrm>
            <a:custGeom>
              <a:avLst/>
              <a:gdLst/>
              <a:ahLst/>
              <a:cxnLst/>
              <a:rect l="l" t="t" r="r" b="b"/>
              <a:pathLst>
                <a:path w="17068800" h="7687309">
                  <a:moveTo>
                    <a:pt x="17068799" y="7687055"/>
                  </a:moveTo>
                  <a:lnTo>
                    <a:pt x="0" y="7687055"/>
                  </a:lnTo>
                  <a:lnTo>
                    <a:pt x="0" y="0"/>
                  </a:lnTo>
                  <a:lnTo>
                    <a:pt x="17068799" y="0"/>
                  </a:lnTo>
                  <a:lnTo>
                    <a:pt x="17068799" y="171449"/>
                  </a:lnTo>
                  <a:lnTo>
                    <a:pt x="314324" y="171449"/>
                  </a:lnTo>
                  <a:lnTo>
                    <a:pt x="304004" y="171948"/>
                  </a:lnTo>
                  <a:lnTo>
                    <a:pt x="264884" y="183836"/>
                  </a:lnTo>
                  <a:lnTo>
                    <a:pt x="233291" y="209787"/>
                  </a:lnTo>
                  <a:lnTo>
                    <a:pt x="214036" y="245856"/>
                  </a:lnTo>
                  <a:lnTo>
                    <a:pt x="209549" y="276224"/>
                  </a:lnTo>
                  <a:lnTo>
                    <a:pt x="209549" y="7334249"/>
                  </a:lnTo>
                  <a:lnTo>
                    <a:pt x="217526" y="7374343"/>
                  </a:lnTo>
                  <a:lnTo>
                    <a:pt x="240237" y="7408337"/>
                  </a:lnTo>
                  <a:lnTo>
                    <a:pt x="274228" y="7431048"/>
                  </a:lnTo>
                  <a:lnTo>
                    <a:pt x="314324" y="7439024"/>
                  </a:lnTo>
                  <a:lnTo>
                    <a:pt x="17068799" y="7439024"/>
                  </a:lnTo>
                  <a:lnTo>
                    <a:pt x="17068799" y="7687055"/>
                  </a:lnTo>
                  <a:close/>
                </a:path>
                <a:path w="17068800" h="7687309">
                  <a:moveTo>
                    <a:pt x="17068799" y="7439024"/>
                  </a:moveTo>
                  <a:lnTo>
                    <a:pt x="16754474" y="7439024"/>
                  </a:lnTo>
                  <a:lnTo>
                    <a:pt x="16764795" y="7438525"/>
                  </a:lnTo>
                  <a:lnTo>
                    <a:pt x="16774917" y="7437029"/>
                  </a:lnTo>
                  <a:lnTo>
                    <a:pt x="16812693" y="7421383"/>
                  </a:lnTo>
                  <a:lnTo>
                    <a:pt x="16841605" y="7392468"/>
                  </a:lnTo>
                  <a:lnTo>
                    <a:pt x="16857254" y="7354693"/>
                  </a:lnTo>
                  <a:lnTo>
                    <a:pt x="16859249" y="7334249"/>
                  </a:lnTo>
                  <a:lnTo>
                    <a:pt x="16859249" y="276224"/>
                  </a:lnTo>
                  <a:lnTo>
                    <a:pt x="16851272" y="236128"/>
                  </a:lnTo>
                  <a:lnTo>
                    <a:pt x="16828559" y="202137"/>
                  </a:lnTo>
                  <a:lnTo>
                    <a:pt x="16794567" y="179426"/>
                  </a:lnTo>
                  <a:lnTo>
                    <a:pt x="16754474" y="171449"/>
                  </a:lnTo>
                  <a:lnTo>
                    <a:pt x="17068799" y="171449"/>
                  </a:lnTo>
                  <a:lnTo>
                    <a:pt x="17068799" y="7439024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4387" y="2071687"/>
              <a:ext cx="16659225" cy="7277100"/>
            </a:xfrm>
            <a:custGeom>
              <a:avLst/>
              <a:gdLst/>
              <a:ahLst/>
              <a:cxnLst/>
              <a:rect l="l" t="t" r="r" b="b"/>
              <a:pathLst>
                <a:path w="16659225" h="7277100">
                  <a:moveTo>
                    <a:pt x="16556878" y="7277100"/>
                  </a:moveTo>
                  <a:lnTo>
                    <a:pt x="102346" y="7277100"/>
                  </a:lnTo>
                  <a:lnTo>
                    <a:pt x="95221" y="7276395"/>
                  </a:lnTo>
                  <a:lnTo>
                    <a:pt x="54663" y="7262622"/>
                  </a:lnTo>
                  <a:lnTo>
                    <a:pt x="22459" y="7234389"/>
                  </a:lnTo>
                  <a:lnTo>
                    <a:pt x="3505" y="7195975"/>
                  </a:lnTo>
                  <a:lnTo>
                    <a:pt x="0" y="7174753"/>
                  </a:lnTo>
                  <a:lnTo>
                    <a:pt x="0" y="7167562"/>
                  </a:lnTo>
                  <a:lnTo>
                    <a:pt x="0" y="102346"/>
                  </a:lnTo>
                  <a:lnTo>
                    <a:pt x="11087" y="60969"/>
                  </a:lnTo>
                  <a:lnTo>
                    <a:pt x="37166" y="26993"/>
                  </a:lnTo>
                  <a:lnTo>
                    <a:pt x="74266" y="5572"/>
                  </a:lnTo>
                  <a:lnTo>
                    <a:pt x="102346" y="0"/>
                  </a:lnTo>
                  <a:lnTo>
                    <a:pt x="16556878" y="0"/>
                  </a:lnTo>
                  <a:lnTo>
                    <a:pt x="16598245" y="11087"/>
                  </a:lnTo>
                  <a:lnTo>
                    <a:pt x="16632231" y="37166"/>
                  </a:lnTo>
                  <a:lnTo>
                    <a:pt x="16653633" y="74256"/>
                  </a:lnTo>
                  <a:lnTo>
                    <a:pt x="16659225" y="102346"/>
                  </a:lnTo>
                  <a:lnTo>
                    <a:pt x="16659225" y="7174753"/>
                  </a:lnTo>
                  <a:lnTo>
                    <a:pt x="16648128" y="7216120"/>
                  </a:lnTo>
                  <a:lnTo>
                    <a:pt x="16622058" y="7250087"/>
                  </a:lnTo>
                  <a:lnTo>
                    <a:pt x="16584958" y="7271499"/>
                  </a:lnTo>
                  <a:lnTo>
                    <a:pt x="16564003" y="7276395"/>
                  </a:lnTo>
                  <a:lnTo>
                    <a:pt x="16556878" y="7277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4387" y="2071687"/>
              <a:ext cx="16659225" cy="7277100"/>
            </a:xfrm>
            <a:custGeom>
              <a:avLst/>
              <a:gdLst/>
              <a:ahLst/>
              <a:cxnLst/>
              <a:rect l="l" t="t" r="r" b="b"/>
              <a:pathLst>
                <a:path w="16659225" h="7277100">
                  <a:moveTo>
                    <a:pt x="0" y="7167562"/>
                  </a:moveTo>
                  <a:lnTo>
                    <a:pt x="0" y="109537"/>
                  </a:lnTo>
                  <a:lnTo>
                    <a:pt x="0" y="102346"/>
                  </a:lnTo>
                  <a:lnTo>
                    <a:pt x="704" y="95221"/>
                  </a:lnTo>
                  <a:lnTo>
                    <a:pt x="2105" y="88163"/>
                  </a:lnTo>
                  <a:lnTo>
                    <a:pt x="3505" y="81114"/>
                  </a:lnTo>
                  <a:lnTo>
                    <a:pt x="5581" y="74256"/>
                  </a:lnTo>
                  <a:lnTo>
                    <a:pt x="8334" y="67617"/>
                  </a:lnTo>
                  <a:lnTo>
                    <a:pt x="11087" y="60969"/>
                  </a:lnTo>
                  <a:lnTo>
                    <a:pt x="32080" y="32080"/>
                  </a:lnTo>
                  <a:lnTo>
                    <a:pt x="37166" y="26993"/>
                  </a:lnTo>
                  <a:lnTo>
                    <a:pt x="42700" y="22450"/>
                  </a:lnTo>
                  <a:lnTo>
                    <a:pt x="48682" y="18459"/>
                  </a:lnTo>
                  <a:lnTo>
                    <a:pt x="54663" y="14458"/>
                  </a:lnTo>
                  <a:lnTo>
                    <a:pt x="60979" y="11087"/>
                  </a:lnTo>
                  <a:lnTo>
                    <a:pt x="67617" y="8334"/>
                  </a:lnTo>
                  <a:lnTo>
                    <a:pt x="74266" y="5572"/>
                  </a:lnTo>
                  <a:lnTo>
                    <a:pt x="81114" y="3505"/>
                  </a:lnTo>
                  <a:lnTo>
                    <a:pt x="88163" y="2105"/>
                  </a:lnTo>
                  <a:lnTo>
                    <a:pt x="95221" y="704"/>
                  </a:lnTo>
                  <a:lnTo>
                    <a:pt x="102346" y="0"/>
                  </a:lnTo>
                  <a:lnTo>
                    <a:pt x="109537" y="0"/>
                  </a:lnTo>
                  <a:lnTo>
                    <a:pt x="16549687" y="0"/>
                  </a:lnTo>
                  <a:lnTo>
                    <a:pt x="16556878" y="0"/>
                  </a:lnTo>
                  <a:lnTo>
                    <a:pt x="16564003" y="695"/>
                  </a:lnTo>
                  <a:lnTo>
                    <a:pt x="16571052" y="2095"/>
                  </a:lnTo>
                  <a:lnTo>
                    <a:pt x="16578110" y="3495"/>
                  </a:lnTo>
                  <a:lnTo>
                    <a:pt x="16616524" y="22450"/>
                  </a:lnTo>
                  <a:lnTo>
                    <a:pt x="16644756" y="54654"/>
                  </a:lnTo>
                  <a:lnTo>
                    <a:pt x="16650881" y="67617"/>
                  </a:lnTo>
                  <a:lnTo>
                    <a:pt x="16653633" y="74256"/>
                  </a:lnTo>
                  <a:lnTo>
                    <a:pt x="16655710" y="81114"/>
                  </a:lnTo>
                  <a:lnTo>
                    <a:pt x="16657119" y="88163"/>
                  </a:lnTo>
                  <a:lnTo>
                    <a:pt x="16658520" y="95221"/>
                  </a:lnTo>
                  <a:lnTo>
                    <a:pt x="16659225" y="102346"/>
                  </a:lnTo>
                  <a:lnTo>
                    <a:pt x="16659225" y="109537"/>
                  </a:lnTo>
                  <a:lnTo>
                    <a:pt x="16659225" y="7167562"/>
                  </a:lnTo>
                  <a:lnTo>
                    <a:pt x="16659225" y="7174753"/>
                  </a:lnTo>
                  <a:lnTo>
                    <a:pt x="16658520" y="7181878"/>
                  </a:lnTo>
                  <a:lnTo>
                    <a:pt x="16657119" y="7188917"/>
                  </a:lnTo>
                  <a:lnTo>
                    <a:pt x="16655710" y="7195975"/>
                  </a:lnTo>
                  <a:lnTo>
                    <a:pt x="16653633" y="7202824"/>
                  </a:lnTo>
                  <a:lnTo>
                    <a:pt x="16650881" y="7209462"/>
                  </a:lnTo>
                  <a:lnTo>
                    <a:pt x="16648128" y="7216120"/>
                  </a:lnTo>
                  <a:lnTo>
                    <a:pt x="16644756" y="7222426"/>
                  </a:lnTo>
                  <a:lnTo>
                    <a:pt x="16640765" y="7228398"/>
                  </a:lnTo>
                  <a:lnTo>
                    <a:pt x="16636765" y="7234389"/>
                  </a:lnTo>
                  <a:lnTo>
                    <a:pt x="16604561" y="7262622"/>
                  </a:lnTo>
                  <a:lnTo>
                    <a:pt x="16571052" y="7274985"/>
                  </a:lnTo>
                  <a:lnTo>
                    <a:pt x="16564003" y="7276395"/>
                  </a:lnTo>
                  <a:lnTo>
                    <a:pt x="16556878" y="7277100"/>
                  </a:lnTo>
                  <a:lnTo>
                    <a:pt x="16549687" y="7277100"/>
                  </a:lnTo>
                  <a:lnTo>
                    <a:pt x="109537" y="7277100"/>
                  </a:lnTo>
                  <a:lnTo>
                    <a:pt x="102346" y="7277100"/>
                  </a:lnTo>
                  <a:lnTo>
                    <a:pt x="95221" y="7276395"/>
                  </a:lnTo>
                  <a:lnTo>
                    <a:pt x="88163" y="7274985"/>
                  </a:lnTo>
                  <a:lnTo>
                    <a:pt x="81114" y="7273585"/>
                  </a:lnTo>
                  <a:lnTo>
                    <a:pt x="48682" y="7258621"/>
                  </a:lnTo>
                  <a:lnTo>
                    <a:pt x="42700" y="7254630"/>
                  </a:lnTo>
                  <a:lnTo>
                    <a:pt x="14468" y="7222426"/>
                  </a:lnTo>
                  <a:lnTo>
                    <a:pt x="8334" y="7209462"/>
                  </a:lnTo>
                  <a:lnTo>
                    <a:pt x="5581" y="7202824"/>
                  </a:lnTo>
                  <a:lnTo>
                    <a:pt x="3505" y="7195975"/>
                  </a:lnTo>
                  <a:lnTo>
                    <a:pt x="2105" y="7188917"/>
                  </a:lnTo>
                  <a:lnTo>
                    <a:pt x="704" y="7181878"/>
                  </a:lnTo>
                  <a:lnTo>
                    <a:pt x="0" y="7174753"/>
                  </a:lnTo>
                  <a:lnTo>
                    <a:pt x="0" y="7167562"/>
                  </a:lnTo>
                  <a:close/>
                </a:path>
              </a:pathLst>
            </a:custGeom>
            <a:ln w="9524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9150" y="2076451"/>
              <a:ext cx="4324350" cy="542925"/>
            </a:xfrm>
            <a:custGeom>
              <a:avLst/>
              <a:gdLst/>
              <a:ahLst/>
              <a:cxnLst/>
              <a:rect l="l" t="t" r="r" b="b"/>
              <a:pathLst>
                <a:path w="4324350" h="542925">
                  <a:moveTo>
                    <a:pt x="4324350" y="542925"/>
                  </a:moveTo>
                  <a:lnTo>
                    <a:pt x="0" y="542925"/>
                  </a:lnTo>
                  <a:lnTo>
                    <a:pt x="0" y="104774"/>
                  </a:lnTo>
                  <a:lnTo>
                    <a:pt x="7976" y="64678"/>
                  </a:lnTo>
                  <a:lnTo>
                    <a:pt x="30687" y="30687"/>
                  </a:lnTo>
                  <a:lnTo>
                    <a:pt x="64678" y="7976"/>
                  </a:lnTo>
                  <a:lnTo>
                    <a:pt x="104775" y="0"/>
                  </a:lnTo>
                  <a:lnTo>
                    <a:pt x="4324350" y="0"/>
                  </a:lnTo>
                  <a:lnTo>
                    <a:pt x="4324350" y="542925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43500" y="2076449"/>
              <a:ext cx="3667125" cy="542925"/>
            </a:xfrm>
            <a:custGeom>
              <a:avLst/>
              <a:gdLst/>
              <a:ahLst/>
              <a:cxnLst/>
              <a:rect l="l" t="t" r="r" b="b"/>
              <a:pathLst>
                <a:path w="3667125" h="542925">
                  <a:moveTo>
                    <a:pt x="3667125" y="542925"/>
                  </a:moveTo>
                  <a:lnTo>
                    <a:pt x="0" y="542925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542925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0625" y="2076449"/>
              <a:ext cx="8658225" cy="543560"/>
            </a:xfrm>
            <a:custGeom>
              <a:avLst/>
              <a:gdLst/>
              <a:ahLst/>
              <a:cxnLst/>
              <a:rect l="l" t="t" r="r" b="b"/>
              <a:pathLst>
                <a:path w="8658225" h="543560">
                  <a:moveTo>
                    <a:pt x="8658225" y="104787"/>
                  </a:moveTo>
                  <a:lnTo>
                    <a:pt x="8650237" y="64681"/>
                  </a:lnTo>
                  <a:lnTo>
                    <a:pt x="8627529" y="30695"/>
                  </a:lnTo>
                  <a:lnTo>
                    <a:pt x="8593544" y="7988"/>
                  </a:lnTo>
                  <a:lnTo>
                    <a:pt x="8553450" y="12"/>
                  </a:lnTo>
                  <a:lnTo>
                    <a:pt x="5829300" y="12"/>
                  </a:lnTo>
                  <a:lnTo>
                    <a:pt x="3000375" y="0"/>
                  </a:lnTo>
                  <a:lnTo>
                    <a:pt x="0" y="0"/>
                  </a:lnTo>
                  <a:lnTo>
                    <a:pt x="0" y="542925"/>
                  </a:lnTo>
                  <a:lnTo>
                    <a:pt x="3000375" y="542925"/>
                  </a:lnTo>
                  <a:lnTo>
                    <a:pt x="5829300" y="542925"/>
                  </a:lnTo>
                  <a:lnTo>
                    <a:pt x="8658225" y="542937"/>
                  </a:lnTo>
                  <a:lnTo>
                    <a:pt x="8658225" y="104787"/>
                  </a:lnTo>
                  <a:close/>
                </a:path>
              </a:pathLst>
            </a:custGeom>
            <a:solidFill>
              <a:srgbClr val="0F16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9150" y="3838574"/>
              <a:ext cx="4324350" cy="9525"/>
            </a:xfrm>
            <a:custGeom>
              <a:avLst/>
              <a:gdLst/>
              <a:ahLst/>
              <a:cxnLst/>
              <a:rect l="l" t="t" r="r" b="b"/>
              <a:pathLst>
                <a:path w="4324350" h="9525">
                  <a:moveTo>
                    <a:pt x="43243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324350" y="0"/>
                  </a:lnTo>
                  <a:lnTo>
                    <a:pt x="4324350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43500" y="2619374"/>
              <a:ext cx="3667125" cy="1228725"/>
            </a:xfrm>
            <a:custGeom>
              <a:avLst/>
              <a:gdLst/>
              <a:ahLst/>
              <a:cxnLst/>
              <a:rect l="l" t="t" r="r" b="b"/>
              <a:pathLst>
                <a:path w="3667125" h="1228725">
                  <a:moveTo>
                    <a:pt x="3667125" y="1228725"/>
                  </a:moveTo>
                  <a:lnTo>
                    <a:pt x="0" y="1228725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1228725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43500" y="3838574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36671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43500" y="2619374"/>
              <a:ext cx="3667125" cy="1228725"/>
            </a:xfrm>
            <a:custGeom>
              <a:avLst/>
              <a:gdLst/>
              <a:ahLst/>
              <a:cxnLst/>
              <a:rect l="l" t="t" r="r" b="b"/>
              <a:pathLst>
                <a:path w="3667125" h="1228725">
                  <a:moveTo>
                    <a:pt x="19050" y="0"/>
                  </a:moveTo>
                  <a:lnTo>
                    <a:pt x="0" y="0"/>
                  </a:lnTo>
                  <a:lnTo>
                    <a:pt x="0" y="1228725"/>
                  </a:lnTo>
                  <a:lnTo>
                    <a:pt x="19050" y="1219200"/>
                  </a:lnTo>
                  <a:lnTo>
                    <a:pt x="19050" y="0"/>
                  </a:lnTo>
                  <a:close/>
                </a:path>
                <a:path w="3667125" h="1228725">
                  <a:moveTo>
                    <a:pt x="3667125" y="0"/>
                  </a:moveTo>
                  <a:lnTo>
                    <a:pt x="3648075" y="0"/>
                  </a:lnTo>
                  <a:lnTo>
                    <a:pt x="3648075" y="1219200"/>
                  </a:lnTo>
                  <a:lnTo>
                    <a:pt x="3667125" y="1228725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10625" y="3838574"/>
              <a:ext cx="8658225" cy="9525"/>
            </a:xfrm>
            <a:custGeom>
              <a:avLst/>
              <a:gdLst/>
              <a:ahLst/>
              <a:cxnLst/>
              <a:rect l="l" t="t" r="r" b="b"/>
              <a:pathLst>
                <a:path w="8658225" h="9525">
                  <a:moveTo>
                    <a:pt x="8658225" y="0"/>
                  </a:moveTo>
                  <a:lnTo>
                    <a:pt x="5829300" y="0"/>
                  </a:lnTo>
                  <a:lnTo>
                    <a:pt x="30003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000375" y="9525"/>
                  </a:lnTo>
                  <a:lnTo>
                    <a:pt x="5829300" y="9525"/>
                  </a:lnTo>
                  <a:lnTo>
                    <a:pt x="8658225" y="9525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9150" y="3848099"/>
              <a:ext cx="4324350" cy="904875"/>
            </a:xfrm>
            <a:custGeom>
              <a:avLst/>
              <a:gdLst/>
              <a:ahLst/>
              <a:cxnLst/>
              <a:rect l="l" t="t" r="r" b="b"/>
              <a:pathLst>
                <a:path w="4324350" h="904875">
                  <a:moveTo>
                    <a:pt x="4324350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4324350" y="0"/>
                  </a:lnTo>
                  <a:lnTo>
                    <a:pt x="4324350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9150" y="4743449"/>
              <a:ext cx="4324350" cy="9525"/>
            </a:xfrm>
            <a:custGeom>
              <a:avLst/>
              <a:gdLst/>
              <a:ahLst/>
              <a:cxnLst/>
              <a:rect l="l" t="t" r="r" b="b"/>
              <a:pathLst>
                <a:path w="4324350" h="9525">
                  <a:moveTo>
                    <a:pt x="4324350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4324350" y="0"/>
                  </a:lnTo>
                  <a:lnTo>
                    <a:pt x="4324350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43500" y="3848099"/>
              <a:ext cx="3667125" cy="904875"/>
            </a:xfrm>
            <a:custGeom>
              <a:avLst/>
              <a:gdLst/>
              <a:ahLst/>
              <a:cxnLst/>
              <a:rect l="l" t="t" r="r" b="b"/>
              <a:pathLst>
                <a:path w="3667125" h="904875">
                  <a:moveTo>
                    <a:pt x="3667125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43500" y="4743449"/>
              <a:ext cx="3667125" cy="9525"/>
            </a:xfrm>
            <a:custGeom>
              <a:avLst/>
              <a:gdLst/>
              <a:ahLst/>
              <a:cxnLst/>
              <a:rect l="l" t="t" r="r" b="b"/>
              <a:pathLst>
                <a:path w="3667125" h="9525">
                  <a:moveTo>
                    <a:pt x="36671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43500" y="3848099"/>
              <a:ext cx="3667125" cy="904875"/>
            </a:xfrm>
            <a:custGeom>
              <a:avLst/>
              <a:gdLst/>
              <a:ahLst/>
              <a:cxnLst/>
              <a:rect l="l" t="t" r="r" b="b"/>
              <a:pathLst>
                <a:path w="3667125" h="904875">
                  <a:moveTo>
                    <a:pt x="19050" y="0"/>
                  </a:moveTo>
                  <a:lnTo>
                    <a:pt x="0" y="0"/>
                  </a:lnTo>
                  <a:lnTo>
                    <a:pt x="0" y="904875"/>
                  </a:lnTo>
                  <a:lnTo>
                    <a:pt x="19050" y="895350"/>
                  </a:lnTo>
                  <a:lnTo>
                    <a:pt x="19050" y="0"/>
                  </a:lnTo>
                  <a:close/>
                </a:path>
                <a:path w="3667125" h="904875">
                  <a:moveTo>
                    <a:pt x="3667125" y="0"/>
                  </a:moveTo>
                  <a:lnTo>
                    <a:pt x="3648075" y="0"/>
                  </a:lnTo>
                  <a:lnTo>
                    <a:pt x="3648075" y="895350"/>
                  </a:lnTo>
                  <a:lnTo>
                    <a:pt x="3667125" y="904875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810625" y="3848099"/>
              <a:ext cx="3000375" cy="904875"/>
            </a:xfrm>
            <a:custGeom>
              <a:avLst/>
              <a:gdLst/>
              <a:ahLst/>
              <a:cxnLst/>
              <a:rect l="l" t="t" r="r" b="b"/>
              <a:pathLst>
                <a:path w="3000375" h="904875">
                  <a:moveTo>
                    <a:pt x="3000375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810625" y="4743449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300037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811000" y="3848099"/>
              <a:ext cx="2828925" cy="904875"/>
            </a:xfrm>
            <a:custGeom>
              <a:avLst/>
              <a:gdLst/>
              <a:ahLst/>
              <a:cxnLst/>
              <a:rect l="l" t="t" r="r" b="b"/>
              <a:pathLst>
                <a:path w="2828925" h="904875">
                  <a:moveTo>
                    <a:pt x="2828925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1811000" y="4743449"/>
              <a:ext cx="2828925" cy="9525"/>
            </a:xfrm>
            <a:custGeom>
              <a:avLst/>
              <a:gdLst/>
              <a:ahLst/>
              <a:cxnLst/>
              <a:rect l="l" t="t" r="r" b="b"/>
              <a:pathLst>
                <a:path w="2828925" h="9525">
                  <a:moveTo>
                    <a:pt x="28289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39925" y="3848099"/>
              <a:ext cx="2828925" cy="904875"/>
            </a:xfrm>
            <a:custGeom>
              <a:avLst/>
              <a:gdLst/>
              <a:ahLst/>
              <a:cxnLst/>
              <a:rect l="l" t="t" r="r" b="b"/>
              <a:pathLst>
                <a:path w="2828925" h="904875">
                  <a:moveTo>
                    <a:pt x="2828924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2828924" y="0"/>
                  </a:lnTo>
                  <a:lnTo>
                    <a:pt x="2828924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9150" y="4743449"/>
              <a:ext cx="16649700" cy="904875"/>
            </a:xfrm>
            <a:custGeom>
              <a:avLst/>
              <a:gdLst/>
              <a:ahLst/>
              <a:cxnLst/>
              <a:rect l="l" t="t" r="r" b="b"/>
              <a:pathLst>
                <a:path w="16649700" h="904875">
                  <a:moveTo>
                    <a:pt x="7991475" y="895350"/>
                  </a:moveTo>
                  <a:lnTo>
                    <a:pt x="4324350" y="895350"/>
                  </a:lnTo>
                  <a:lnTo>
                    <a:pt x="0" y="895350"/>
                  </a:lnTo>
                  <a:lnTo>
                    <a:pt x="0" y="904875"/>
                  </a:lnTo>
                  <a:lnTo>
                    <a:pt x="4324350" y="904875"/>
                  </a:lnTo>
                  <a:lnTo>
                    <a:pt x="7991475" y="904875"/>
                  </a:lnTo>
                  <a:lnTo>
                    <a:pt x="7991475" y="895350"/>
                  </a:lnTo>
                  <a:close/>
                </a:path>
                <a:path w="16649700" h="904875">
                  <a:moveTo>
                    <a:pt x="16649700" y="0"/>
                  </a:moveTo>
                  <a:lnTo>
                    <a:pt x="13820775" y="0"/>
                  </a:lnTo>
                  <a:lnTo>
                    <a:pt x="13820775" y="9525"/>
                  </a:lnTo>
                  <a:lnTo>
                    <a:pt x="16649700" y="9525"/>
                  </a:lnTo>
                  <a:lnTo>
                    <a:pt x="16649700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43500" y="4752974"/>
              <a:ext cx="3667125" cy="895350"/>
            </a:xfrm>
            <a:custGeom>
              <a:avLst/>
              <a:gdLst/>
              <a:ahLst/>
              <a:cxnLst/>
              <a:rect l="l" t="t" r="r" b="b"/>
              <a:pathLst>
                <a:path w="3667125" h="895350">
                  <a:moveTo>
                    <a:pt x="19050" y="0"/>
                  </a:moveTo>
                  <a:lnTo>
                    <a:pt x="0" y="0"/>
                  </a:lnTo>
                  <a:lnTo>
                    <a:pt x="0" y="895350"/>
                  </a:lnTo>
                  <a:lnTo>
                    <a:pt x="19050" y="885825"/>
                  </a:lnTo>
                  <a:lnTo>
                    <a:pt x="19050" y="0"/>
                  </a:lnTo>
                  <a:close/>
                </a:path>
                <a:path w="3667125" h="895350">
                  <a:moveTo>
                    <a:pt x="3667125" y="0"/>
                  </a:moveTo>
                  <a:lnTo>
                    <a:pt x="3648075" y="0"/>
                  </a:lnTo>
                  <a:lnTo>
                    <a:pt x="3648075" y="885825"/>
                  </a:lnTo>
                  <a:lnTo>
                    <a:pt x="3667125" y="895350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10625" y="5638799"/>
              <a:ext cx="8658225" cy="9525"/>
            </a:xfrm>
            <a:custGeom>
              <a:avLst/>
              <a:gdLst/>
              <a:ahLst/>
              <a:cxnLst/>
              <a:rect l="l" t="t" r="r" b="b"/>
              <a:pathLst>
                <a:path w="8658225" h="9525">
                  <a:moveTo>
                    <a:pt x="8658225" y="0"/>
                  </a:moveTo>
                  <a:lnTo>
                    <a:pt x="5829300" y="0"/>
                  </a:lnTo>
                  <a:lnTo>
                    <a:pt x="30003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000375" y="9525"/>
                  </a:lnTo>
                  <a:lnTo>
                    <a:pt x="5829300" y="9525"/>
                  </a:lnTo>
                  <a:lnTo>
                    <a:pt x="8658225" y="9525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9150" y="5648324"/>
              <a:ext cx="4324350" cy="904875"/>
            </a:xfrm>
            <a:custGeom>
              <a:avLst/>
              <a:gdLst/>
              <a:ahLst/>
              <a:cxnLst/>
              <a:rect l="l" t="t" r="r" b="b"/>
              <a:pathLst>
                <a:path w="4324350" h="904875">
                  <a:moveTo>
                    <a:pt x="4324350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4324350" y="0"/>
                  </a:lnTo>
                  <a:lnTo>
                    <a:pt x="4324350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9150" y="6543674"/>
              <a:ext cx="7991475" cy="9525"/>
            </a:xfrm>
            <a:custGeom>
              <a:avLst/>
              <a:gdLst/>
              <a:ahLst/>
              <a:cxnLst/>
              <a:rect l="l" t="t" r="r" b="b"/>
              <a:pathLst>
                <a:path w="7991475" h="9525">
                  <a:moveTo>
                    <a:pt x="7991475" y="0"/>
                  </a:moveTo>
                  <a:lnTo>
                    <a:pt x="43243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324350" y="9525"/>
                  </a:lnTo>
                  <a:lnTo>
                    <a:pt x="7991475" y="9525"/>
                  </a:lnTo>
                  <a:lnTo>
                    <a:pt x="7991475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143500" y="5648324"/>
              <a:ext cx="3667125" cy="904875"/>
            </a:xfrm>
            <a:custGeom>
              <a:avLst/>
              <a:gdLst/>
              <a:ahLst/>
              <a:cxnLst/>
              <a:rect l="l" t="t" r="r" b="b"/>
              <a:pathLst>
                <a:path w="3667125" h="904875">
                  <a:moveTo>
                    <a:pt x="19050" y="0"/>
                  </a:moveTo>
                  <a:lnTo>
                    <a:pt x="0" y="0"/>
                  </a:lnTo>
                  <a:lnTo>
                    <a:pt x="0" y="904875"/>
                  </a:lnTo>
                  <a:lnTo>
                    <a:pt x="19050" y="895350"/>
                  </a:lnTo>
                  <a:lnTo>
                    <a:pt x="19050" y="0"/>
                  </a:lnTo>
                  <a:close/>
                </a:path>
                <a:path w="3667125" h="904875">
                  <a:moveTo>
                    <a:pt x="3667125" y="0"/>
                  </a:moveTo>
                  <a:lnTo>
                    <a:pt x="3648075" y="0"/>
                  </a:lnTo>
                  <a:lnTo>
                    <a:pt x="3648075" y="895350"/>
                  </a:lnTo>
                  <a:lnTo>
                    <a:pt x="3667125" y="904875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810625" y="5648324"/>
              <a:ext cx="3000375" cy="904875"/>
            </a:xfrm>
            <a:custGeom>
              <a:avLst/>
              <a:gdLst/>
              <a:ahLst/>
              <a:cxnLst/>
              <a:rect l="l" t="t" r="r" b="b"/>
              <a:pathLst>
                <a:path w="3000375" h="904875">
                  <a:moveTo>
                    <a:pt x="3000375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810625" y="6543674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300037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811000" y="5648324"/>
              <a:ext cx="2828925" cy="904875"/>
            </a:xfrm>
            <a:custGeom>
              <a:avLst/>
              <a:gdLst/>
              <a:ahLst/>
              <a:cxnLst/>
              <a:rect l="l" t="t" r="r" b="b"/>
              <a:pathLst>
                <a:path w="2828925" h="904875">
                  <a:moveTo>
                    <a:pt x="2828925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811000" y="6543674"/>
              <a:ext cx="2828925" cy="9525"/>
            </a:xfrm>
            <a:custGeom>
              <a:avLst/>
              <a:gdLst/>
              <a:ahLst/>
              <a:cxnLst/>
              <a:rect l="l" t="t" r="r" b="b"/>
              <a:pathLst>
                <a:path w="2828925" h="9525">
                  <a:moveTo>
                    <a:pt x="28289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639925" y="5648324"/>
              <a:ext cx="2828925" cy="904875"/>
            </a:xfrm>
            <a:custGeom>
              <a:avLst/>
              <a:gdLst/>
              <a:ahLst/>
              <a:cxnLst/>
              <a:rect l="l" t="t" r="r" b="b"/>
              <a:pathLst>
                <a:path w="2828925" h="904875">
                  <a:moveTo>
                    <a:pt x="2828924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2828924" y="0"/>
                  </a:lnTo>
                  <a:lnTo>
                    <a:pt x="2828924" y="904875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19150" y="6543674"/>
              <a:ext cx="16649700" cy="914400"/>
            </a:xfrm>
            <a:custGeom>
              <a:avLst/>
              <a:gdLst/>
              <a:ahLst/>
              <a:cxnLst/>
              <a:rect l="l" t="t" r="r" b="b"/>
              <a:pathLst>
                <a:path w="16649700" h="914400">
                  <a:moveTo>
                    <a:pt x="7991475" y="904875"/>
                  </a:moveTo>
                  <a:lnTo>
                    <a:pt x="4324350" y="904875"/>
                  </a:lnTo>
                  <a:lnTo>
                    <a:pt x="0" y="904875"/>
                  </a:lnTo>
                  <a:lnTo>
                    <a:pt x="0" y="914400"/>
                  </a:lnTo>
                  <a:lnTo>
                    <a:pt x="4324350" y="914400"/>
                  </a:lnTo>
                  <a:lnTo>
                    <a:pt x="7991475" y="914400"/>
                  </a:lnTo>
                  <a:lnTo>
                    <a:pt x="7991475" y="904875"/>
                  </a:lnTo>
                  <a:close/>
                </a:path>
                <a:path w="16649700" h="914400">
                  <a:moveTo>
                    <a:pt x="16649700" y="0"/>
                  </a:moveTo>
                  <a:lnTo>
                    <a:pt x="13820775" y="0"/>
                  </a:lnTo>
                  <a:lnTo>
                    <a:pt x="13820775" y="9525"/>
                  </a:lnTo>
                  <a:lnTo>
                    <a:pt x="16649700" y="9525"/>
                  </a:lnTo>
                  <a:lnTo>
                    <a:pt x="16649700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43500" y="6553199"/>
              <a:ext cx="3667125" cy="904875"/>
            </a:xfrm>
            <a:custGeom>
              <a:avLst/>
              <a:gdLst/>
              <a:ahLst/>
              <a:cxnLst/>
              <a:rect l="l" t="t" r="r" b="b"/>
              <a:pathLst>
                <a:path w="3667125" h="904875">
                  <a:moveTo>
                    <a:pt x="19050" y="0"/>
                  </a:moveTo>
                  <a:lnTo>
                    <a:pt x="0" y="0"/>
                  </a:lnTo>
                  <a:lnTo>
                    <a:pt x="0" y="904875"/>
                  </a:lnTo>
                  <a:lnTo>
                    <a:pt x="19050" y="895350"/>
                  </a:lnTo>
                  <a:lnTo>
                    <a:pt x="19050" y="0"/>
                  </a:lnTo>
                  <a:close/>
                </a:path>
                <a:path w="3667125" h="904875">
                  <a:moveTo>
                    <a:pt x="3667125" y="0"/>
                  </a:moveTo>
                  <a:lnTo>
                    <a:pt x="3648075" y="0"/>
                  </a:lnTo>
                  <a:lnTo>
                    <a:pt x="3648075" y="895350"/>
                  </a:lnTo>
                  <a:lnTo>
                    <a:pt x="3667125" y="904875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10625" y="7448549"/>
              <a:ext cx="8658225" cy="9525"/>
            </a:xfrm>
            <a:custGeom>
              <a:avLst/>
              <a:gdLst/>
              <a:ahLst/>
              <a:cxnLst/>
              <a:rect l="l" t="t" r="r" b="b"/>
              <a:pathLst>
                <a:path w="8658225" h="9525">
                  <a:moveTo>
                    <a:pt x="8658225" y="0"/>
                  </a:moveTo>
                  <a:lnTo>
                    <a:pt x="5829300" y="0"/>
                  </a:lnTo>
                  <a:lnTo>
                    <a:pt x="3000375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3000375" y="9525"/>
                  </a:lnTo>
                  <a:lnTo>
                    <a:pt x="5829300" y="9525"/>
                  </a:lnTo>
                  <a:lnTo>
                    <a:pt x="8658225" y="9525"/>
                  </a:lnTo>
                  <a:lnTo>
                    <a:pt x="8658225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9150" y="7458074"/>
              <a:ext cx="4324350" cy="933450"/>
            </a:xfrm>
            <a:custGeom>
              <a:avLst/>
              <a:gdLst/>
              <a:ahLst/>
              <a:cxnLst/>
              <a:rect l="l" t="t" r="r" b="b"/>
              <a:pathLst>
                <a:path w="4324350" h="933450">
                  <a:moveTo>
                    <a:pt x="4324350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4324350" y="0"/>
                  </a:lnTo>
                  <a:lnTo>
                    <a:pt x="4324350" y="93345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19150" y="8381999"/>
              <a:ext cx="7991475" cy="9525"/>
            </a:xfrm>
            <a:custGeom>
              <a:avLst/>
              <a:gdLst/>
              <a:ahLst/>
              <a:cxnLst/>
              <a:rect l="l" t="t" r="r" b="b"/>
              <a:pathLst>
                <a:path w="7991475" h="9525">
                  <a:moveTo>
                    <a:pt x="7991475" y="0"/>
                  </a:moveTo>
                  <a:lnTo>
                    <a:pt x="4324350" y="0"/>
                  </a:lnTo>
                  <a:lnTo>
                    <a:pt x="0" y="0"/>
                  </a:lnTo>
                  <a:lnTo>
                    <a:pt x="0" y="9525"/>
                  </a:lnTo>
                  <a:lnTo>
                    <a:pt x="4324350" y="9525"/>
                  </a:lnTo>
                  <a:lnTo>
                    <a:pt x="7991475" y="9525"/>
                  </a:lnTo>
                  <a:lnTo>
                    <a:pt x="7991475" y="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143500" y="7458074"/>
              <a:ext cx="3667125" cy="933450"/>
            </a:xfrm>
            <a:custGeom>
              <a:avLst/>
              <a:gdLst/>
              <a:ahLst/>
              <a:cxnLst/>
              <a:rect l="l" t="t" r="r" b="b"/>
              <a:pathLst>
                <a:path w="3667125" h="933450">
                  <a:moveTo>
                    <a:pt x="19050" y="0"/>
                  </a:moveTo>
                  <a:lnTo>
                    <a:pt x="0" y="0"/>
                  </a:lnTo>
                  <a:lnTo>
                    <a:pt x="0" y="933450"/>
                  </a:lnTo>
                  <a:lnTo>
                    <a:pt x="19050" y="923925"/>
                  </a:lnTo>
                  <a:lnTo>
                    <a:pt x="19050" y="0"/>
                  </a:lnTo>
                  <a:close/>
                </a:path>
                <a:path w="3667125" h="933450">
                  <a:moveTo>
                    <a:pt x="3667125" y="0"/>
                  </a:moveTo>
                  <a:lnTo>
                    <a:pt x="3648075" y="0"/>
                  </a:lnTo>
                  <a:lnTo>
                    <a:pt x="3648075" y="923925"/>
                  </a:lnTo>
                  <a:lnTo>
                    <a:pt x="3667125" y="933450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810625" y="7458074"/>
              <a:ext cx="3000375" cy="933450"/>
            </a:xfrm>
            <a:custGeom>
              <a:avLst/>
              <a:gdLst/>
              <a:ahLst/>
              <a:cxnLst/>
              <a:rect l="l" t="t" r="r" b="b"/>
              <a:pathLst>
                <a:path w="3000375" h="933450">
                  <a:moveTo>
                    <a:pt x="300037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3345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10625" y="8381999"/>
              <a:ext cx="3000375" cy="9525"/>
            </a:xfrm>
            <a:custGeom>
              <a:avLst/>
              <a:gdLst/>
              <a:ahLst/>
              <a:cxnLst/>
              <a:rect l="l" t="t" r="r" b="b"/>
              <a:pathLst>
                <a:path w="3000375" h="9525">
                  <a:moveTo>
                    <a:pt x="300037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3000375" y="0"/>
                  </a:lnTo>
                  <a:lnTo>
                    <a:pt x="300037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811000" y="7458074"/>
              <a:ext cx="2828925" cy="933450"/>
            </a:xfrm>
            <a:custGeom>
              <a:avLst/>
              <a:gdLst/>
              <a:ahLst/>
              <a:cxnLst/>
              <a:rect l="l" t="t" r="r" b="b"/>
              <a:pathLst>
                <a:path w="2828925" h="933450">
                  <a:moveTo>
                    <a:pt x="2828925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3345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811000" y="8381999"/>
              <a:ext cx="2828925" cy="9525"/>
            </a:xfrm>
            <a:custGeom>
              <a:avLst/>
              <a:gdLst/>
              <a:ahLst/>
              <a:cxnLst/>
              <a:rect l="l" t="t" r="r" b="b"/>
              <a:pathLst>
                <a:path w="2828925" h="9525">
                  <a:moveTo>
                    <a:pt x="2828925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28925" y="0"/>
                  </a:lnTo>
                  <a:lnTo>
                    <a:pt x="2828925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4639925" y="7458074"/>
              <a:ext cx="2828925" cy="933450"/>
            </a:xfrm>
            <a:custGeom>
              <a:avLst/>
              <a:gdLst/>
              <a:ahLst/>
              <a:cxnLst/>
              <a:rect l="l" t="t" r="r" b="b"/>
              <a:pathLst>
                <a:path w="2828925" h="933450">
                  <a:moveTo>
                    <a:pt x="2828924" y="933450"/>
                  </a:moveTo>
                  <a:lnTo>
                    <a:pt x="0" y="933450"/>
                  </a:lnTo>
                  <a:lnTo>
                    <a:pt x="0" y="0"/>
                  </a:lnTo>
                  <a:lnTo>
                    <a:pt x="2828924" y="0"/>
                  </a:lnTo>
                  <a:lnTo>
                    <a:pt x="2828924" y="93345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639925" y="8381999"/>
              <a:ext cx="2828925" cy="9525"/>
            </a:xfrm>
            <a:custGeom>
              <a:avLst/>
              <a:gdLst/>
              <a:ahLst/>
              <a:cxnLst/>
              <a:rect l="l" t="t" r="r" b="b"/>
              <a:pathLst>
                <a:path w="2828925" h="9525">
                  <a:moveTo>
                    <a:pt x="2828924" y="9525"/>
                  </a:moveTo>
                  <a:lnTo>
                    <a:pt x="0" y="9525"/>
                  </a:lnTo>
                  <a:lnTo>
                    <a:pt x="0" y="0"/>
                  </a:lnTo>
                  <a:lnTo>
                    <a:pt x="2828924" y="0"/>
                  </a:lnTo>
                  <a:lnTo>
                    <a:pt x="2828924" y="9525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143500" y="8391524"/>
              <a:ext cx="3667125" cy="952500"/>
            </a:xfrm>
            <a:custGeom>
              <a:avLst/>
              <a:gdLst/>
              <a:ahLst/>
              <a:cxnLst/>
              <a:rect l="l" t="t" r="r" b="b"/>
              <a:pathLst>
                <a:path w="3667125" h="952500">
                  <a:moveTo>
                    <a:pt x="3667125" y="952499"/>
                  </a:moveTo>
                  <a:lnTo>
                    <a:pt x="0" y="952499"/>
                  </a:lnTo>
                  <a:lnTo>
                    <a:pt x="0" y="0"/>
                  </a:lnTo>
                  <a:lnTo>
                    <a:pt x="3667125" y="0"/>
                  </a:lnTo>
                  <a:lnTo>
                    <a:pt x="3667125" y="952499"/>
                  </a:lnTo>
                  <a:close/>
                </a:path>
              </a:pathLst>
            </a:custGeom>
            <a:solidFill>
              <a:srgbClr val="EFF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143500" y="8391524"/>
              <a:ext cx="3667125" cy="952500"/>
            </a:xfrm>
            <a:custGeom>
              <a:avLst/>
              <a:gdLst/>
              <a:ahLst/>
              <a:cxnLst/>
              <a:rect l="l" t="t" r="r" b="b"/>
              <a:pathLst>
                <a:path w="3667125" h="952500">
                  <a:moveTo>
                    <a:pt x="19050" y="0"/>
                  </a:moveTo>
                  <a:lnTo>
                    <a:pt x="0" y="0"/>
                  </a:lnTo>
                  <a:lnTo>
                    <a:pt x="0" y="952500"/>
                  </a:lnTo>
                  <a:lnTo>
                    <a:pt x="19050" y="952500"/>
                  </a:lnTo>
                  <a:lnTo>
                    <a:pt x="19050" y="0"/>
                  </a:lnTo>
                  <a:close/>
                </a:path>
                <a:path w="3667125" h="952500">
                  <a:moveTo>
                    <a:pt x="3667125" y="0"/>
                  </a:moveTo>
                  <a:lnTo>
                    <a:pt x="3648075" y="0"/>
                  </a:lnTo>
                  <a:lnTo>
                    <a:pt x="3648075" y="952500"/>
                  </a:lnTo>
                  <a:lnTo>
                    <a:pt x="3667125" y="952500"/>
                  </a:lnTo>
                  <a:lnTo>
                    <a:pt x="3667125" y="0"/>
                  </a:lnTo>
                  <a:close/>
                </a:path>
              </a:pathLst>
            </a:custGeom>
            <a:solidFill>
              <a:srgbClr val="B9E6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96950" y="2224364"/>
            <a:ext cx="2061845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Parâmetro de Comparação</a:t>
            </a:r>
            <a:endParaRPr sz="12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192702" y="2222915"/>
            <a:ext cx="3621237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VS GOLD COMFORT IA</a:t>
            </a:r>
            <a:r>
              <a:rPr lang="pt-BR" sz="1250" b="1" dirty="0">
                <a:solidFill>
                  <a:srgbClr val="FFFFFF"/>
                </a:solidFill>
                <a:latin typeface="Arial"/>
                <a:cs typeface="Arial"/>
              </a:rPr>
              <a:t> / VS GOLD COMFORT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988576" y="2224364"/>
            <a:ext cx="2095709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Essilor Eyezen Boost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985380" y="2224364"/>
            <a:ext cx="1028065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Hoya Sync III</a:t>
            </a:r>
            <a:endParaRPr sz="12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815791" y="2224364"/>
            <a:ext cx="1751964" cy="20967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dirty="0">
                <a:solidFill>
                  <a:srgbClr val="FFFFFF"/>
                </a:solidFill>
                <a:latin typeface="Arial"/>
                <a:cs typeface="Arial"/>
              </a:rPr>
              <a:t>Zeiss SmartLife Digital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996950" y="3098274"/>
            <a:ext cx="2399378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Motor de Cálculo Óptico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357517" y="3027173"/>
            <a:ext cx="3100683" cy="566821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R="5080">
              <a:lnSpc>
                <a:spcPts val="1430"/>
              </a:lnSpc>
              <a:spcBef>
                <a:spcPts val="219"/>
              </a:spcBef>
            </a:pP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Algoritmo Preditivo por IA (</a:t>
            </a:r>
            <a:r>
              <a:rPr sz="1250" b="1" dirty="0" err="1">
                <a:solidFill>
                  <a:srgbClr val="0369A0"/>
                </a:solidFill>
                <a:latin typeface="Arial"/>
                <a:cs typeface="Arial"/>
              </a:rPr>
              <a:t>Malha</a:t>
            </a: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 Ultra-D</a:t>
            </a:r>
            <a:r>
              <a:rPr lang="pt-BR" sz="1250" b="1" dirty="0">
                <a:solidFill>
                  <a:srgbClr val="0369A0"/>
                </a:solidFill>
                <a:latin typeface="Arial"/>
                <a:cs typeface="Arial"/>
              </a:rPr>
              <a:t>Suave</a:t>
            </a: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)</a:t>
            </a:r>
            <a:r>
              <a:rPr lang="pt-BR" sz="1250" b="1" dirty="0">
                <a:solidFill>
                  <a:srgbClr val="0369A0"/>
                </a:solidFill>
                <a:latin typeface="Arial"/>
                <a:cs typeface="Arial"/>
              </a:rPr>
              <a:t> e o melhor da tecnologia FreeForm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988576" y="3098437"/>
            <a:ext cx="1807204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Eyezen Focus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985380" y="3098438"/>
            <a:ext cx="1919366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Binocular Eye Model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4815791" y="3098438"/>
            <a:ext cx="1751964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SmartView 2.0 / IA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6949" y="4165074"/>
            <a:ext cx="2828613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Opções de Potência de Alívio</a:t>
            </a:r>
            <a:endParaRPr sz="1350" dirty="0">
              <a:latin typeface="Century Gothic"/>
              <a:cs typeface="Century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57517" y="4179697"/>
            <a:ext cx="2879854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250" b="1" dirty="0">
                <a:solidFill>
                  <a:srgbClr val="0284C6"/>
                </a:solidFill>
                <a:latin typeface="Arial"/>
                <a:cs typeface="Arial"/>
              </a:rPr>
              <a:t>5 Opções </a:t>
            </a: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(0.40, 0.60, 0.80, 1.00, 1.25)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88576" y="4165238"/>
            <a:ext cx="2564340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4 Opções (0.40, 0.60, 0.85, 1.10)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985380" y="4165238"/>
            <a:ext cx="1919366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3 Opções (Sync 5, 9, 13)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4815790" y="4165238"/>
            <a:ext cx="2653059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4 Opções (0.50, 0.75, 1.00, 1.25)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96950" y="5069949"/>
            <a:ext cx="3374912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Controle de Astigmatismo Oblíquo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62550" y="4752975"/>
            <a:ext cx="3629025" cy="556563"/>
          </a:xfrm>
          <a:prstGeom prst="rect">
            <a:avLst/>
          </a:prstGeom>
          <a:solidFill>
            <a:srgbClr val="EFF9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Otimização Ativa Ponto a Ponto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988576" y="5070113"/>
            <a:ext cx="965200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Otimizada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985380" y="5070113"/>
            <a:ext cx="892420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Otimizada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815790" y="5070113"/>
            <a:ext cx="1503045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Individualizada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96949" y="5974824"/>
            <a:ext cx="2554597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Disponibilidade de Índices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162550" y="5648325"/>
            <a:ext cx="3629025" cy="569387"/>
          </a:xfrm>
          <a:prstGeom prst="rect">
            <a:avLst/>
          </a:prstGeom>
          <a:solidFill>
            <a:srgbClr val="F8F9F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10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1.50, 1.56, 1.59 (Poly), 1.61, 1.67, 1.74</a:t>
            </a:r>
            <a:endParaRPr sz="12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988576" y="5974988"/>
            <a:ext cx="2498574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1.50, Airwear (Poly), 1.67, 1.74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1985380" y="5974988"/>
            <a:ext cx="1919366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1.50, Trivex, 1.60, 1.67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4815791" y="5974988"/>
            <a:ext cx="2329209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1.50, Poly, 1.60, 1.67, 1.74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96950" y="6870174"/>
            <a:ext cx="2697675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Tratamentos Fotossensíveis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162550" y="6553200"/>
            <a:ext cx="3629025" cy="556563"/>
          </a:xfrm>
          <a:prstGeom prst="rect">
            <a:avLst/>
          </a:prstGeom>
          <a:solidFill>
            <a:srgbClr val="EFF9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0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Transitions Gen S, XTRActive 2.0, Photo</a:t>
            </a:r>
            <a:endParaRPr sz="12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988576" y="6870338"/>
            <a:ext cx="1688949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Transitions Gen S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1985380" y="6870338"/>
            <a:ext cx="1919366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Sensity Fast / Shine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815791" y="6870338"/>
            <a:ext cx="1503044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PhotoFusion X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996950" y="7794099"/>
            <a:ext cx="2956950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Faixa de Preço ao Consumidor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162550" y="7458075"/>
            <a:ext cx="3629025" cy="573875"/>
          </a:xfrm>
          <a:prstGeom prst="rect">
            <a:avLst/>
          </a:prstGeom>
          <a:solidFill>
            <a:srgbClr val="F8F9FB"/>
          </a:solidFill>
        </p:spPr>
        <p:txBody>
          <a:bodyPr vert="horz" wrap="square" lIns="0" tIns="1644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95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194945">
              <a:lnSpc>
                <a:spcPct val="100000"/>
              </a:lnSpc>
            </a:pPr>
            <a:r>
              <a:rPr sz="1450" b="1" dirty="0">
                <a:solidFill>
                  <a:srgbClr val="0284C6"/>
                </a:solidFill>
                <a:latin typeface="Trebuchet MS"/>
                <a:cs typeface="Trebuchet MS"/>
              </a:rPr>
              <a:t>R</a:t>
            </a:r>
            <a:r>
              <a:rPr lang="pt-BR" sz="1450" b="1" dirty="0">
                <a:solidFill>
                  <a:srgbClr val="0284C6"/>
                </a:solidFill>
                <a:latin typeface="Trebuchet MS"/>
                <a:cs typeface="Trebuchet MS"/>
              </a:rPr>
              <a:t>$ 900,00 </a:t>
            </a: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(</a:t>
            </a:r>
            <a:r>
              <a:rPr lang="pt-BR" sz="1250" b="1" dirty="0">
                <a:solidFill>
                  <a:srgbClr val="0369A0"/>
                </a:solidFill>
                <a:latin typeface="Arial"/>
                <a:cs typeface="Arial"/>
              </a:rPr>
              <a:t>A partir de</a:t>
            </a:r>
            <a:r>
              <a:rPr sz="1250" b="1" dirty="0">
                <a:solidFill>
                  <a:srgbClr val="0369A0"/>
                </a:solidFill>
                <a:latin typeface="Arial"/>
                <a:cs typeface="Arial"/>
              </a:rPr>
              <a:t>)</a:t>
            </a:r>
            <a:endParaRPr sz="1250" dirty="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988576" y="7794263"/>
            <a:ext cx="1807204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R$ 1.299 a R$ 2.500+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985380" y="7794263"/>
            <a:ext cx="1810775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R$ 1.499 a R$ 2.800+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4815791" y="7794263"/>
            <a:ext cx="1948209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334154"/>
                </a:solidFill>
                <a:latin typeface="Arial"/>
                <a:cs typeface="Arial"/>
              </a:rPr>
              <a:t>R$ 1.800 a R$ 3.500+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96949" y="8737074"/>
            <a:ext cx="1892101" cy="224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b="1" dirty="0">
                <a:solidFill>
                  <a:srgbClr val="334154"/>
                </a:solidFill>
                <a:latin typeface="Century Gothic"/>
                <a:cs typeface="Century Gothic"/>
              </a:rPr>
              <a:t>Veredito Comercial</a:t>
            </a:r>
            <a:endParaRPr sz="1350">
              <a:latin typeface="Century Gothic"/>
              <a:cs typeface="Century Gothic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5353050" y="8753478"/>
            <a:ext cx="1924050" cy="219075"/>
          </a:xfrm>
          <a:custGeom>
            <a:avLst/>
            <a:gdLst/>
            <a:ahLst/>
            <a:cxnLst/>
            <a:rect l="l" t="t" r="r" b="b"/>
            <a:pathLst>
              <a:path w="1924050" h="219075">
                <a:moveTo>
                  <a:pt x="1870652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1870652" y="0"/>
                </a:lnTo>
                <a:lnTo>
                  <a:pt x="1909962" y="19383"/>
                </a:lnTo>
                <a:lnTo>
                  <a:pt x="1924050" y="53397"/>
                </a:lnTo>
                <a:lnTo>
                  <a:pt x="1924050" y="165677"/>
                </a:lnTo>
                <a:lnTo>
                  <a:pt x="1904657" y="204987"/>
                </a:lnTo>
                <a:lnTo>
                  <a:pt x="1874367" y="218703"/>
                </a:lnTo>
                <a:lnTo>
                  <a:pt x="1870652" y="219075"/>
                </a:lnTo>
                <a:close/>
              </a:path>
            </a:pathLst>
          </a:custGeom>
          <a:solidFill>
            <a:srgbClr val="DCF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5136767" y="8765095"/>
            <a:ext cx="362902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14803C"/>
                </a:solidFill>
                <a:latin typeface="Century Gothic"/>
                <a:cs typeface="Century Gothic"/>
              </a:rPr>
              <a:t>A ESCOLHA MAIS INTELIGENTE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9001125" y="8753478"/>
            <a:ext cx="1676400" cy="219075"/>
          </a:xfrm>
          <a:custGeom>
            <a:avLst/>
            <a:gdLst/>
            <a:ahLst/>
            <a:cxnLst/>
            <a:rect l="l" t="t" r="r" b="b"/>
            <a:pathLst>
              <a:path w="1676400" h="219075">
                <a:moveTo>
                  <a:pt x="1623002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1623002" y="0"/>
                </a:lnTo>
                <a:lnTo>
                  <a:pt x="1662312" y="19383"/>
                </a:lnTo>
                <a:lnTo>
                  <a:pt x="1676400" y="53397"/>
                </a:lnTo>
                <a:lnTo>
                  <a:pt x="1676400" y="165677"/>
                </a:lnTo>
                <a:lnTo>
                  <a:pt x="1657007" y="204987"/>
                </a:lnTo>
                <a:lnTo>
                  <a:pt x="1626717" y="218703"/>
                </a:lnTo>
                <a:lnTo>
                  <a:pt x="1623002" y="219075"/>
                </a:lnTo>
                <a:close/>
              </a:path>
            </a:pathLst>
          </a:custGeom>
          <a:solidFill>
            <a:srgbClr val="DF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9038168" y="8765095"/>
            <a:ext cx="164609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0369A0"/>
                </a:solidFill>
                <a:latin typeface="Century Gothic"/>
                <a:cs typeface="Century Gothic"/>
              </a:rPr>
              <a:t>MARCA DE MASSA / CARA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12001500" y="8753478"/>
            <a:ext cx="1209675" cy="219075"/>
          </a:xfrm>
          <a:custGeom>
            <a:avLst/>
            <a:gdLst/>
            <a:ahLst/>
            <a:cxnLst/>
            <a:rect l="l" t="t" r="r" b="b"/>
            <a:pathLst>
              <a:path w="1209675" h="219075">
                <a:moveTo>
                  <a:pt x="1156277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1156277" y="0"/>
                </a:lnTo>
                <a:lnTo>
                  <a:pt x="1195587" y="19383"/>
                </a:lnTo>
                <a:lnTo>
                  <a:pt x="1209675" y="53397"/>
                </a:lnTo>
                <a:lnTo>
                  <a:pt x="1209675" y="165677"/>
                </a:lnTo>
                <a:lnTo>
                  <a:pt x="1190282" y="204987"/>
                </a:lnTo>
                <a:lnTo>
                  <a:pt x="1159992" y="218703"/>
                </a:lnTo>
                <a:lnTo>
                  <a:pt x="1156277" y="219075"/>
                </a:lnTo>
                <a:close/>
              </a:path>
            </a:pathLst>
          </a:custGeom>
          <a:solidFill>
            <a:srgbClr val="F3E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12037026" y="8765095"/>
            <a:ext cx="1130550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7D21CE"/>
                </a:solidFill>
                <a:latin typeface="Century Gothic"/>
                <a:cs typeface="Century Gothic"/>
              </a:rPr>
              <a:t>MARCA DE NICHO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4870731" y="8753478"/>
            <a:ext cx="1371600" cy="219075"/>
          </a:xfrm>
          <a:custGeom>
            <a:avLst/>
            <a:gdLst/>
            <a:ahLst/>
            <a:cxnLst/>
            <a:rect l="l" t="t" r="r" b="b"/>
            <a:pathLst>
              <a:path w="1371600" h="219075">
                <a:moveTo>
                  <a:pt x="1318202" y="219075"/>
                </a:moveTo>
                <a:lnTo>
                  <a:pt x="53397" y="219075"/>
                </a:lnTo>
                <a:lnTo>
                  <a:pt x="49682" y="218703"/>
                </a:lnTo>
                <a:lnTo>
                  <a:pt x="14087" y="199682"/>
                </a:lnTo>
                <a:lnTo>
                  <a:pt x="0" y="165677"/>
                </a:lnTo>
                <a:lnTo>
                  <a:pt x="0" y="161925"/>
                </a:lnTo>
                <a:lnTo>
                  <a:pt x="0" y="53397"/>
                </a:lnTo>
                <a:lnTo>
                  <a:pt x="19392" y="14087"/>
                </a:lnTo>
                <a:lnTo>
                  <a:pt x="53397" y="0"/>
                </a:lnTo>
                <a:lnTo>
                  <a:pt x="1318202" y="0"/>
                </a:lnTo>
                <a:lnTo>
                  <a:pt x="1357512" y="19383"/>
                </a:lnTo>
                <a:lnTo>
                  <a:pt x="1371600" y="53397"/>
                </a:lnTo>
                <a:lnTo>
                  <a:pt x="1371600" y="165677"/>
                </a:lnTo>
                <a:lnTo>
                  <a:pt x="1352207" y="204987"/>
                </a:lnTo>
                <a:lnTo>
                  <a:pt x="1321917" y="218703"/>
                </a:lnTo>
                <a:lnTo>
                  <a:pt x="1318202" y="219075"/>
                </a:lnTo>
                <a:close/>
              </a:path>
            </a:pathLst>
          </a:custGeom>
          <a:solidFill>
            <a:srgbClr val="FD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4911039" y="8765095"/>
            <a:ext cx="1290985" cy="1673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dirty="0">
                <a:solidFill>
                  <a:srgbClr val="B81C1C"/>
                </a:solidFill>
                <a:latin typeface="Century Gothic"/>
                <a:cs typeface="Century Gothic"/>
              </a:rPr>
              <a:t>GRIFE / ALTO CUSTO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796924" y="9491251"/>
            <a:ext cx="2599403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4 • Matriz Concorrencial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99" name="object 3">
            <a:extLst>
              <a:ext uri="{FF2B5EF4-FFF2-40B4-BE49-F238E27FC236}">
                <a16:creationId xmlns:a16="http://schemas.microsoft.com/office/drawing/2014/main" id="{C21A29D8-2E1D-4FF1-A4D9-6C41A6775B6F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100" name="object 4">
              <a:extLst>
                <a:ext uri="{FF2B5EF4-FFF2-40B4-BE49-F238E27FC236}">
                  <a16:creationId xmlns:a16="http://schemas.microsoft.com/office/drawing/2014/main" id="{71BBBB20-7A4C-4E3E-AB28-8FB47861C65F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r>
                <a:rPr lang="pt-BR" dirty="0"/>
                <a:t>0</a:t>
              </a:r>
              <a:endParaRPr dirty="0"/>
            </a:p>
          </p:txBody>
        </p:sp>
        <p:sp>
          <p:nvSpPr>
            <p:cNvPr id="101" name="object 5">
              <a:extLst>
                <a:ext uri="{FF2B5EF4-FFF2-40B4-BE49-F238E27FC236}">
                  <a16:creationId xmlns:a16="http://schemas.microsoft.com/office/drawing/2014/main" id="{88A155D7-C019-4FD2-96A0-32E9E2CC671A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6">
            <a:extLst>
              <a:ext uri="{FF2B5EF4-FFF2-40B4-BE49-F238E27FC236}">
                <a16:creationId xmlns:a16="http://schemas.microsoft.com/office/drawing/2014/main" id="{301A64E5-5050-4906-A28F-D492939DF6BB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457450" cy="266700"/>
          </a:xfrm>
          <a:custGeom>
            <a:avLst/>
            <a:gdLst/>
            <a:ahLst/>
            <a:cxnLst/>
            <a:rect l="l" t="t" r="r" b="b"/>
            <a:pathLst>
              <a:path w="2457450" h="266700">
                <a:moveTo>
                  <a:pt x="2324100" y="266700"/>
                </a:moveTo>
                <a:lnTo>
                  <a:pt x="133350" y="266700"/>
                </a:lnTo>
                <a:lnTo>
                  <a:pt x="126799" y="266539"/>
                </a:lnTo>
                <a:lnTo>
                  <a:pt x="88432" y="258901"/>
                </a:lnTo>
                <a:lnTo>
                  <a:pt x="53908" y="240452"/>
                </a:lnTo>
                <a:lnTo>
                  <a:pt x="26243" y="212784"/>
                </a:lnTo>
                <a:lnTo>
                  <a:pt x="7792" y="178263"/>
                </a:lnTo>
                <a:lnTo>
                  <a:pt x="160" y="139900"/>
                </a:lnTo>
                <a:lnTo>
                  <a:pt x="0" y="133350"/>
                </a:lnTo>
                <a:lnTo>
                  <a:pt x="160" y="126793"/>
                </a:lnTo>
                <a:lnTo>
                  <a:pt x="7792" y="88418"/>
                </a:lnTo>
                <a:lnTo>
                  <a:pt x="26243" y="53893"/>
                </a:lnTo>
                <a:lnTo>
                  <a:pt x="53908" y="26235"/>
                </a:lnTo>
                <a:lnTo>
                  <a:pt x="88432" y="7784"/>
                </a:lnTo>
                <a:lnTo>
                  <a:pt x="126799" y="160"/>
                </a:lnTo>
                <a:lnTo>
                  <a:pt x="133350" y="0"/>
                </a:lnTo>
                <a:lnTo>
                  <a:pt x="2324100" y="0"/>
                </a:lnTo>
                <a:lnTo>
                  <a:pt x="2362809" y="5736"/>
                </a:lnTo>
                <a:lnTo>
                  <a:pt x="2398185" y="22450"/>
                </a:lnTo>
                <a:lnTo>
                  <a:pt x="2427180" y="48739"/>
                </a:lnTo>
                <a:lnTo>
                  <a:pt x="2447296" y="82315"/>
                </a:lnTo>
                <a:lnTo>
                  <a:pt x="2456808" y="120270"/>
                </a:lnTo>
                <a:lnTo>
                  <a:pt x="2457450" y="133350"/>
                </a:lnTo>
                <a:lnTo>
                  <a:pt x="2457289" y="139900"/>
                </a:lnTo>
                <a:lnTo>
                  <a:pt x="2449657" y="178263"/>
                </a:lnTo>
                <a:lnTo>
                  <a:pt x="2431205" y="212788"/>
                </a:lnTo>
                <a:lnTo>
                  <a:pt x="2403541" y="240452"/>
                </a:lnTo>
                <a:lnTo>
                  <a:pt x="2369017" y="258901"/>
                </a:lnTo>
                <a:lnTo>
                  <a:pt x="2330650" y="266539"/>
                </a:lnTo>
                <a:lnTo>
                  <a:pt x="232410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17297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2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4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:</a:t>
            </a:r>
            <a:r>
              <a:rPr sz="1100" b="1" spc="6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PSI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0" dirty="0">
                <a:solidFill>
                  <a:srgbClr val="0284C6"/>
                </a:solidFill>
                <a:latin typeface="Century Gothic"/>
                <a:cs typeface="Century Gothic"/>
              </a:rPr>
              <a:t>COLOG</a:t>
            </a:r>
            <a:r>
              <a:rPr sz="1100" b="1" spc="-17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30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100" b="1" spc="3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5" dirty="0">
                <a:solidFill>
                  <a:srgbClr val="0284C6"/>
                </a:solidFill>
                <a:latin typeface="Century Gothic"/>
                <a:cs typeface="Century Gothic"/>
              </a:rPr>
              <a:t>ÇO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4" y="768592"/>
            <a:ext cx="135286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A Equação Financeira para o Consumidor (O Sweet Spot)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posicionar o investimento no valor parcelado por dia e anular o preço da concorrência.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3149" y="2328289"/>
            <a:ext cx="2605715" cy="57259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b="1" dirty="0">
                <a:solidFill>
                  <a:srgbClr val="63748A"/>
                </a:solidFill>
                <a:latin typeface="Century Gothic"/>
                <a:cs typeface="Century Gothic"/>
              </a:rPr>
              <a:t>ZONA ECONÔMICA BÁSICA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900" b="1" dirty="0">
                <a:solidFill>
                  <a:srgbClr val="465469"/>
                </a:solidFill>
                <a:latin typeface="Tahoma"/>
                <a:cs typeface="Tahoma"/>
              </a:rPr>
              <a:t>Lentes Prontas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3150" y="2705100"/>
            <a:ext cx="4618990" cy="14458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Gotham Book" panose="02000604040000020004" pitchFamily="50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334154"/>
                </a:solidFill>
                <a:latin typeface="Gotham Book" panose="02000604040000020004" pitchFamily="50" charset="0"/>
                <a:cs typeface="Century Gothic"/>
              </a:rPr>
              <a:t>R$ 150 </a:t>
            </a:r>
            <a:r>
              <a:rPr sz="1600" dirty="0">
                <a:solidFill>
                  <a:srgbClr val="93A2B8"/>
                </a:solidFill>
                <a:latin typeface="Gotham Book" panose="02000604040000020004" pitchFamily="50" charset="0"/>
                <a:cs typeface="Arial"/>
              </a:rPr>
              <a:t>a R$ 350</a:t>
            </a:r>
            <a:endParaRPr sz="1600" dirty="0">
              <a:latin typeface="Gotham Book" panose="02000604040000020004" pitchFamily="50" charset="0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570"/>
              </a:spcBef>
            </a:pPr>
            <a:r>
              <a:rPr sz="1350" dirty="0">
                <a:solidFill>
                  <a:srgbClr val="63748A"/>
                </a:solidFill>
                <a:latin typeface="Gotham Book" panose="02000604040000020004" pitchFamily="50" charset="0"/>
                <a:cs typeface="Arial"/>
              </a:rPr>
              <a:t>Investimento baixo, porém sem nenhuma proteção visual. O cliente economiza na compra e gasta em analgésicos e colírios no mês seguinte.</a:t>
            </a:r>
            <a:endParaRPr sz="135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85850" y="8601078"/>
            <a:ext cx="4848225" cy="476250"/>
          </a:xfrm>
          <a:custGeom>
            <a:avLst/>
            <a:gdLst/>
            <a:ahLst/>
            <a:cxnLst/>
            <a:rect l="l" t="t" r="r" b="b"/>
            <a:pathLst>
              <a:path w="4848225" h="476250">
                <a:moveTo>
                  <a:pt x="4759232" y="476240"/>
                </a:moveTo>
                <a:lnTo>
                  <a:pt x="88992" y="476240"/>
                </a:lnTo>
                <a:lnTo>
                  <a:pt x="82800" y="475630"/>
                </a:lnTo>
                <a:lnTo>
                  <a:pt x="37128" y="456714"/>
                </a:lnTo>
                <a:lnTo>
                  <a:pt x="9639" y="423214"/>
                </a:lnTo>
                <a:lnTo>
                  <a:pt x="0" y="387238"/>
                </a:lnTo>
                <a:lnTo>
                  <a:pt x="0" y="380999"/>
                </a:lnTo>
                <a:lnTo>
                  <a:pt x="0" y="88992"/>
                </a:lnTo>
                <a:lnTo>
                  <a:pt x="12573" y="47520"/>
                </a:lnTo>
                <a:lnTo>
                  <a:pt x="47529" y="12563"/>
                </a:lnTo>
                <a:lnTo>
                  <a:pt x="88992" y="0"/>
                </a:lnTo>
                <a:lnTo>
                  <a:pt x="4759232" y="0"/>
                </a:lnTo>
                <a:lnTo>
                  <a:pt x="4800695" y="12563"/>
                </a:lnTo>
                <a:lnTo>
                  <a:pt x="4835642" y="47520"/>
                </a:lnTo>
                <a:lnTo>
                  <a:pt x="4848225" y="88992"/>
                </a:lnTo>
                <a:lnTo>
                  <a:pt x="4848225" y="387238"/>
                </a:lnTo>
                <a:lnTo>
                  <a:pt x="4835642" y="428701"/>
                </a:lnTo>
                <a:lnTo>
                  <a:pt x="4800695" y="463657"/>
                </a:lnTo>
                <a:lnTo>
                  <a:pt x="4765424" y="475630"/>
                </a:lnTo>
                <a:lnTo>
                  <a:pt x="4759232" y="476240"/>
                </a:lnTo>
                <a:close/>
              </a:path>
            </a:pathLst>
          </a:custGeom>
          <a:solidFill>
            <a:srgbClr val="F0F5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63580" y="8631273"/>
            <a:ext cx="423813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465469"/>
                </a:solidFill>
                <a:latin typeface="Gotham Book" panose="02000604040000020004" pitchFamily="50" charset="0"/>
                <a:cs typeface="Century Gothic"/>
              </a:rPr>
              <a:t>Percepção do Cliente: "Comprei o básico de balcão."</a:t>
            </a:r>
            <a:endParaRPr sz="1400" dirty="0">
              <a:latin typeface="Gotham Book" panose="02000604040000020004" pitchFamily="50" charset="0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44350" y="2328289"/>
            <a:ext cx="2667050" cy="57259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b="1" dirty="0">
                <a:solidFill>
                  <a:srgbClr val="6266F0"/>
                </a:solidFill>
                <a:latin typeface="Century Gothic"/>
                <a:cs typeface="Century Gothic"/>
              </a:rPr>
              <a:t>ZONA DE SOBREPREÇO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900" b="1" dirty="0">
                <a:solidFill>
                  <a:srgbClr val="4338C9"/>
                </a:solidFill>
                <a:latin typeface="Tahoma"/>
                <a:cs typeface="Tahoma"/>
              </a:rPr>
              <a:t>Marcas de Grife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44350" y="2705100"/>
            <a:ext cx="4727575" cy="145732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Gotham Book" panose="02000604040000020004" pitchFamily="50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dirty="0">
                <a:solidFill>
                  <a:srgbClr val="372FA2"/>
                </a:solidFill>
                <a:latin typeface="Gotham Book" panose="02000604040000020004" pitchFamily="50" charset="0"/>
                <a:cs typeface="Century Gothic"/>
              </a:rPr>
              <a:t>R$ 1.300 </a:t>
            </a:r>
            <a:r>
              <a:rPr sz="1600" dirty="0">
                <a:solidFill>
                  <a:srgbClr val="93A2B8"/>
                </a:solidFill>
                <a:latin typeface="Gotham Book" panose="02000604040000020004" pitchFamily="50" charset="0"/>
                <a:cs typeface="Arial"/>
              </a:rPr>
              <a:t>a R$ 2.800+</a:t>
            </a:r>
            <a:endParaRPr sz="1600">
              <a:latin typeface="Gotham Book" panose="02000604040000020004" pitchFamily="50" charset="0"/>
              <a:cs typeface="Arial"/>
            </a:endParaRPr>
          </a:p>
          <a:p>
            <a:pPr marL="12700" marR="5080">
              <a:lnSpc>
                <a:spcPct val="111100"/>
              </a:lnSpc>
              <a:spcBef>
                <a:spcPts val="570"/>
              </a:spcBef>
            </a:pPr>
            <a:r>
              <a:rPr sz="1350" dirty="0">
                <a:solidFill>
                  <a:srgbClr val="63748A"/>
                </a:solidFill>
                <a:latin typeface="Gotham Book" panose="02000604040000020004" pitchFamily="50" charset="0"/>
                <a:cs typeface="Arial"/>
              </a:rPr>
              <a:t>Tecnologia idêntica de relaxamento, porém inflacionada por royalties multinacionais e altíssimo investimento em publicidade de TV.</a:t>
            </a:r>
            <a:endParaRPr sz="135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2334517" y="8645833"/>
            <a:ext cx="4848225" cy="476250"/>
          </a:xfrm>
          <a:custGeom>
            <a:avLst/>
            <a:gdLst/>
            <a:ahLst/>
            <a:cxnLst/>
            <a:rect l="l" t="t" r="r" b="b"/>
            <a:pathLst>
              <a:path w="4848225" h="476250">
                <a:moveTo>
                  <a:pt x="4759223" y="476240"/>
                </a:moveTo>
                <a:lnTo>
                  <a:pt x="88992" y="476240"/>
                </a:lnTo>
                <a:lnTo>
                  <a:pt x="82800" y="475630"/>
                </a:lnTo>
                <a:lnTo>
                  <a:pt x="37128" y="456714"/>
                </a:lnTo>
                <a:lnTo>
                  <a:pt x="9639" y="423214"/>
                </a:lnTo>
                <a:lnTo>
                  <a:pt x="0" y="387238"/>
                </a:lnTo>
                <a:lnTo>
                  <a:pt x="0" y="380999"/>
                </a:lnTo>
                <a:lnTo>
                  <a:pt x="0" y="88992"/>
                </a:lnTo>
                <a:lnTo>
                  <a:pt x="12573" y="47520"/>
                </a:lnTo>
                <a:lnTo>
                  <a:pt x="47529" y="12563"/>
                </a:lnTo>
                <a:lnTo>
                  <a:pt x="88992" y="0"/>
                </a:lnTo>
                <a:lnTo>
                  <a:pt x="4759223" y="0"/>
                </a:lnTo>
                <a:lnTo>
                  <a:pt x="4800685" y="12563"/>
                </a:lnTo>
                <a:lnTo>
                  <a:pt x="4835642" y="47520"/>
                </a:lnTo>
                <a:lnTo>
                  <a:pt x="4848225" y="88992"/>
                </a:lnTo>
                <a:lnTo>
                  <a:pt x="4848225" y="387238"/>
                </a:lnTo>
                <a:lnTo>
                  <a:pt x="4835642" y="428701"/>
                </a:lnTo>
                <a:lnTo>
                  <a:pt x="4800695" y="463657"/>
                </a:lnTo>
                <a:lnTo>
                  <a:pt x="4765424" y="475630"/>
                </a:lnTo>
                <a:lnTo>
                  <a:pt x="4759223" y="476240"/>
                </a:lnTo>
                <a:close/>
              </a:path>
            </a:pathLst>
          </a:custGeom>
          <a:solidFill>
            <a:srgbClr val="F5F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496750" y="8677419"/>
            <a:ext cx="470540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4338C9"/>
                </a:solidFill>
                <a:latin typeface="Gotham Book" panose="02000604040000020004" pitchFamily="50" charset="0"/>
                <a:cs typeface="Century Gothic"/>
              </a:rPr>
              <a:t>Percepção do Cliente: "Muito caro para uma visão simples."</a:t>
            </a:r>
            <a:endParaRPr sz="1400" dirty="0">
              <a:latin typeface="Gotham Book" panose="02000604040000020004" pitchFamily="50" charset="0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94437" y="2079819"/>
            <a:ext cx="5509260" cy="7352696"/>
            <a:chOff x="6394437" y="1994028"/>
            <a:chExt cx="5509260" cy="7432978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4165" y="2052321"/>
              <a:ext cx="5489257" cy="73643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409358" y="1994028"/>
              <a:ext cx="5479415" cy="120014"/>
            </a:xfrm>
            <a:custGeom>
              <a:avLst/>
              <a:gdLst/>
              <a:ahLst/>
              <a:cxnLst/>
              <a:rect l="l" t="t" r="r" b="b"/>
              <a:pathLst>
                <a:path w="5479415" h="120014">
                  <a:moveTo>
                    <a:pt x="5061" y="119823"/>
                  </a:moveTo>
                  <a:lnTo>
                    <a:pt x="0" y="89444"/>
                  </a:lnTo>
                  <a:lnTo>
                    <a:pt x="3468" y="82096"/>
                  </a:lnTo>
                  <a:lnTo>
                    <a:pt x="11265" y="69069"/>
                  </a:lnTo>
                  <a:lnTo>
                    <a:pt x="41971" y="35224"/>
                  </a:lnTo>
                  <a:lnTo>
                    <a:pt x="81052" y="11832"/>
                  </a:lnTo>
                  <a:lnTo>
                    <a:pt x="125226" y="739"/>
                  </a:lnTo>
                  <a:lnTo>
                    <a:pt x="5338331" y="0"/>
                  </a:lnTo>
                  <a:lnTo>
                    <a:pt x="5353644" y="739"/>
                  </a:lnTo>
                  <a:lnTo>
                    <a:pt x="5397819" y="11832"/>
                  </a:lnTo>
                  <a:lnTo>
                    <a:pt x="5436898" y="35224"/>
                  </a:lnTo>
                  <a:lnTo>
                    <a:pt x="5459601" y="58293"/>
                  </a:lnTo>
                  <a:lnTo>
                    <a:pt x="140540" y="58293"/>
                  </a:lnTo>
                  <a:lnTo>
                    <a:pt x="126183" y="58755"/>
                  </a:lnTo>
                  <a:lnTo>
                    <a:pt x="84768" y="65687"/>
                  </a:lnTo>
                  <a:lnTo>
                    <a:pt x="48132" y="80308"/>
                  </a:lnTo>
                  <a:lnTo>
                    <a:pt x="12034" y="109603"/>
                  </a:lnTo>
                  <a:lnTo>
                    <a:pt x="5898" y="118268"/>
                  </a:lnTo>
                  <a:lnTo>
                    <a:pt x="5061" y="119823"/>
                  </a:lnTo>
                  <a:close/>
                </a:path>
                <a:path w="5479415" h="120014">
                  <a:moveTo>
                    <a:pt x="5473808" y="119823"/>
                  </a:moveTo>
                  <a:lnTo>
                    <a:pt x="5441378" y="86749"/>
                  </a:lnTo>
                  <a:lnTo>
                    <a:pt x="5407097" y="69777"/>
                  </a:lnTo>
                  <a:lnTo>
                    <a:pt x="5366767" y="60141"/>
                  </a:lnTo>
                  <a:lnTo>
                    <a:pt x="5338331" y="58293"/>
                  </a:lnTo>
                  <a:lnTo>
                    <a:pt x="5459601" y="58293"/>
                  </a:lnTo>
                  <a:lnTo>
                    <a:pt x="5467604" y="69069"/>
                  </a:lnTo>
                  <a:lnTo>
                    <a:pt x="5475402" y="82096"/>
                  </a:lnTo>
                  <a:lnTo>
                    <a:pt x="5478871" y="89444"/>
                  </a:lnTo>
                  <a:lnTo>
                    <a:pt x="5473808" y="119823"/>
                  </a:lnTo>
                  <a:close/>
                </a:path>
              </a:pathLst>
            </a:custGeom>
            <a:solidFill>
              <a:srgbClr val="00D2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394437" y="2083231"/>
              <a:ext cx="5509260" cy="7343775"/>
            </a:xfrm>
            <a:custGeom>
              <a:avLst/>
              <a:gdLst/>
              <a:ahLst/>
              <a:cxnLst/>
              <a:rect l="l" t="t" r="r" b="b"/>
              <a:pathLst>
                <a:path w="5509259" h="7343775">
                  <a:moveTo>
                    <a:pt x="5508688" y="66255"/>
                  </a:moveTo>
                  <a:lnTo>
                    <a:pt x="5502033" y="21196"/>
                  </a:lnTo>
                  <a:lnTo>
                    <a:pt x="5493664" y="0"/>
                  </a:lnTo>
                  <a:lnTo>
                    <a:pt x="5488597" y="30403"/>
                  </a:lnTo>
                  <a:lnTo>
                    <a:pt x="5492737" y="38087"/>
                  </a:lnTo>
                  <a:lnTo>
                    <a:pt x="5496204" y="47294"/>
                  </a:lnTo>
                  <a:lnTo>
                    <a:pt x="5498287" y="56680"/>
                  </a:lnTo>
                  <a:lnTo>
                    <a:pt x="5498985" y="66255"/>
                  </a:lnTo>
                  <a:lnTo>
                    <a:pt x="5498985" y="7187717"/>
                  </a:lnTo>
                  <a:lnTo>
                    <a:pt x="5492737" y="7229957"/>
                  </a:lnTo>
                  <a:lnTo>
                    <a:pt x="5474436" y="7268692"/>
                  </a:lnTo>
                  <a:lnTo>
                    <a:pt x="5455780" y="7291222"/>
                  </a:lnTo>
                  <a:lnTo>
                    <a:pt x="5422011" y="7316216"/>
                  </a:lnTo>
                  <a:lnTo>
                    <a:pt x="5381688" y="7330668"/>
                  </a:lnTo>
                  <a:lnTo>
                    <a:pt x="5353240" y="7333450"/>
                  </a:lnTo>
                  <a:lnTo>
                    <a:pt x="155460" y="7333450"/>
                  </a:lnTo>
                  <a:lnTo>
                    <a:pt x="113207" y="7327201"/>
                  </a:lnTo>
                  <a:lnTo>
                    <a:pt x="74472" y="7308913"/>
                  </a:lnTo>
                  <a:lnTo>
                    <a:pt x="52895" y="7291235"/>
                  </a:lnTo>
                  <a:lnTo>
                    <a:pt x="42748" y="7280122"/>
                  </a:lnTo>
                  <a:lnTo>
                    <a:pt x="20815" y="7243483"/>
                  </a:lnTo>
                  <a:lnTo>
                    <a:pt x="10414" y="7202068"/>
                  </a:lnTo>
                  <a:lnTo>
                    <a:pt x="9715" y="7187717"/>
                  </a:lnTo>
                  <a:lnTo>
                    <a:pt x="9715" y="66255"/>
                  </a:lnTo>
                  <a:lnTo>
                    <a:pt x="10414" y="56680"/>
                  </a:lnTo>
                  <a:lnTo>
                    <a:pt x="12496" y="47294"/>
                  </a:lnTo>
                  <a:lnTo>
                    <a:pt x="15963" y="38087"/>
                  </a:lnTo>
                  <a:lnTo>
                    <a:pt x="20104" y="30391"/>
                  </a:lnTo>
                  <a:lnTo>
                    <a:pt x="15036" y="0"/>
                  </a:lnTo>
                  <a:lnTo>
                    <a:pt x="749" y="50939"/>
                  </a:lnTo>
                  <a:lnTo>
                    <a:pt x="0" y="66255"/>
                  </a:lnTo>
                  <a:lnTo>
                    <a:pt x="0" y="7187717"/>
                  </a:lnTo>
                  <a:lnTo>
                    <a:pt x="6667" y="7232764"/>
                  </a:lnTo>
                  <a:lnTo>
                    <a:pt x="26174" y="7274090"/>
                  </a:lnTo>
                  <a:lnTo>
                    <a:pt x="45580" y="7297585"/>
                  </a:lnTo>
                  <a:lnTo>
                    <a:pt x="45999" y="7298055"/>
                  </a:lnTo>
                  <a:lnTo>
                    <a:pt x="56883" y="7307935"/>
                  </a:lnTo>
                  <a:lnTo>
                    <a:pt x="95973" y="7331329"/>
                  </a:lnTo>
                  <a:lnTo>
                    <a:pt x="140144" y="7342416"/>
                  </a:lnTo>
                  <a:lnTo>
                    <a:pt x="155460" y="7343165"/>
                  </a:lnTo>
                  <a:lnTo>
                    <a:pt x="5353240" y="7343165"/>
                  </a:lnTo>
                  <a:lnTo>
                    <a:pt x="5398300" y="7336498"/>
                  </a:lnTo>
                  <a:lnTo>
                    <a:pt x="5439626" y="7316991"/>
                  </a:lnTo>
                  <a:lnTo>
                    <a:pt x="5462638" y="7298093"/>
                  </a:lnTo>
                  <a:lnTo>
                    <a:pt x="5463159" y="7297623"/>
                  </a:lnTo>
                  <a:lnTo>
                    <a:pt x="5490311" y="7261060"/>
                  </a:lnTo>
                  <a:lnTo>
                    <a:pt x="5505742" y="7218045"/>
                  </a:lnTo>
                  <a:lnTo>
                    <a:pt x="5508688" y="7187717"/>
                  </a:lnTo>
                  <a:lnTo>
                    <a:pt x="5508688" y="66255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663498" y="2335292"/>
            <a:ext cx="2801217" cy="1840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O SWEET SPOT DO MERCADO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338942" y="2324355"/>
            <a:ext cx="1282700" cy="223520"/>
          </a:xfrm>
          <a:custGeom>
            <a:avLst/>
            <a:gdLst/>
            <a:ahLst/>
            <a:cxnLst/>
            <a:rect l="l" t="t" r="r" b="b"/>
            <a:pathLst>
              <a:path w="1282700" h="223519">
                <a:moveTo>
                  <a:pt x="1227980" y="223456"/>
                </a:moveTo>
                <a:lnTo>
                  <a:pt x="54465" y="223456"/>
                </a:lnTo>
                <a:lnTo>
                  <a:pt x="50676" y="223087"/>
                </a:lnTo>
                <a:lnTo>
                  <a:pt x="14369" y="203675"/>
                </a:lnTo>
                <a:lnTo>
                  <a:pt x="0" y="168991"/>
                </a:lnTo>
                <a:lnTo>
                  <a:pt x="0" y="165163"/>
                </a:lnTo>
                <a:lnTo>
                  <a:pt x="0" y="54465"/>
                </a:lnTo>
                <a:lnTo>
                  <a:pt x="19780" y="14369"/>
                </a:lnTo>
                <a:lnTo>
                  <a:pt x="54465" y="0"/>
                </a:lnTo>
                <a:lnTo>
                  <a:pt x="1227980" y="0"/>
                </a:lnTo>
                <a:lnTo>
                  <a:pt x="1268076" y="19780"/>
                </a:lnTo>
                <a:lnTo>
                  <a:pt x="1282445" y="54465"/>
                </a:lnTo>
                <a:lnTo>
                  <a:pt x="1282445" y="168991"/>
                </a:lnTo>
                <a:lnTo>
                  <a:pt x="1262665" y="209087"/>
                </a:lnTo>
                <a:lnTo>
                  <a:pt x="1231769" y="223087"/>
                </a:lnTo>
                <a:lnTo>
                  <a:pt x="1227980" y="223456"/>
                </a:lnTo>
                <a:close/>
              </a:path>
            </a:pathLst>
          </a:custGeom>
          <a:solidFill>
            <a:srgbClr val="DCFB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420209" y="2336463"/>
            <a:ext cx="1211161" cy="1699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b="1" dirty="0">
                <a:solidFill>
                  <a:srgbClr val="14803C"/>
                </a:solidFill>
                <a:latin typeface="Century Gothic"/>
                <a:cs typeface="Century Gothic"/>
              </a:rPr>
              <a:t>ALTA CONVERSÃO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63497" y="2594876"/>
            <a:ext cx="4156903" cy="33983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00" b="1" dirty="0">
                <a:solidFill>
                  <a:srgbClr val="0F162A"/>
                </a:solidFill>
                <a:latin typeface="Trebuchet MS"/>
                <a:cs typeface="Trebuchet MS"/>
              </a:rPr>
              <a:t>Gold Comfort IA</a:t>
            </a:r>
            <a:r>
              <a:rPr lang="pt-BR" sz="2100" b="1" dirty="0">
                <a:solidFill>
                  <a:srgbClr val="0F162A"/>
                </a:solidFill>
                <a:latin typeface="Trebuchet MS"/>
                <a:cs typeface="Trebuchet MS"/>
              </a:rPr>
              <a:t> / Gold Comfort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663497" y="2802109"/>
            <a:ext cx="4744720" cy="1306768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3450" b="1" dirty="0">
                <a:solidFill>
                  <a:srgbClr val="0284C6"/>
                </a:solidFill>
                <a:latin typeface="Gotham Book" panose="02000604040000020004" pitchFamily="50" charset="0"/>
                <a:cs typeface="Trebuchet MS"/>
              </a:rPr>
              <a:t>R$ </a:t>
            </a:r>
            <a:r>
              <a:rPr lang="pt-BR" sz="3450" b="1" dirty="0">
                <a:solidFill>
                  <a:srgbClr val="0284C6"/>
                </a:solidFill>
                <a:latin typeface="Gotham Book" panose="02000604040000020004" pitchFamily="50" charset="0"/>
                <a:cs typeface="Trebuchet MS"/>
              </a:rPr>
              <a:t>900</a:t>
            </a:r>
            <a:r>
              <a:rPr sz="3450" b="1" dirty="0">
                <a:solidFill>
                  <a:srgbClr val="0284C6"/>
                </a:solidFill>
                <a:latin typeface="Gotham Book" panose="02000604040000020004" pitchFamily="50" charset="0"/>
                <a:cs typeface="Trebuchet MS"/>
              </a:rPr>
              <a:t> </a:t>
            </a:r>
            <a:r>
              <a:rPr sz="1600" dirty="0">
                <a:solidFill>
                  <a:srgbClr val="63748A"/>
                </a:solidFill>
                <a:latin typeface="Gotham Book" panose="02000604040000020004" pitchFamily="50" charset="0"/>
                <a:cs typeface="Arial"/>
              </a:rPr>
              <a:t>a </a:t>
            </a:r>
            <a:r>
              <a:rPr lang="pt-BR" sz="1600" dirty="0">
                <a:solidFill>
                  <a:srgbClr val="63748A"/>
                </a:solidFill>
                <a:latin typeface="Gotham Book" panose="02000604040000020004" pitchFamily="50" charset="0"/>
                <a:cs typeface="Arial"/>
              </a:rPr>
              <a:t>partir de</a:t>
            </a:r>
            <a:endParaRPr sz="1600" dirty="0">
              <a:latin typeface="Gotham Book" panose="02000604040000020004" pitchFamily="50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50" b="1" dirty="0">
                <a:solidFill>
                  <a:srgbClr val="10B881"/>
                </a:solidFill>
                <a:latin typeface="Gotham Book" panose="02000604040000020004" pitchFamily="50" charset="0"/>
                <a:cs typeface="Century Gothic"/>
              </a:rPr>
              <a:t>10× de R$ </a:t>
            </a:r>
            <a:r>
              <a:rPr lang="pt-BR" sz="1650" b="1" dirty="0">
                <a:solidFill>
                  <a:srgbClr val="10B881"/>
                </a:solidFill>
                <a:latin typeface="Gotham Book" panose="02000604040000020004" pitchFamily="50" charset="0"/>
                <a:cs typeface="Century Gothic"/>
              </a:rPr>
              <a:t>90</a:t>
            </a: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pt-BR" sz="140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Lentes inteligentes </a:t>
            </a:r>
            <a:r>
              <a:rPr sz="140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de ponta e </a:t>
            </a:r>
            <a:r>
              <a:rPr sz="1400" dirty="0" err="1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conforto</a:t>
            </a:r>
            <a:r>
              <a:rPr lang="pt-BR" sz="1400" dirty="0">
                <a:solidFill>
                  <a:srgbClr val="334154"/>
                </a:solidFill>
                <a:latin typeface="Gotham Book" panose="02000604040000020004" pitchFamily="50" charset="0"/>
                <a:cs typeface="Arial"/>
              </a:rPr>
              <a:t> máximo.</a:t>
            </a:r>
            <a:endParaRPr sz="1400" dirty="0">
              <a:latin typeface="Gotham Book" panose="02000604040000020004" pitchFamily="50" charset="0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76198" y="8639430"/>
            <a:ext cx="4945380" cy="505459"/>
            <a:chOff x="6676198" y="8639430"/>
            <a:chExt cx="4945380" cy="505459"/>
          </a:xfrm>
        </p:grpSpPr>
        <p:sp>
          <p:nvSpPr>
            <p:cNvPr id="35" name="object 35"/>
            <p:cNvSpPr/>
            <p:nvPr/>
          </p:nvSpPr>
          <p:spPr>
            <a:xfrm>
              <a:off x="6681056" y="8644288"/>
              <a:ext cx="4935855" cy="495934"/>
            </a:xfrm>
            <a:custGeom>
              <a:avLst/>
              <a:gdLst/>
              <a:ahLst/>
              <a:cxnLst/>
              <a:rect l="l" t="t" r="r" b="b"/>
              <a:pathLst>
                <a:path w="4935855" h="495934">
                  <a:moveTo>
                    <a:pt x="4849239" y="495490"/>
                  </a:moveTo>
                  <a:lnTo>
                    <a:pt x="86234" y="495490"/>
                  </a:lnTo>
                  <a:lnTo>
                    <a:pt x="80230" y="494897"/>
                  </a:lnTo>
                  <a:lnTo>
                    <a:pt x="35976" y="476564"/>
                  </a:lnTo>
                  <a:lnTo>
                    <a:pt x="9346" y="444114"/>
                  </a:lnTo>
                  <a:lnTo>
                    <a:pt x="0" y="409255"/>
                  </a:lnTo>
                  <a:lnTo>
                    <a:pt x="0" y="403193"/>
                  </a:lnTo>
                  <a:lnTo>
                    <a:pt x="0" y="86234"/>
                  </a:lnTo>
                  <a:lnTo>
                    <a:pt x="12183" y="46061"/>
                  </a:lnTo>
                  <a:lnTo>
                    <a:pt x="46061" y="12183"/>
                  </a:lnTo>
                  <a:lnTo>
                    <a:pt x="86234" y="0"/>
                  </a:lnTo>
                  <a:lnTo>
                    <a:pt x="4849239" y="0"/>
                  </a:lnTo>
                  <a:lnTo>
                    <a:pt x="4889412" y="12183"/>
                  </a:lnTo>
                  <a:lnTo>
                    <a:pt x="4923280" y="46061"/>
                  </a:lnTo>
                  <a:lnTo>
                    <a:pt x="4935473" y="86234"/>
                  </a:lnTo>
                  <a:lnTo>
                    <a:pt x="4935473" y="409255"/>
                  </a:lnTo>
                  <a:lnTo>
                    <a:pt x="4923280" y="449429"/>
                  </a:lnTo>
                  <a:lnTo>
                    <a:pt x="4889412" y="483297"/>
                  </a:lnTo>
                  <a:lnTo>
                    <a:pt x="4855243" y="494897"/>
                  </a:lnTo>
                  <a:lnTo>
                    <a:pt x="4849239" y="495490"/>
                  </a:lnTo>
                  <a:close/>
                </a:path>
              </a:pathLst>
            </a:custGeom>
            <a:solidFill>
              <a:srgbClr val="EC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81056" y="8644288"/>
              <a:ext cx="4935855" cy="495934"/>
            </a:xfrm>
            <a:custGeom>
              <a:avLst/>
              <a:gdLst/>
              <a:ahLst/>
              <a:cxnLst/>
              <a:rect l="l" t="t" r="r" b="b"/>
              <a:pathLst>
                <a:path w="4935855" h="495934">
                  <a:moveTo>
                    <a:pt x="0" y="403193"/>
                  </a:moveTo>
                  <a:lnTo>
                    <a:pt x="0" y="92297"/>
                  </a:lnTo>
                  <a:lnTo>
                    <a:pt x="0" y="86234"/>
                  </a:lnTo>
                  <a:lnTo>
                    <a:pt x="592" y="80230"/>
                  </a:lnTo>
                  <a:lnTo>
                    <a:pt x="1777" y="74294"/>
                  </a:lnTo>
                  <a:lnTo>
                    <a:pt x="2953" y="68348"/>
                  </a:lnTo>
                  <a:lnTo>
                    <a:pt x="4702" y="62577"/>
                  </a:lnTo>
                  <a:lnTo>
                    <a:pt x="7024" y="56981"/>
                  </a:lnTo>
                  <a:lnTo>
                    <a:pt x="9346" y="51375"/>
                  </a:lnTo>
                  <a:lnTo>
                    <a:pt x="12183" y="46061"/>
                  </a:lnTo>
                  <a:lnTo>
                    <a:pt x="15554" y="41018"/>
                  </a:lnTo>
                  <a:lnTo>
                    <a:pt x="18925" y="35976"/>
                  </a:lnTo>
                  <a:lnTo>
                    <a:pt x="22743" y="31322"/>
                  </a:lnTo>
                  <a:lnTo>
                    <a:pt x="27028" y="27028"/>
                  </a:lnTo>
                  <a:lnTo>
                    <a:pt x="31322" y="22743"/>
                  </a:lnTo>
                  <a:lnTo>
                    <a:pt x="35976" y="18925"/>
                  </a:lnTo>
                  <a:lnTo>
                    <a:pt x="41018" y="15554"/>
                  </a:lnTo>
                  <a:lnTo>
                    <a:pt x="46061" y="12183"/>
                  </a:lnTo>
                  <a:lnTo>
                    <a:pt x="51375" y="9346"/>
                  </a:lnTo>
                  <a:lnTo>
                    <a:pt x="56981" y="7024"/>
                  </a:lnTo>
                  <a:lnTo>
                    <a:pt x="62577" y="4702"/>
                  </a:lnTo>
                  <a:lnTo>
                    <a:pt x="68348" y="2953"/>
                  </a:lnTo>
                  <a:lnTo>
                    <a:pt x="74294" y="1777"/>
                  </a:lnTo>
                  <a:lnTo>
                    <a:pt x="80230" y="592"/>
                  </a:lnTo>
                  <a:lnTo>
                    <a:pt x="86234" y="0"/>
                  </a:lnTo>
                  <a:lnTo>
                    <a:pt x="92297" y="0"/>
                  </a:lnTo>
                  <a:lnTo>
                    <a:pt x="4843176" y="0"/>
                  </a:lnTo>
                  <a:lnTo>
                    <a:pt x="4849239" y="0"/>
                  </a:lnTo>
                  <a:lnTo>
                    <a:pt x="4855243" y="592"/>
                  </a:lnTo>
                  <a:lnTo>
                    <a:pt x="4861179" y="1777"/>
                  </a:lnTo>
                  <a:lnTo>
                    <a:pt x="4867125" y="2953"/>
                  </a:lnTo>
                  <a:lnTo>
                    <a:pt x="4872896" y="4702"/>
                  </a:lnTo>
                  <a:lnTo>
                    <a:pt x="4878492" y="7024"/>
                  </a:lnTo>
                  <a:lnTo>
                    <a:pt x="4884098" y="9346"/>
                  </a:lnTo>
                  <a:lnTo>
                    <a:pt x="4889412" y="12183"/>
                  </a:lnTo>
                  <a:lnTo>
                    <a:pt x="4894455" y="15554"/>
                  </a:lnTo>
                  <a:lnTo>
                    <a:pt x="4899497" y="18925"/>
                  </a:lnTo>
                  <a:lnTo>
                    <a:pt x="4904151" y="22743"/>
                  </a:lnTo>
                  <a:lnTo>
                    <a:pt x="4908435" y="27028"/>
                  </a:lnTo>
                  <a:lnTo>
                    <a:pt x="4912729" y="31322"/>
                  </a:lnTo>
                  <a:lnTo>
                    <a:pt x="4928449" y="56981"/>
                  </a:lnTo>
                  <a:lnTo>
                    <a:pt x="4930771" y="62577"/>
                  </a:lnTo>
                  <a:lnTo>
                    <a:pt x="4932520" y="68348"/>
                  </a:lnTo>
                  <a:lnTo>
                    <a:pt x="4933695" y="74294"/>
                  </a:lnTo>
                  <a:lnTo>
                    <a:pt x="4934881" y="80230"/>
                  </a:lnTo>
                  <a:lnTo>
                    <a:pt x="4935473" y="86234"/>
                  </a:lnTo>
                  <a:lnTo>
                    <a:pt x="4935473" y="92297"/>
                  </a:lnTo>
                  <a:lnTo>
                    <a:pt x="4935473" y="403193"/>
                  </a:lnTo>
                  <a:lnTo>
                    <a:pt x="4935473" y="409255"/>
                  </a:lnTo>
                  <a:lnTo>
                    <a:pt x="4934881" y="415259"/>
                  </a:lnTo>
                  <a:lnTo>
                    <a:pt x="4933695" y="421196"/>
                  </a:lnTo>
                  <a:lnTo>
                    <a:pt x="4932520" y="427141"/>
                  </a:lnTo>
                  <a:lnTo>
                    <a:pt x="4930771" y="432912"/>
                  </a:lnTo>
                  <a:lnTo>
                    <a:pt x="4928449" y="438509"/>
                  </a:lnTo>
                  <a:lnTo>
                    <a:pt x="4926127" y="444114"/>
                  </a:lnTo>
                  <a:lnTo>
                    <a:pt x="4908435" y="468452"/>
                  </a:lnTo>
                  <a:lnTo>
                    <a:pt x="4904151" y="472746"/>
                  </a:lnTo>
                  <a:lnTo>
                    <a:pt x="4867125" y="492536"/>
                  </a:lnTo>
                  <a:lnTo>
                    <a:pt x="4861179" y="493712"/>
                  </a:lnTo>
                  <a:lnTo>
                    <a:pt x="4855243" y="494897"/>
                  </a:lnTo>
                  <a:lnTo>
                    <a:pt x="4849239" y="495490"/>
                  </a:lnTo>
                  <a:lnTo>
                    <a:pt x="4843176" y="495490"/>
                  </a:lnTo>
                  <a:lnTo>
                    <a:pt x="92297" y="495490"/>
                  </a:lnTo>
                  <a:lnTo>
                    <a:pt x="86234" y="495490"/>
                  </a:lnTo>
                  <a:lnTo>
                    <a:pt x="80230" y="494897"/>
                  </a:lnTo>
                  <a:lnTo>
                    <a:pt x="74294" y="493712"/>
                  </a:lnTo>
                  <a:lnTo>
                    <a:pt x="68348" y="492536"/>
                  </a:lnTo>
                  <a:lnTo>
                    <a:pt x="62577" y="490788"/>
                  </a:lnTo>
                  <a:lnTo>
                    <a:pt x="56981" y="488466"/>
                  </a:lnTo>
                  <a:lnTo>
                    <a:pt x="51375" y="486144"/>
                  </a:lnTo>
                  <a:lnTo>
                    <a:pt x="18925" y="459504"/>
                  </a:lnTo>
                  <a:lnTo>
                    <a:pt x="7024" y="438509"/>
                  </a:lnTo>
                  <a:lnTo>
                    <a:pt x="4702" y="432912"/>
                  </a:lnTo>
                  <a:lnTo>
                    <a:pt x="2953" y="427141"/>
                  </a:lnTo>
                  <a:lnTo>
                    <a:pt x="1777" y="421196"/>
                  </a:lnTo>
                  <a:lnTo>
                    <a:pt x="592" y="415259"/>
                  </a:lnTo>
                  <a:lnTo>
                    <a:pt x="0" y="409255"/>
                  </a:lnTo>
                  <a:lnTo>
                    <a:pt x="0" y="403193"/>
                  </a:lnTo>
                  <a:close/>
                </a:path>
              </a:pathLst>
            </a:custGeom>
            <a:ln w="9715">
              <a:solidFill>
                <a:srgbClr val="A4F3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799164" y="8679664"/>
            <a:ext cx="478824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E7490"/>
                </a:solidFill>
                <a:latin typeface="Gotham Book" panose="02000604040000020004" pitchFamily="50" charset="0"/>
                <a:cs typeface="Arial"/>
              </a:rPr>
              <a:t>Percepção do Cliente: "Fiz a melhor compra da minha vida."</a:t>
            </a:r>
            <a:endParaRPr sz="140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6925" y="9491251"/>
            <a:ext cx="247015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4 • A Equação Financeira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40" name="object 3">
            <a:extLst>
              <a:ext uri="{FF2B5EF4-FFF2-40B4-BE49-F238E27FC236}">
                <a16:creationId xmlns:a16="http://schemas.microsoft.com/office/drawing/2014/main" id="{964DDE1D-BFE9-4117-BC36-E12CD5951005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41" name="object 4">
              <a:extLst>
                <a:ext uri="{FF2B5EF4-FFF2-40B4-BE49-F238E27FC236}">
                  <a16:creationId xmlns:a16="http://schemas.microsoft.com/office/drawing/2014/main" id="{0F974606-0387-48FD-B0F7-7FCEC259D09C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5">
              <a:extLst>
                <a:ext uri="{FF2B5EF4-FFF2-40B4-BE49-F238E27FC236}">
                  <a16:creationId xmlns:a16="http://schemas.microsoft.com/office/drawing/2014/main" id="{4BE136E0-8DBD-435A-9184-E6AAF56F3BE0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6">
            <a:extLst>
              <a:ext uri="{FF2B5EF4-FFF2-40B4-BE49-F238E27FC236}">
                <a16:creationId xmlns:a16="http://schemas.microsoft.com/office/drawing/2014/main" id="{674121EC-5153-452A-862D-4708F92663C3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867025" cy="266700"/>
          </a:xfrm>
          <a:custGeom>
            <a:avLst/>
            <a:gdLst/>
            <a:ahLst/>
            <a:cxnLst/>
            <a:rect l="l" t="t" r="r" b="b"/>
            <a:pathLst>
              <a:path w="2867025" h="266700">
                <a:moveTo>
                  <a:pt x="2733675" y="266700"/>
                </a:moveTo>
                <a:lnTo>
                  <a:pt x="133350" y="266700"/>
                </a:lnTo>
                <a:lnTo>
                  <a:pt x="126799" y="266535"/>
                </a:lnTo>
                <a:lnTo>
                  <a:pt x="88432" y="258901"/>
                </a:lnTo>
                <a:lnTo>
                  <a:pt x="53908" y="240447"/>
                </a:lnTo>
                <a:lnTo>
                  <a:pt x="26243" y="212779"/>
                </a:lnTo>
                <a:lnTo>
                  <a:pt x="7792" y="178259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9"/>
                </a:lnTo>
                <a:lnTo>
                  <a:pt x="7792" y="88424"/>
                </a:lnTo>
                <a:lnTo>
                  <a:pt x="26243" y="53889"/>
                </a:lnTo>
                <a:lnTo>
                  <a:pt x="53908" y="26235"/>
                </a:lnTo>
                <a:lnTo>
                  <a:pt x="88432" y="7779"/>
                </a:lnTo>
                <a:lnTo>
                  <a:pt x="126799" y="160"/>
                </a:lnTo>
                <a:lnTo>
                  <a:pt x="133350" y="0"/>
                </a:lnTo>
                <a:lnTo>
                  <a:pt x="2733675" y="0"/>
                </a:lnTo>
                <a:lnTo>
                  <a:pt x="2772384" y="5730"/>
                </a:lnTo>
                <a:lnTo>
                  <a:pt x="2807760" y="22459"/>
                </a:lnTo>
                <a:lnTo>
                  <a:pt x="2836755" y="48738"/>
                </a:lnTo>
                <a:lnTo>
                  <a:pt x="2856871" y="82305"/>
                </a:lnTo>
                <a:lnTo>
                  <a:pt x="2866383" y="120279"/>
                </a:lnTo>
                <a:lnTo>
                  <a:pt x="2867025" y="133350"/>
                </a:lnTo>
                <a:lnTo>
                  <a:pt x="2866864" y="139899"/>
                </a:lnTo>
                <a:lnTo>
                  <a:pt x="2859232" y="178259"/>
                </a:lnTo>
                <a:lnTo>
                  <a:pt x="2840780" y="212779"/>
                </a:lnTo>
                <a:lnTo>
                  <a:pt x="2813116" y="240447"/>
                </a:lnTo>
                <a:lnTo>
                  <a:pt x="2778592" y="258901"/>
                </a:lnTo>
                <a:lnTo>
                  <a:pt x="2740225" y="266535"/>
                </a:lnTo>
                <a:lnTo>
                  <a:pt x="2733675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58064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5:</a:t>
            </a:r>
            <a:r>
              <a:rPr sz="1100" b="1" spc="5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PSI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0" dirty="0">
                <a:solidFill>
                  <a:srgbClr val="0284C6"/>
                </a:solidFill>
                <a:latin typeface="Century Gothic"/>
                <a:cs typeface="Century Gothic"/>
              </a:rPr>
              <a:t>COLOG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30" dirty="0">
                <a:solidFill>
                  <a:srgbClr val="0284C6"/>
                </a:solidFill>
                <a:latin typeface="Century Gothic"/>
                <a:cs typeface="Century Gothic"/>
              </a:rPr>
              <a:t>A</a:t>
            </a:r>
            <a:r>
              <a:rPr sz="1100" b="1" spc="3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7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CON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0" dirty="0">
                <a:solidFill>
                  <a:srgbClr val="0284C6"/>
                </a:solidFill>
                <a:latin typeface="Century Gothic"/>
                <a:cs typeface="Century Gothic"/>
              </a:rPr>
              <a:t>VE</a:t>
            </a:r>
            <a:r>
              <a:rPr sz="1100" b="1" spc="-19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5" dirty="0">
                <a:solidFill>
                  <a:srgbClr val="0284C6"/>
                </a:solidFill>
                <a:latin typeface="Century Gothic"/>
                <a:cs typeface="Century Gothic"/>
              </a:rPr>
              <a:t>SÃO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97186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Os 4 Pilares Psicológicos da Venda Consultiva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acionar os gatilhos mentais certos para gerar decisão imediata no balcão.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2543" y="1837944"/>
            <a:ext cx="8754110" cy="4060190"/>
            <a:chOff x="542543" y="1837944"/>
            <a:chExt cx="8754110" cy="4060190"/>
          </a:xfrm>
        </p:grpSpPr>
        <p:sp>
          <p:nvSpPr>
            <p:cNvPr id="6" name="object 6"/>
            <p:cNvSpPr/>
            <p:nvPr/>
          </p:nvSpPr>
          <p:spPr>
            <a:xfrm>
              <a:off x="542543" y="1837944"/>
              <a:ext cx="8754110" cy="4060190"/>
            </a:xfrm>
            <a:custGeom>
              <a:avLst/>
              <a:gdLst/>
              <a:ahLst/>
              <a:cxnLst/>
              <a:rect l="l" t="t" r="r" b="b"/>
              <a:pathLst>
                <a:path w="8754110" h="4060190">
                  <a:moveTo>
                    <a:pt x="8753855" y="4059935"/>
                  </a:moveTo>
                  <a:lnTo>
                    <a:pt x="0" y="4059935"/>
                  </a:lnTo>
                  <a:lnTo>
                    <a:pt x="0" y="0"/>
                  </a:lnTo>
                  <a:lnTo>
                    <a:pt x="8753855" y="0"/>
                  </a:lnTo>
                  <a:lnTo>
                    <a:pt x="8753855" y="238505"/>
                  </a:lnTo>
                  <a:lnTo>
                    <a:pt x="419480" y="238505"/>
                  </a:lnTo>
                  <a:lnTo>
                    <a:pt x="405406" y="239185"/>
                  </a:lnTo>
                  <a:lnTo>
                    <a:pt x="364805" y="249381"/>
                  </a:lnTo>
                  <a:lnTo>
                    <a:pt x="328885" y="270881"/>
                  </a:lnTo>
                  <a:lnTo>
                    <a:pt x="300662" y="301989"/>
                  </a:lnTo>
                  <a:lnTo>
                    <a:pt x="282722" y="339969"/>
                  </a:lnTo>
                  <a:lnTo>
                    <a:pt x="276605" y="381380"/>
                  </a:lnTo>
                  <a:lnTo>
                    <a:pt x="276605" y="3600830"/>
                  </a:lnTo>
                  <a:lnTo>
                    <a:pt x="282722" y="3642242"/>
                  </a:lnTo>
                  <a:lnTo>
                    <a:pt x="300662" y="3680222"/>
                  </a:lnTo>
                  <a:lnTo>
                    <a:pt x="328885" y="3711329"/>
                  </a:lnTo>
                  <a:lnTo>
                    <a:pt x="364805" y="3732830"/>
                  </a:lnTo>
                  <a:lnTo>
                    <a:pt x="405406" y="3743025"/>
                  </a:lnTo>
                  <a:lnTo>
                    <a:pt x="419480" y="3743705"/>
                  </a:lnTo>
                  <a:lnTo>
                    <a:pt x="8753855" y="3743705"/>
                  </a:lnTo>
                  <a:lnTo>
                    <a:pt x="8753855" y="4059935"/>
                  </a:lnTo>
                  <a:close/>
                </a:path>
                <a:path w="8754110" h="4060190">
                  <a:moveTo>
                    <a:pt x="8753855" y="3743705"/>
                  </a:moveTo>
                  <a:lnTo>
                    <a:pt x="8334755" y="3743705"/>
                  </a:lnTo>
                  <a:lnTo>
                    <a:pt x="8348830" y="3743025"/>
                  </a:lnTo>
                  <a:lnTo>
                    <a:pt x="8362633" y="3740986"/>
                  </a:lnTo>
                  <a:lnTo>
                    <a:pt x="8402174" y="3726816"/>
                  </a:lnTo>
                  <a:lnTo>
                    <a:pt x="8435781" y="3701856"/>
                  </a:lnTo>
                  <a:lnTo>
                    <a:pt x="8460738" y="3668249"/>
                  </a:lnTo>
                  <a:lnTo>
                    <a:pt x="8474910" y="3628709"/>
                  </a:lnTo>
                  <a:lnTo>
                    <a:pt x="8477630" y="3600830"/>
                  </a:lnTo>
                  <a:lnTo>
                    <a:pt x="8477630" y="381380"/>
                  </a:lnTo>
                  <a:lnTo>
                    <a:pt x="8471511" y="339969"/>
                  </a:lnTo>
                  <a:lnTo>
                    <a:pt x="8453572" y="301989"/>
                  </a:lnTo>
                  <a:lnTo>
                    <a:pt x="8425349" y="270881"/>
                  </a:lnTo>
                  <a:lnTo>
                    <a:pt x="8389430" y="249381"/>
                  </a:lnTo>
                  <a:lnTo>
                    <a:pt x="8348830" y="239185"/>
                  </a:lnTo>
                  <a:lnTo>
                    <a:pt x="8334755" y="238505"/>
                  </a:lnTo>
                  <a:lnTo>
                    <a:pt x="8753855" y="238505"/>
                  </a:lnTo>
                  <a:lnTo>
                    <a:pt x="8753855" y="3743705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38199" y="2071687"/>
              <a:ext cx="8187055" cy="3514725"/>
            </a:xfrm>
            <a:custGeom>
              <a:avLst/>
              <a:gdLst/>
              <a:ahLst/>
              <a:cxnLst/>
              <a:rect l="l" t="t" r="r" b="b"/>
              <a:pathLst>
                <a:path w="8187055" h="3514725">
                  <a:moveTo>
                    <a:pt x="8039100" y="3514725"/>
                  </a:moveTo>
                  <a:lnTo>
                    <a:pt x="115690" y="3514715"/>
                  </a:lnTo>
                  <a:lnTo>
                    <a:pt x="68922" y="3499770"/>
                  </a:lnTo>
                  <a:lnTo>
                    <a:pt x="36271" y="3471481"/>
                  </a:lnTo>
                  <a:lnTo>
                    <a:pt x="14620" y="3436671"/>
                  </a:lnTo>
                  <a:lnTo>
                    <a:pt x="2381" y="3395881"/>
                  </a:lnTo>
                  <a:lnTo>
                    <a:pt x="0" y="3367087"/>
                  </a:lnTo>
                  <a:lnTo>
                    <a:pt x="0" y="147637"/>
                  </a:lnTo>
                  <a:lnTo>
                    <a:pt x="5330" y="104772"/>
                  </a:lnTo>
                  <a:lnTo>
                    <a:pt x="20869" y="65608"/>
                  </a:lnTo>
                  <a:lnTo>
                    <a:pt x="45271" y="33501"/>
                  </a:lnTo>
                  <a:lnTo>
                    <a:pt x="83953" y="7515"/>
                  </a:lnTo>
                  <a:lnTo>
                    <a:pt x="115690" y="0"/>
                  </a:lnTo>
                  <a:lnTo>
                    <a:pt x="8039100" y="0"/>
                  </a:lnTo>
                  <a:lnTo>
                    <a:pt x="8081955" y="6343"/>
                  </a:lnTo>
                  <a:lnTo>
                    <a:pt x="8121119" y="24869"/>
                  </a:lnTo>
                  <a:lnTo>
                    <a:pt x="8153226" y="53971"/>
                  </a:lnTo>
                  <a:lnTo>
                    <a:pt x="8175498" y="91125"/>
                  </a:lnTo>
                  <a:lnTo>
                    <a:pt x="8186029" y="133160"/>
                  </a:lnTo>
                  <a:lnTo>
                    <a:pt x="8186737" y="147637"/>
                  </a:lnTo>
                  <a:lnTo>
                    <a:pt x="8186737" y="3367087"/>
                  </a:lnTo>
                  <a:lnTo>
                    <a:pt x="8180384" y="3409934"/>
                  </a:lnTo>
                  <a:lnTo>
                    <a:pt x="8161858" y="3449097"/>
                  </a:lnTo>
                  <a:lnTo>
                    <a:pt x="8132756" y="3481213"/>
                  </a:lnTo>
                  <a:lnTo>
                    <a:pt x="8095592" y="3503475"/>
                  </a:lnTo>
                  <a:lnTo>
                    <a:pt x="8053573" y="3514009"/>
                  </a:lnTo>
                  <a:lnTo>
                    <a:pt x="8039100" y="3514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7064" y="2066937"/>
              <a:ext cx="8133080" cy="3524250"/>
            </a:xfrm>
            <a:custGeom>
              <a:avLst/>
              <a:gdLst/>
              <a:ahLst/>
              <a:cxnLst/>
              <a:rect l="l" t="t" r="r" b="b"/>
              <a:pathLst>
                <a:path w="8133080" h="3524250">
                  <a:moveTo>
                    <a:pt x="8132635" y="152387"/>
                  </a:moveTo>
                  <a:lnTo>
                    <a:pt x="8126108" y="108216"/>
                  </a:lnTo>
                  <a:lnTo>
                    <a:pt x="8106969" y="67703"/>
                  </a:lnTo>
                  <a:lnTo>
                    <a:pt x="8088439" y="45135"/>
                  </a:lnTo>
                  <a:lnTo>
                    <a:pt x="8087995" y="44627"/>
                  </a:lnTo>
                  <a:lnTo>
                    <a:pt x="8052143" y="18008"/>
                  </a:lnTo>
                  <a:lnTo>
                    <a:pt x="8032763" y="9525"/>
                  </a:lnTo>
                  <a:lnTo>
                    <a:pt x="8024406" y="6527"/>
                  </a:lnTo>
                  <a:lnTo>
                    <a:pt x="8009966" y="2895"/>
                  </a:lnTo>
                  <a:lnTo>
                    <a:pt x="7995247" y="723"/>
                  </a:lnTo>
                  <a:lnTo>
                    <a:pt x="7980235" y="0"/>
                  </a:lnTo>
                  <a:lnTo>
                    <a:pt x="64960" y="0"/>
                  </a:lnTo>
                  <a:lnTo>
                    <a:pt x="20777" y="6527"/>
                  </a:lnTo>
                  <a:lnTo>
                    <a:pt x="0" y="14732"/>
                  </a:lnTo>
                  <a:lnTo>
                    <a:pt x="29806" y="19697"/>
                  </a:lnTo>
                  <a:lnTo>
                    <a:pt x="37350" y="15633"/>
                  </a:lnTo>
                  <a:lnTo>
                    <a:pt x="46367" y="12242"/>
                  </a:lnTo>
                  <a:lnTo>
                    <a:pt x="55575" y="10198"/>
                  </a:lnTo>
                  <a:lnTo>
                    <a:pt x="64960" y="9525"/>
                  </a:lnTo>
                  <a:lnTo>
                    <a:pt x="7980235" y="9525"/>
                  </a:lnTo>
                  <a:lnTo>
                    <a:pt x="8021637" y="15633"/>
                  </a:lnTo>
                  <a:lnTo>
                    <a:pt x="8059623" y="33578"/>
                  </a:lnTo>
                  <a:lnTo>
                    <a:pt x="8090725" y="61798"/>
                  </a:lnTo>
                  <a:lnTo>
                    <a:pt x="8112226" y="97713"/>
                  </a:lnTo>
                  <a:lnTo>
                    <a:pt x="8122425" y="138315"/>
                  </a:lnTo>
                  <a:lnTo>
                    <a:pt x="8123110" y="152387"/>
                  </a:lnTo>
                  <a:lnTo>
                    <a:pt x="8123110" y="3371837"/>
                  </a:lnTo>
                  <a:lnTo>
                    <a:pt x="8116989" y="3413252"/>
                  </a:lnTo>
                  <a:lnTo>
                    <a:pt x="8099044" y="3451237"/>
                  </a:lnTo>
                  <a:lnTo>
                    <a:pt x="8081251" y="3472865"/>
                  </a:lnTo>
                  <a:lnTo>
                    <a:pt x="8047647" y="3497834"/>
                  </a:lnTo>
                  <a:lnTo>
                    <a:pt x="8008112" y="3512007"/>
                  </a:lnTo>
                  <a:lnTo>
                    <a:pt x="7980235" y="3514725"/>
                  </a:lnTo>
                  <a:lnTo>
                    <a:pt x="64960" y="3514725"/>
                  </a:lnTo>
                  <a:lnTo>
                    <a:pt x="55575" y="3514039"/>
                  </a:lnTo>
                  <a:lnTo>
                    <a:pt x="46367" y="3512007"/>
                  </a:lnTo>
                  <a:lnTo>
                    <a:pt x="37350" y="3508603"/>
                  </a:lnTo>
                  <a:lnTo>
                    <a:pt x="29806" y="3504552"/>
                  </a:lnTo>
                  <a:lnTo>
                    <a:pt x="0" y="3509518"/>
                  </a:lnTo>
                  <a:lnTo>
                    <a:pt x="49936" y="3523526"/>
                  </a:lnTo>
                  <a:lnTo>
                    <a:pt x="64960" y="3524250"/>
                  </a:lnTo>
                  <a:lnTo>
                    <a:pt x="7980235" y="3524250"/>
                  </a:lnTo>
                  <a:lnTo>
                    <a:pt x="8024406" y="3517722"/>
                  </a:lnTo>
                  <a:lnTo>
                    <a:pt x="8064919" y="3498583"/>
                  </a:lnTo>
                  <a:lnTo>
                    <a:pt x="8088439" y="3479114"/>
                  </a:lnTo>
                  <a:lnTo>
                    <a:pt x="8098091" y="3468471"/>
                  </a:lnTo>
                  <a:lnTo>
                    <a:pt x="8121028" y="3430168"/>
                  </a:lnTo>
                  <a:lnTo>
                    <a:pt x="8131899" y="3386861"/>
                  </a:lnTo>
                  <a:lnTo>
                    <a:pt x="8132635" y="3371837"/>
                  </a:lnTo>
                  <a:lnTo>
                    <a:pt x="8132635" y="152387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9625" y="2081539"/>
              <a:ext cx="117475" cy="3495040"/>
            </a:xfrm>
            <a:custGeom>
              <a:avLst/>
              <a:gdLst/>
              <a:ahLst/>
              <a:cxnLst/>
              <a:rect l="l" t="t" r="r" b="b"/>
              <a:pathLst>
                <a:path w="117475" h="3495040">
                  <a:moveTo>
                    <a:pt x="87693" y="3495020"/>
                  </a:moveTo>
                  <a:lnTo>
                    <a:pt x="44637" y="3464997"/>
                  </a:lnTo>
                  <a:lnTo>
                    <a:pt x="18015" y="3429149"/>
                  </a:lnTo>
                  <a:lnTo>
                    <a:pt x="2900" y="3386971"/>
                  </a:lnTo>
                  <a:lnTo>
                    <a:pt x="0" y="3357235"/>
                  </a:lnTo>
                  <a:lnTo>
                    <a:pt x="0" y="137785"/>
                  </a:lnTo>
                  <a:lnTo>
                    <a:pt x="6525" y="93611"/>
                  </a:lnTo>
                  <a:lnTo>
                    <a:pt x="25659" y="53100"/>
                  </a:lnTo>
                  <a:lnTo>
                    <a:pt x="55765" y="19919"/>
                  </a:lnTo>
                  <a:lnTo>
                    <a:pt x="87692" y="0"/>
                  </a:lnTo>
                  <a:lnTo>
                    <a:pt x="117476" y="4963"/>
                  </a:lnTo>
                  <a:lnTo>
                    <a:pt x="115948" y="5785"/>
                  </a:lnTo>
                  <a:lnTo>
                    <a:pt x="107454" y="11800"/>
                  </a:lnTo>
                  <a:lnTo>
                    <a:pt x="78734" y="47190"/>
                  </a:lnTo>
                  <a:lnTo>
                    <a:pt x="64401" y="83110"/>
                  </a:lnTo>
                  <a:lnTo>
                    <a:pt x="57603" y="123711"/>
                  </a:lnTo>
                  <a:lnTo>
                    <a:pt x="57149" y="137785"/>
                  </a:lnTo>
                  <a:lnTo>
                    <a:pt x="57149" y="3357235"/>
                  </a:lnTo>
                  <a:lnTo>
                    <a:pt x="61228" y="3398647"/>
                  </a:lnTo>
                  <a:lnTo>
                    <a:pt x="73188" y="3436626"/>
                  </a:lnTo>
                  <a:lnTo>
                    <a:pt x="99472" y="3476053"/>
                  </a:lnTo>
                  <a:lnTo>
                    <a:pt x="117476" y="3490057"/>
                  </a:lnTo>
                  <a:lnTo>
                    <a:pt x="87693" y="349502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6325" y="22860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52650" y="323840"/>
                  </a:moveTo>
                  <a:lnTo>
                    <a:pt x="71199" y="323840"/>
                  </a:lnTo>
                  <a:lnTo>
                    <a:pt x="66236" y="323345"/>
                  </a:lnTo>
                  <a:lnTo>
                    <a:pt x="29708" y="308209"/>
                  </a:lnTo>
                  <a:lnTo>
                    <a:pt x="3886" y="272176"/>
                  </a:lnTo>
                  <a:lnTo>
                    <a:pt x="0" y="252641"/>
                  </a:lnTo>
                  <a:lnTo>
                    <a:pt x="0" y="247650"/>
                  </a:lnTo>
                  <a:lnTo>
                    <a:pt x="0" y="71199"/>
                  </a:lnTo>
                  <a:lnTo>
                    <a:pt x="15621" y="29689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252650" y="0"/>
                  </a:lnTo>
                  <a:lnTo>
                    <a:pt x="294141" y="15621"/>
                  </a:lnTo>
                  <a:lnTo>
                    <a:pt x="319963" y="51644"/>
                  </a:lnTo>
                  <a:lnTo>
                    <a:pt x="323850" y="71199"/>
                  </a:lnTo>
                  <a:lnTo>
                    <a:pt x="323850" y="252641"/>
                  </a:lnTo>
                  <a:lnTo>
                    <a:pt x="308229" y="294132"/>
                  </a:lnTo>
                  <a:lnTo>
                    <a:pt x="272186" y="319944"/>
                  </a:lnTo>
                  <a:lnTo>
                    <a:pt x="257613" y="323345"/>
                  </a:lnTo>
                  <a:lnTo>
                    <a:pt x="252650" y="323840"/>
                  </a:lnTo>
                  <a:close/>
                </a:path>
              </a:pathLst>
            </a:custGeom>
            <a:solidFill>
              <a:srgbClr val="FD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92211" y="2298532"/>
            <a:ext cx="3526991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21945" algn="l"/>
              </a:tabLst>
            </a:pPr>
            <a:r>
              <a:rPr sz="1350" b="1" dirty="0">
                <a:solidFill>
                  <a:srgbClr val="B81C1C"/>
                </a:solidFill>
                <a:latin typeface="Arial"/>
                <a:cs typeface="Arial"/>
              </a:rPr>
              <a:t>1	</a:t>
            </a:r>
            <a:r>
              <a:rPr sz="1500" b="1" dirty="0">
                <a:solidFill>
                  <a:srgbClr val="EE4444"/>
                </a:solidFill>
                <a:latin typeface="Arial"/>
                <a:cs typeface="Arial"/>
              </a:rPr>
              <a:t>Foco na Dor vs. Alívio Imediato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3625" y="3500476"/>
            <a:ext cx="6064885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O ser humano age com 3 vezes mais intensidade para </a:t>
            </a:r>
            <a:r>
              <a:rPr sz="1600" b="1" dirty="0">
                <a:solidFill>
                  <a:srgbClr val="334154"/>
                </a:solidFill>
                <a:latin typeface="Century Gothic"/>
                <a:cs typeface="Century Gothic"/>
              </a:rPr>
              <a:t>evitar uma dor </a:t>
            </a: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do que para obter um prazer.</a:t>
            </a:r>
            <a:endParaRPr sz="1600" dirty="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76325" y="4667250"/>
            <a:ext cx="7734300" cy="704850"/>
            <a:chOff x="1076325" y="4667250"/>
            <a:chExt cx="7734300" cy="704850"/>
          </a:xfrm>
        </p:grpSpPr>
        <p:sp>
          <p:nvSpPr>
            <p:cNvPr id="14" name="object 14"/>
            <p:cNvSpPr/>
            <p:nvPr/>
          </p:nvSpPr>
          <p:spPr>
            <a:xfrm>
              <a:off x="1095375" y="4667253"/>
              <a:ext cx="7715250" cy="704850"/>
            </a:xfrm>
            <a:custGeom>
              <a:avLst/>
              <a:gdLst/>
              <a:ahLst/>
              <a:cxnLst/>
              <a:rect l="l" t="t" r="r" b="b"/>
              <a:pathLst>
                <a:path w="7715250" h="704850">
                  <a:moveTo>
                    <a:pt x="7608456" y="70484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7608456" y="0"/>
                  </a:lnTo>
                  <a:lnTo>
                    <a:pt x="7615885" y="733"/>
                  </a:lnTo>
                  <a:lnTo>
                    <a:pt x="7658214" y="15097"/>
                  </a:lnTo>
                  <a:lnTo>
                    <a:pt x="7691819" y="44557"/>
                  </a:lnTo>
                  <a:lnTo>
                    <a:pt x="7711593" y="84639"/>
                  </a:lnTo>
                  <a:lnTo>
                    <a:pt x="7715250" y="106794"/>
                  </a:lnTo>
                  <a:lnTo>
                    <a:pt x="7715250" y="598055"/>
                  </a:lnTo>
                  <a:lnTo>
                    <a:pt x="7703677" y="641213"/>
                  </a:lnTo>
                  <a:lnTo>
                    <a:pt x="7676464" y="676684"/>
                  </a:lnTo>
                  <a:lnTo>
                    <a:pt x="7637755" y="699020"/>
                  </a:lnTo>
                  <a:lnTo>
                    <a:pt x="7608456" y="704840"/>
                  </a:lnTo>
                  <a:close/>
                </a:path>
              </a:pathLst>
            </a:custGeom>
            <a:solidFill>
              <a:srgbClr val="FD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6325" y="4667250"/>
              <a:ext cx="38100" cy="704850"/>
            </a:xfrm>
            <a:custGeom>
              <a:avLst/>
              <a:gdLst/>
              <a:ahLst/>
              <a:cxnLst/>
              <a:rect l="l" t="t" r="r" b="b"/>
              <a:pathLst>
                <a:path w="38100" h="704850">
                  <a:moveTo>
                    <a:pt x="38100" y="70485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04850"/>
                  </a:lnTo>
                  <a:close/>
                </a:path>
              </a:pathLst>
            </a:custGeom>
            <a:solidFill>
              <a:srgbClr val="EE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92225" y="4795876"/>
            <a:ext cx="7265034" cy="4216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Aplicação Prática: 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Não venda "tecnologia de relaxamento". Venda o fim dos olhos vermelhos no trabalho e o alívio da dor de cabeça ao voltar para casa.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000743" y="1837944"/>
            <a:ext cx="8745220" cy="4060190"/>
            <a:chOff x="9000743" y="1837944"/>
            <a:chExt cx="8745220" cy="4060190"/>
          </a:xfrm>
        </p:grpSpPr>
        <p:sp>
          <p:nvSpPr>
            <p:cNvPr id="18" name="object 18"/>
            <p:cNvSpPr/>
            <p:nvPr/>
          </p:nvSpPr>
          <p:spPr>
            <a:xfrm>
              <a:off x="9000743" y="1837944"/>
              <a:ext cx="8745220" cy="4060190"/>
            </a:xfrm>
            <a:custGeom>
              <a:avLst/>
              <a:gdLst/>
              <a:ahLst/>
              <a:cxnLst/>
              <a:rect l="l" t="t" r="r" b="b"/>
              <a:pathLst>
                <a:path w="8745219" h="4060190">
                  <a:moveTo>
                    <a:pt x="8744711" y="4059935"/>
                  </a:moveTo>
                  <a:lnTo>
                    <a:pt x="0" y="4059935"/>
                  </a:lnTo>
                  <a:lnTo>
                    <a:pt x="0" y="0"/>
                  </a:lnTo>
                  <a:lnTo>
                    <a:pt x="8744711" y="0"/>
                  </a:lnTo>
                  <a:lnTo>
                    <a:pt x="8744711" y="238505"/>
                  </a:lnTo>
                  <a:lnTo>
                    <a:pt x="419480" y="238505"/>
                  </a:lnTo>
                  <a:lnTo>
                    <a:pt x="405406" y="239185"/>
                  </a:lnTo>
                  <a:lnTo>
                    <a:pt x="364805" y="249381"/>
                  </a:lnTo>
                  <a:lnTo>
                    <a:pt x="328885" y="270881"/>
                  </a:lnTo>
                  <a:lnTo>
                    <a:pt x="300661" y="301989"/>
                  </a:lnTo>
                  <a:lnTo>
                    <a:pt x="282722" y="339969"/>
                  </a:lnTo>
                  <a:lnTo>
                    <a:pt x="276605" y="381380"/>
                  </a:lnTo>
                  <a:lnTo>
                    <a:pt x="276605" y="3600830"/>
                  </a:lnTo>
                  <a:lnTo>
                    <a:pt x="282722" y="3642242"/>
                  </a:lnTo>
                  <a:lnTo>
                    <a:pt x="300661" y="3680222"/>
                  </a:lnTo>
                  <a:lnTo>
                    <a:pt x="328885" y="3711329"/>
                  </a:lnTo>
                  <a:lnTo>
                    <a:pt x="364805" y="3732830"/>
                  </a:lnTo>
                  <a:lnTo>
                    <a:pt x="405406" y="3743025"/>
                  </a:lnTo>
                  <a:lnTo>
                    <a:pt x="419480" y="3743705"/>
                  </a:lnTo>
                  <a:lnTo>
                    <a:pt x="8744711" y="3743705"/>
                  </a:lnTo>
                  <a:lnTo>
                    <a:pt x="8744711" y="4059935"/>
                  </a:lnTo>
                  <a:close/>
                </a:path>
                <a:path w="8745219" h="4060190">
                  <a:moveTo>
                    <a:pt x="8744711" y="3743705"/>
                  </a:moveTo>
                  <a:lnTo>
                    <a:pt x="8325230" y="3743705"/>
                  </a:lnTo>
                  <a:lnTo>
                    <a:pt x="8339303" y="3743025"/>
                  </a:lnTo>
                  <a:lnTo>
                    <a:pt x="8353107" y="3740986"/>
                  </a:lnTo>
                  <a:lnTo>
                    <a:pt x="8392647" y="3726816"/>
                  </a:lnTo>
                  <a:lnTo>
                    <a:pt x="8426256" y="3701856"/>
                  </a:lnTo>
                  <a:lnTo>
                    <a:pt x="8451212" y="3668249"/>
                  </a:lnTo>
                  <a:lnTo>
                    <a:pt x="8465385" y="3628709"/>
                  </a:lnTo>
                  <a:lnTo>
                    <a:pt x="8468105" y="3600830"/>
                  </a:lnTo>
                  <a:lnTo>
                    <a:pt x="8468105" y="381380"/>
                  </a:lnTo>
                  <a:lnTo>
                    <a:pt x="8461986" y="339969"/>
                  </a:lnTo>
                  <a:lnTo>
                    <a:pt x="8444046" y="301989"/>
                  </a:lnTo>
                  <a:lnTo>
                    <a:pt x="8415824" y="270881"/>
                  </a:lnTo>
                  <a:lnTo>
                    <a:pt x="8379905" y="249381"/>
                  </a:lnTo>
                  <a:lnTo>
                    <a:pt x="8339303" y="239185"/>
                  </a:lnTo>
                  <a:lnTo>
                    <a:pt x="8325230" y="238505"/>
                  </a:lnTo>
                  <a:lnTo>
                    <a:pt x="8744711" y="238505"/>
                  </a:lnTo>
                  <a:lnTo>
                    <a:pt x="8744711" y="3743705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96399" y="2071687"/>
              <a:ext cx="8177530" cy="3514725"/>
            </a:xfrm>
            <a:custGeom>
              <a:avLst/>
              <a:gdLst/>
              <a:ahLst/>
              <a:cxnLst/>
              <a:rect l="l" t="t" r="r" b="b"/>
              <a:pathLst>
                <a:path w="8177530" h="3514725">
                  <a:moveTo>
                    <a:pt x="8029575" y="3514725"/>
                  </a:moveTo>
                  <a:lnTo>
                    <a:pt x="115690" y="3514715"/>
                  </a:lnTo>
                  <a:lnTo>
                    <a:pt x="68922" y="3499770"/>
                  </a:lnTo>
                  <a:lnTo>
                    <a:pt x="36271" y="3471481"/>
                  </a:lnTo>
                  <a:lnTo>
                    <a:pt x="14620" y="3436671"/>
                  </a:lnTo>
                  <a:lnTo>
                    <a:pt x="2381" y="3395881"/>
                  </a:lnTo>
                  <a:lnTo>
                    <a:pt x="0" y="3367087"/>
                  </a:lnTo>
                  <a:lnTo>
                    <a:pt x="0" y="147637"/>
                  </a:lnTo>
                  <a:lnTo>
                    <a:pt x="5330" y="104772"/>
                  </a:lnTo>
                  <a:lnTo>
                    <a:pt x="20869" y="65608"/>
                  </a:lnTo>
                  <a:lnTo>
                    <a:pt x="45269" y="33501"/>
                  </a:lnTo>
                  <a:lnTo>
                    <a:pt x="83953" y="7515"/>
                  </a:lnTo>
                  <a:lnTo>
                    <a:pt x="115690" y="0"/>
                  </a:lnTo>
                  <a:lnTo>
                    <a:pt x="8029575" y="0"/>
                  </a:lnTo>
                  <a:lnTo>
                    <a:pt x="8072430" y="6343"/>
                  </a:lnTo>
                  <a:lnTo>
                    <a:pt x="8111594" y="24869"/>
                  </a:lnTo>
                  <a:lnTo>
                    <a:pt x="8143701" y="53971"/>
                  </a:lnTo>
                  <a:lnTo>
                    <a:pt x="8165973" y="91125"/>
                  </a:lnTo>
                  <a:lnTo>
                    <a:pt x="8176504" y="133160"/>
                  </a:lnTo>
                  <a:lnTo>
                    <a:pt x="8177212" y="147637"/>
                  </a:lnTo>
                  <a:lnTo>
                    <a:pt x="8177212" y="3367087"/>
                  </a:lnTo>
                  <a:lnTo>
                    <a:pt x="8170852" y="3409934"/>
                  </a:lnTo>
                  <a:lnTo>
                    <a:pt x="8152333" y="3449097"/>
                  </a:lnTo>
                  <a:lnTo>
                    <a:pt x="8123231" y="3481213"/>
                  </a:lnTo>
                  <a:lnTo>
                    <a:pt x="8086067" y="3503475"/>
                  </a:lnTo>
                  <a:lnTo>
                    <a:pt x="8044048" y="3514009"/>
                  </a:lnTo>
                  <a:lnTo>
                    <a:pt x="8029575" y="3514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55264" y="2066937"/>
              <a:ext cx="8123555" cy="3524250"/>
            </a:xfrm>
            <a:custGeom>
              <a:avLst/>
              <a:gdLst/>
              <a:ahLst/>
              <a:cxnLst/>
              <a:rect l="l" t="t" r="r" b="b"/>
              <a:pathLst>
                <a:path w="8123555" h="3524250">
                  <a:moveTo>
                    <a:pt x="8123110" y="152387"/>
                  </a:moveTo>
                  <a:lnTo>
                    <a:pt x="8116570" y="108216"/>
                  </a:lnTo>
                  <a:lnTo>
                    <a:pt x="8097444" y="67703"/>
                  </a:lnTo>
                  <a:lnTo>
                    <a:pt x="8078914" y="45135"/>
                  </a:lnTo>
                  <a:lnTo>
                    <a:pt x="8078470" y="44627"/>
                  </a:lnTo>
                  <a:lnTo>
                    <a:pt x="8042618" y="18008"/>
                  </a:lnTo>
                  <a:lnTo>
                    <a:pt x="8023238" y="9525"/>
                  </a:lnTo>
                  <a:lnTo>
                    <a:pt x="8014881" y="6527"/>
                  </a:lnTo>
                  <a:lnTo>
                    <a:pt x="8000441" y="2895"/>
                  </a:lnTo>
                  <a:lnTo>
                    <a:pt x="7985722" y="723"/>
                  </a:lnTo>
                  <a:lnTo>
                    <a:pt x="7970710" y="0"/>
                  </a:lnTo>
                  <a:lnTo>
                    <a:pt x="64960" y="0"/>
                  </a:lnTo>
                  <a:lnTo>
                    <a:pt x="20777" y="6527"/>
                  </a:lnTo>
                  <a:lnTo>
                    <a:pt x="0" y="14732"/>
                  </a:lnTo>
                  <a:lnTo>
                    <a:pt x="29806" y="19697"/>
                  </a:lnTo>
                  <a:lnTo>
                    <a:pt x="37350" y="15633"/>
                  </a:lnTo>
                  <a:lnTo>
                    <a:pt x="46367" y="12242"/>
                  </a:lnTo>
                  <a:lnTo>
                    <a:pt x="55575" y="10198"/>
                  </a:lnTo>
                  <a:lnTo>
                    <a:pt x="64960" y="9525"/>
                  </a:lnTo>
                  <a:lnTo>
                    <a:pt x="7970710" y="9525"/>
                  </a:lnTo>
                  <a:lnTo>
                    <a:pt x="8012112" y="15633"/>
                  </a:lnTo>
                  <a:lnTo>
                    <a:pt x="8050098" y="33578"/>
                  </a:lnTo>
                  <a:lnTo>
                    <a:pt x="8081200" y="61798"/>
                  </a:lnTo>
                  <a:lnTo>
                    <a:pt x="8102701" y="97713"/>
                  </a:lnTo>
                  <a:lnTo>
                    <a:pt x="8112900" y="138315"/>
                  </a:lnTo>
                  <a:lnTo>
                    <a:pt x="8113585" y="152387"/>
                  </a:lnTo>
                  <a:lnTo>
                    <a:pt x="8113585" y="3371837"/>
                  </a:lnTo>
                  <a:lnTo>
                    <a:pt x="8107464" y="3413252"/>
                  </a:lnTo>
                  <a:lnTo>
                    <a:pt x="8089519" y="3451237"/>
                  </a:lnTo>
                  <a:lnTo>
                    <a:pt x="8071726" y="3472865"/>
                  </a:lnTo>
                  <a:lnTo>
                    <a:pt x="8038122" y="3497834"/>
                  </a:lnTo>
                  <a:lnTo>
                    <a:pt x="7998587" y="3512007"/>
                  </a:lnTo>
                  <a:lnTo>
                    <a:pt x="7970710" y="3514725"/>
                  </a:lnTo>
                  <a:lnTo>
                    <a:pt x="64960" y="3514725"/>
                  </a:lnTo>
                  <a:lnTo>
                    <a:pt x="55575" y="3514039"/>
                  </a:lnTo>
                  <a:lnTo>
                    <a:pt x="46367" y="3512007"/>
                  </a:lnTo>
                  <a:lnTo>
                    <a:pt x="37350" y="3508603"/>
                  </a:lnTo>
                  <a:lnTo>
                    <a:pt x="29806" y="3504552"/>
                  </a:lnTo>
                  <a:lnTo>
                    <a:pt x="0" y="3509518"/>
                  </a:lnTo>
                  <a:lnTo>
                    <a:pt x="49936" y="3523526"/>
                  </a:lnTo>
                  <a:lnTo>
                    <a:pt x="64960" y="3524250"/>
                  </a:lnTo>
                  <a:lnTo>
                    <a:pt x="7970710" y="3524250"/>
                  </a:lnTo>
                  <a:lnTo>
                    <a:pt x="8014881" y="3517722"/>
                  </a:lnTo>
                  <a:lnTo>
                    <a:pt x="8055394" y="3498583"/>
                  </a:lnTo>
                  <a:lnTo>
                    <a:pt x="8078914" y="3479114"/>
                  </a:lnTo>
                  <a:lnTo>
                    <a:pt x="8088566" y="3468471"/>
                  </a:lnTo>
                  <a:lnTo>
                    <a:pt x="8111503" y="3430168"/>
                  </a:lnTo>
                  <a:lnTo>
                    <a:pt x="8122374" y="3386861"/>
                  </a:lnTo>
                  <a:lnTo>
                    <a:pt x="8123110" y="3371837"/>
                  </a:lnTo>
                  <a:lnTo>
                    <a:pt x="8123110" y="152387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67825" y="2081539"/>
              <a:ext cx="117475" cy="3495040"/>
            </a:xfrm>
            <a:custGeom>
              <a:avLst/>
              <a:gdLst/>
              <a:ahLst/>
              <a:cxnLst/>
              <a:rect l="l" t="t" r="r" b="b"/>
              <a:pathLst>
                <a:path w="117475" h="3495040">
                  <a:moveTo>
                    <a:pt x="87693" y="3495020"/>
                  </a:moveTo>
                  <a:lnTo>
                    <a:pt x="44637" y="3464997"/>
                  </a:lnTo>
                  <a:lnTo>
                    <a:pt x="18014" y="3429149"/>
                  </a:lnTo>
                  <a:lnTo>
                    <a:pt x="2900" y="3386971"/>
                  </a:lnTo>
                  <a:lnTo>
                    <a:pt x="0" y="3357235"/>
                  </a:lnTo>
                  <a:lnTo>
                    <a:pt x="0" y="137785"/>
                  </a:lnTo>
                  <a:lnTo>
                    <a:pt x="6525" y="93611"/>
                  </a:lnTo>
                  <a:lnTo>
                    <a:pt x="25659" y="53100"/>
                  </a:lnTo>
                  <a:lnTo>
                    <a:pt x="55765" y="19919"/>
                  </a:lnTo>
                  <a:lnTo>
                    <a:pt x="87692" y="0"/>
                  </a:lnTo>
                  <a:lnTo>
                    <a:pt x="117476" y="4963"/>
                  </a:lnTo>
                  <a:lnTo>
                    <a:pt x="115948" y="5785"/>
                  </a:lnTo>
                  <a:lnTo>
                    <a:pt x="107452" y="11800"/>
                  </a:lnTo>
                  <a:lnTo>
                    <a:pt x="78732" y="47190"/>
                  </a:lnTo>
                  <a:lnTo>
                    <a:pt x="64397" y="83110"/>
                  </a:lnTo>
                  <a:lnTo>
                    <a:pt x="57602" y="123711"/>
                  </a:lnTo>
                  <a:lnTo>
                    <a:pt x="57149" y="137785"/>
                  </a:lnTo>
                  <a:lnTo>
                    <a:pt x="57149" y="3357235"/>
                  </a:lnTo>
                  <a:lnTo>
                    <a:pt x="61227" y="3398647"/>
                  </a:lnTo>
                  <a:lnTo>
                    <a:pt x="73185" y="3436626"/>
                  </a:lnTo>
                  <a:lnTo>
                    <a:pt x="99470" y="3476053"/>
                  </a:lnTo>
                  <a:lnTo>
                    <a:pt x="117476" y="3490057"/>
                  </a:lnTo>
                  <a:lnTo>
                    <a:pt x="87693" y="3495020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534524" y="2286000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52650" y="323840"/>
                  </a:moveTo>
                  <a:lnTo>
                    <a:pt x="71199" y="323840"/>
                  </a:lnTo>
                  <a:lnTo>
                    <a:pt x="66236" y="323345"/>
                  </a:lnTo>
                  <a:lnTo>
                    <a:pt x="29708" y="308209"/>
                  </a:lnTo>
                  <a:lnTo>
                    <a:pt x="3886" y="272176"/>
                  </a:lnTo>
                  <a:lnTo>
                    <a:pt x="0" y="252641"/>
                  </a:lnTo>
                  <a:lnTo>
                    <a:pt x="0" y="247650"/>
                  </a:lnTo>
                  <a:lnTo>
                    <a:pt x="0" y="71199"/>
                  </a:lnTo>
                  <a:lnTo>
                    <a:pt x="15621" y="29689"/>
                  </a:lnTo>
                  <a:lnTo>
                    <a:pt x="51663" y="3886"/>
                  </a:lnTo>
                  <a:lnTo>
                    <a:pt x="71199" y="0"/>
                  </a:lnTo>
                  <a:lnTo>
                    <a:pt x="252650" y="0"/>
                  </a:lnTo>
                  <a:lnTo>
                    <a:pt x="294141" y="15621"/>
                  </a:lnTo>
                  <a:lnTo>
                    <a:pt x="319963" y="51644"/>
                  </a:lnTo>
                  <a:lnTo>
                    <a:pt x="323850" y="71199"/>
                  </a:lnTo>
                  <a:lnTo>
                    <a:pt x="323850" y="252641"/>
                  </a:lnTo>
                  <a:lnTo>
                    <a:pt x="308229" y="294132"/>
                  </a:lnTo>
                  <a:lnTo>
                    <a:pt x="272186" y="319944"/>
                  </a:lnTo>
                  <a:lnTo>
                    <a:pt x="257603" y="323345"/>
                  </a:lnTo>
                  <a:lnTo>
                    <a:pt x="252650" y="323840"/>
                  </a:lnTo>
                  <a:close/>
                </a:path>
              </a:pathLst>
            </a:custGeom>
            <a:solidFill>
              <a:srgbClr val="DFF1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631362" y="2298532"/>
            <a:ext cx="3458273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5915" algn="l"/>
              </a:tabLst>
            </a:pPr>
            <a:r>
              <a:rPr sz="1350" b="1" dirty="0">
                <a:solidFill>
                  <a:srgbClr val="0369A0"/>
                </a:solidFill>
                <a:latin typeface="Arial"/>
                <a:cs typeface="Arial"/>
              </a:rPr>
              <a:t>2	</a:t>
            </a:r>
            <a:r>
              <a:rPr sz="1500" b="1" dirty="0">
                <a:solidFill>
                  <a:srgbClr val="0284C6"/>
                </a:solidFill>
                <a:latin typeface="Arial"/>
                <a:cs typeface="Arial"/>
              </a:rPr>
              <a:t>Preservação da Saúde Futura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517063" y="3500629"/>
            <a:ext cx="7141209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O cliente cuida da pele, faz exames de sangue e vai à academia. Mas negligencia o órgão que ele mais usa: os olhos.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534525" y="4667250"/>
            <a:ext cx="7724775" cy="704850"/>
            <a:chOff x="9534525" y="4667250"/>
            <a:chExt cx="7724775" cy="704850"/>
          </a:xfrm>
        </p:grpSpPr>
        <p:sp>
          <p:nvSpPr>
            <p:cNvPr id="26" name="object 26"/>
            <p:cNvSpPr/>
            <p:nvPr/>
          </p:nvSpPr>
          <p:spPr>
            <a:xfrm>
              <a:off x="9553575" y="4667253"/>
              <a:ext cx="7705725" cy="704850"/>
            </a:xfrm>
            <a:custGeom>
              <a:avLst/>
              <a:gdLst/>
              <a:ahLst/>
              <a:cxnLst/>
              <a:rect l="l" t="t" r="r" b="b"/>
              <a:pathLst>
                <a:path w="7705725" h="704850">
                  <a:moveTo>
                    <a:pt x="7598931" y="70484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7598931" y="0"/>
                  </a:lnTo>
                  <a:lnTo>
                    <a:pt x="7606360" y="733"/>
                  </a:lnTo>
                  <a:lnTo>
                    <a:pt x="7648680" y="15097"/>
                  </a:lnTo>
                  <a:lnTo>
                    <a:pt x="7682294" y="44557"/>
                  </a:lnTo>
                  <a:lnTo>
                    <a:pt x="7702058" y="84639"/>
                  </a:lnTo>
                  <a:lnTo>
                    <a:pt x="7705725" y="106794"/>
                  </a:lnTo>
                  <a:lnTo>
                    <a:pt x="7705725" y="598055"/>
                  </a:lnTo>
                  <a:lnTo>
                    <a:pt x="7694152" y="641213"/>
                  </a:lnTo>
                  <a:lnTo>
                    <a:pt x="7666939" y="676684"/>
                  </a:lnTo>
                  <a:lnTo>
                    <a:pt x="7628230" y="699020"/>
                  </a:lnTo>
                  <a:lnTo>
                    <a:pt x="7598931" y="704840"/>
                  </a:lnTo>
                  <a:close/>
                </a:path>
              </a:pathLst>
            </a:custGeom>
            <a:solidFill>
              <a:srgbClr val="F0F5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34525" y="4667250"/>
              <a:ext cx="38100" cy="704850"/>
            </a:xfrm>
            <a:custGeom>
              <a:avLst/>
              <a:gdLst/>
              <a:ahLst/>
              <a:cxnLst/>
              <a:rect l="l" t="t" r="r" b="b"/>
              <a:pathLst>
                <a:path w="38100" h="704850">
                  <a:moveTo>
                    <a:pt x="38100" y="70485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04850"/>
                  </a:lnTo>
                  <a:close/>
                </a:path>
              </a:pathLst>
            </a:custGeom>
            <a:solidFill>
              <a:srgbClr val="0284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745662" y="4782228"/>
            <a:ext cx="7209155" cy="4624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8300"/>
              </a:lnSpc>
              <a:spcBef>
                <a:spcPts val="120"/>
              </a:spcBef>
            </a:pPr>
            <a:r>
              <a:rPr sz="1400" b="1" dirty="0">
                <a:solidFill>
                  <a:srgbClr val="0F162A"/>
                </a:solidFill>
                <a:latin typeface="Century Gothic"/>
                <a:cs typeface="Century Gothic"/>
              </a:rPr>
              <a:t>Aplicação Prática: </a:t>
            </a:r>
            <a:r>
              <a:rPr sz="1400" i="1" dirty="0">
                <a:solidFill>
                  <a:srgbClr val="0F162A"/>
                </a:solidFill>
                <a:latin typeface="Century Gothic"/>
                <a:cs typeface="Century Gothic"/>
              </a:rPr>
              <a:t>"O senhor cuida tanto da sua saúde... por que deixar seus olhos trabalhando sobrecarregados no limite todos os dias?"</a:t>
            </a:r>
            <a:endParaRPr sz="1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42543" y="5599176"/>
            <a:ext cx="8754110" cy="4060190"/>
            <a:chOff x="542543" y="5599176"/>
            <a:chExt cx="8754110" cy="4060190"/>
          </a:xfrm>
        </p:grpSpPr>
        <p:sp>
          <p:nvSpPr>
            <p:cNvPr id="30" name="object 30"/>
            <p:cNvSpPr/>
            <p:nvPr/>
          </p:nvSpPr>
          <p:spPr>
            <a:xfrm>
              <a:off x="542543" y="5599176"/>
              <a:ext cx="8754110" cy="4060190"/>
            </a:xfrm>
            <a:custGeom>
              <a:avLst/>
              <a:gdLst/>
              <a:ahLst/>
              <a:cxnLst/>
              <a:rect l="l" t="t" r="r" b="b"/>
              <a:pathLst>
                <a:path w="8754110" h="4060190">
                  <a:moveTo>
                    <a:pt x="8753855" y="4059935"/>
                  </a:moveTo>
                  <a:lnTo>
                    <a:pt x="0" y="4059935"/>
                  </a:lnTo>
                  <a:lnTo>
                    <a:pt x="0" y="0"/>
                  </a:lnTo>
                  <a:lnTo>
                    <a:pt x="8753855" y="0"/>
                  </a:lnTo>
                  <a:lnTo>
                    <a:pt x="8753855" y="239648"/>
                  </a:lnTo>
                  <a:lnTo>
                    <a:pt x="419480" y="239648"/>
                  </a:lnTo>
                  <a:lnTo>
                    <a:pt x="405406" y="240328"/>
                  </a:lnTo>
                  <a:lnTo>
                    <a:pt x="364805" y="250524"/>
                  </a:lnTo>
                  <a:lnTo>
                    <a:pt x="328885" y="272024"/>
                  </a:lnTo>
                  <a:lnTo>
                    <a:pt x="300662" y="303131"/>
                  </a:lnTo>
                  <a:lnTo>
                    <a:pt x="282722" y="341109"/>
                  </a:lnTo>
                  <a:lnTo>
                    <a:pt x="276605" y="382523"/>
                  </a:lnTo>
                  <a:lnTo>
                    <a:pt x="276605" y="3601973"/>
                  </a:lnTo>
                  <a:lnTo>
                    <a:pt x="282722" y="3643385"/>
                  </a:lnTo>
                  <a:lnTo>
                    <a:pt x="300662" y="3681365"/>
                  </a:lnTo>
                  <a:lnTo>
                    <a:pt x="328885" y="3712472"/>
                  </a:lnTo>
                  <a:lnTo>
                    <a:pt x="364805" y="3733970"/>
                  </a:lnTo>
                  <a:lnTo>
                    <a:pt x="405406" y="3744168"/>
                  </a:lnTo>
                  <a:lnTo>
                    <a:pt x="419480" y="3744848"/>
                  </a:lnTo>
                  <a:lnTo>
                    <a:pt x="8753855" y="3744848"/>
                  </a:lnTo>
                  <a:lnTo>
                    <a:pt x="8753855" y="4059935"/>
                  </a:lnTo>
                  <a:close/>
                </a:path>
                <a:path w="8754110" h="4060190">
                  <a:moveTo>
                    <a:pt x="8753855" y="3744848"/>
                  </a:moveTo>
                  <a:lnTo>
                    <a:pt x="8334755" y="3744848"/>
                  </a:lnTo>
                  <a:lnTo>
                    <a:pt x="8348830" y="3744168"/>
                  </a:lnTo>
                  <a:lnTo>
                    <a:pt x="8362633" y="3742128"/>
                  </a:lnTo>
                  <a:lnTo>
                    <a:pt x="8402174" y="3727956"/>
                  </a:lnTo>
                  <a:lnTo>
                    <a:pt x="8435781" y="3702999"/>
                  </a:lnTo>
                  <a:lnTo>
                    <a:pt x="8460738" y="3669392"/>
                  </a:lnTo>
                  <a:lnTo>
                    <a:pt x="8474910" y="3629852"/>
                  </a:lnTo>
                  <a:lnTo>
                    <a:pt x="8477630" y="3601973"/>
                  </a:lnTo>
                  <a:lnTo>
                    <a:pt x="8477630" y="382523"/>
                  </a:lnTo>
                  <a:lnTo>
                    <a:pt x="8471511" y="341109"/>
                  </a:lnTo>
                  <a:lnTo>
                    <a:pt x="8453572" y="303131"/>
                  </a:lnTo>
                  <a:lnTo>
                    <a:pt x="8425349" y="272024"/>
                  </a:lnTo>
                  <a:lnTo>
                    <a:pt x="8389430" y="250524"/>
                  </a:lnTo>
                  <a:lnTo>
                    <a:pt x="8348830" y="240328"/>
                  </a:lnTo>
                  <a:lnTo>
                    <a:pt x="8334755" y="239648"/>
                  </a:lnTo>
                  <a:lnTo>
                    <a:pt x="8753855" y="239648"/>
                  </a:lnTo>
                  <a:lnTo>
                    <a:pt x="8753855" y="3744848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8199" y="5834062"/>
              <a:ext cx="8187055" cy="3514725"/>
            </a:xfrm>
            <a:custGeom>
              <a:avLst/>
              <a:gdLst/>
              <a:ahLst/>
              <a:cxnLst/>
              <a:rect l="l" t="t" r="r" b="b"/>
              <a:pathLst>
                <a:path w="8187055" h="3514725">
                  <a:moveTo>
                    <a:pt x="8039100" y="3514725"/>
                  </a:moveTo>
                  <a:lnTo>
                    <a:pt x="115690" y="3514725"/>
                  </a:lnTo>
                  <a:lnTo>
                    <a:pt x="107642" y="3513772"/>
                  </a:lnTo>
                  <a:lnTo>
                    <a:pt x="68922" y="3499770"/>
                  </a:lnTo>
                  <a:lnTo>
                    <a:pt x="36271" y="3471481"/>
                  </a:lnTo>
                  <a:lnTo>
                    <a:pt x="14620" y="3436674"/>
                  </a:lnTo>
                  <a:lnTo>
                    <a:pt x="2381" y="3395881"/>
                  </a:lnTo>
                  <a:lnTo>
                    <a:pt x="0" y="3367087"/>
                  </a:lnTo>
                  <a:lnTo>
                    <a:pt x="0" y="147637"/>
                  </a:lnTo>
                  <a:lnTo>
                    <a:pt x="5330" y="104772"/>
                  </a:lnTo>
                  <a:lnTo>
                    <a:pt x="20869" y="65598"/>
                  </a:lnTo>
                  <a:lnTo>
                    <a:pt x="45271" y="33497"/>
                  </a:lnTo>
                  <a:lnTo>
                    <a:pt x="83953" y="7515"/>
                  </a:lnTo>
                  <a:lnTo>
                    <a:pt x="115690" y="0"/>
                  </a:lnTo>
                  <a:lnTo>
                    <a:pt x="8039100" y="0"/>
                  </a:lnTo>
                  <a:lnTo>
                    <a:pt x="8081955" y="6343"/>
                  </a:lnTo>
                  <a:lnTo>
                    <a:pt x="8121119" y="24869"/>
                  </a:lnTo>
                  <a:lnTo>
                    <a:pt x="8153226" y="53956"/>
                  </a:lnTo>
                  <a:lnTo>
                    <a:pt x="8175498" y="91125"/>
                  </a:lnTo>
                  <a:lnTo>
                    <a:pt x="8186029" y="133160"/>
                  </a:lnTo>
                  <a:lnTo>
                    <a:pt x="8186737" y="147637"/>
                  </a:lnTo>
                  <a:lnTo>
                    <a:pt x="8186737" y="3367087"/>
                  </a:lnTo>
                  <a:lnTo>
                    <a:pt x="8180384" y="3409934"/>
                  </a:lnTo>
                  <a:lnTo>
                    <a:pt x="8161858" y="3449107"/>
                  </a:lnTo>
                  <a:lnTo>
                    <a:pt x="8132756" y="3481213"/>
                  </a:lnTo>
                  <a:lnTo>
                    <a:pt x="8095592" y="3503475"/>
                  </a:lnTo>
                  <a:lnTo>
                    <a:pt x="8053573" y="3514013"/>
                  </a:lnTo>
                  <a:lnTo>
                    <a:pt x="8039100" y="3514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97064" y="5829312"/>
              <a:ext cx="8133080" cy="3524250"/>
            </a:xfrm>
            <a:custGeom>
              <a:avLst/>
              <a:gdLst/>
              <a:ahLst/>
              <a:cxnLst/>
              <a:rect l="l" t="t" r="r" b="b"/>
              <a:pathLst>
                <a:path w="8133080" h="3524250">
                  <a:moveTo>
                    <a:pt x="8132635" y="152387"/>
                  </a:moveTo>
                  <a:lnTo>
                    <a:pt x="8126108" y="108216"/>
                  </a:lnTo>
                  <a:lnTo>
                    <a:pt x="8106969" y="67703"/>
                  </a:lnTo>
                  <a:lnTo>
                    <a:pt x="8088439" y="45135"/>
                  </a:lnTo>
                  <a:lnTo>
                    <a:pt x="8087995" y="44640"/>
                  </a:lnTo>
                  <a:lnTo>
                    <a:pt x="8076857" y="34531"/>
                  </a:lnTo>
                  <a:lnTo>
                    <a:pt x="8064919" y="25654"/>
                  </a:lnTo>
                  <a:lnTo>
                    <a:pt x="8052143" y="18008"/>
                  </a:lnTo>
                  <a:lnTo>
                    <a:pt x="8038554" y="11595"/>
                  </a:lnTo>
                  <a:lnTo>
                    <a:pt x="8032763" y="9525"/>
                  </a:lnTo>
                  <a:lnTo>
                    <a:pt x="8024406" y="6527"/>
                  </a:lnTo>
                  <a:lnTo>
                    <a:pt x="8009966" y="2895"/>
                  </a:lnTo>
                  <a:lnTo>
                    <a:pt x="7995247" y="723"/>
                  </a:lnTo>
                  <a:lnTo>
                    <a:pt x="7980235" y="0"/>
                  </a:lnTo>
                  <a:lnTo>
                    <a:pt x="64960" y="0"/>
                  </a:lnTo>
                  <a:lnTo>
                    <a:pt x="20777" y="6527"/>
                  </a:lnTo>
                  <a:lnTo>
                    <a:pt x="0" y="14732"/>
                  </a:lnTo>
                  <a:lnTo>
                    <a:pt x="29806" y="19697"/>
                  </a:lnTo>
                  <a:lnTo>
                    <a:pt x="37350" y="15633"/>
                  </a:lnTo>
                  <a:lnTo>
                    <a:pt x="46367" y="12242"/>
                  </a:lnTo>
                  <a:lnTo>
                    <a:pt x="55575" y="10198"/>
                  </a:lnTo>
                  <a:lnTo>
                    <a:pt x="64960" y="9525"/>
                  </a:lnTo>
                  <a:lnTo>
                    <a:pt x="7980235" y="9525"/>
                  </a:lnTo>
                  <a:lnTo>
                    <a:pt x="8021637" y="15633"/>
                  </a:lnTo>
                  <a:lnTo>
                    <a:pt x="8059623" y="33578"/>
                  </a:lnTo>
                  <a:lnTo>
                    <a:pt x="8090725" y="61798"/>
                  </a:lnTo>
                  <a:lnTo>
                    <a:pt x="8112226" y="97713"/>
                  </a:lnTo>
                  <a:lnTo>
                    <a:pt x="8122425" y="138315"/>
                  </a:lnTo>
                  <a:lnTo>
                    <a:pt x="8123110" y="152387"/>
                  </a:lnTo>
                  <a:lnTo>
                    <a:pt x="8123110" y="3371837"/>
                  </a:lnTo>
                  <a:lnTo>
                    <a:pt x="8116989" y="3413252"/>
                  </a:lnTo>
                  <a:lnTo>
                    <a:pt x="8099044" y="3451237"/>
                  </a:lnTo>
                  <a:lnTo>
                    <a:pt x="8081251" y="3472865"/>
                  </a:lnTo>
                  <a:lnTo>
                    <a:pt x="8047647" y="3497834"/>
                  </a:lnTo>
                  <a:lnTo>
                    <a:pt x="8008112" y="3512007"/>
                  </a:lnTo>
                  <a:lnTo>
                    <a:pt x="7980235" y="3514725"/>
                  </a:lnTo>
                  <a:lnTo>
                    <a:pt x="64960" y="3514725"/>
                  </a:lnTo>
                  <a:lnTo>
                    <a:pt x="55575" y="3514039"/>
                  </a:lnTo>
                  <a:lnTo>
                    <a:pt x="46367" y="3512007"/>
                  </a:lnTo>
                  <a:lnTo>
                    <a:pt x="37350" y="3508603"/>
                  </a:lnTo>
                  <a:lnTo>
                    <a:pt x="29806" y="3504539"/>
                  </a:lnTo>
                  <a:lnTo>
                    <a:pt x="0" y="3509518"/>
                  </a:lnTo>
                  <a:lnTo>
                    <a:pt x="49936" y="3523526"/>
                  </a:lnTo>
                  <a:lnTo>
                    <a:pt x="64960" y="3524250"/>
                  </a:lnTo>
                  <a:lnTo>
                    <a:pt x="7980235" y="3524250"/>
                  </a:lnTo>
                  <a:lnTo>
                    <a:pt x="8024393" y="3517722"/>
                  </a:lnTo>
                  <a:lnTo>
                    <a:pt x="8064906" y="3498583"/>
                  </a:lnTo>
                  <a:lnTo>
                    <a:pt x="8088439" y="3479114"/>
                  </a:lnTo>
                  <a:lnTo>
                    <a:pt x="8098091" y="3468471"/>
                  </a:lnTo>
                  <a:lnTo>
                    <a:pt x="8121028" y="3430168"/>
                  </a:lnTo>
                  <a:lnTo>
                    <a:pt x="8131899" y="3386861"/>
                  </a:lnTo>
                  <a:lnTo>
                    <a:pt x="8132635" y="3371837"/>
                  </a:lnTo>
                  <a:lnTo>
                    <a:pt x="8132635" y="152387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09625" y="5843915"/>
              <a:ext cx="117475" cy="3495040"/>
            </a:xfrm>
            <a:custGeom>
              <a:avLst/>
              <a:gdLst/>
              <a:ahLst/>
              <a:cxnLst/>
              <a:rect l="l" t="t" r="r" b="b"/>
              <a:pathLst>
                <a:path w="117475" h="3495040">
                  <a:moveTo>
                    <a:pt x="87694" y="3495019"/>
                  </a:moveTo>
                  <a:lnTo>
                    <a:pt x="44637" y="3464996"/>
                  </a:lnTo>
                  <a:lnTo>
                    <a:pt x="18015" y="3429145"/>
                  </a:lnTo>
                  <a:lnTo>
                    <a:pt x="2900" y="3386970"/>
                  </a:lnTo>
                  <a:lnTo>
                    <a:pt x="0" y="3357234"/>
                  </a:lnTo>
                  <a:lnTo>
                    <a:pt x="0" y="137784"/>
                  </a:lnTo>
                  <a:lnTo>
                    <a:pt x="6525" y="93610"/>
                  </a:lnTo>
                  <a:lnTo>
                    <a:pt x="25659" y="53099"/>
                  </a:lnTo>
                  <a:lnTo>
                    <a:pt x="55765" y="19917"/>
                  </a:lnTo>
                  <a:lnTo>
                    <a:pt x="87689" y="0"/>
                  </a:lnTo>
                  <a:lnTo>
                    <a:pt x="117473" y="4964"/>
                  </a:lnTo>
                  <a:lnTo>
                    <a:pt x="115948" y="5784"/>
                  </a:lnTo>
                  <a:lnTo>
                    <a:pt x="107454" y="11798"/>
                  </a:lnTo>
                  <a:lnTo>
                    <a:pt x="78734" y="47188"/>
                  </a:lnTo>
                  <a:lnTo>
                    <a:pt x="64401" y="83106"/>
                  </a:lnTo>
                  <a:lnTo>
                    <a:pt x="57603" y="123709"/>
                  </a:lnTo>
                  <a:lnTo>
                    <a:pt x="57149" y="137784"/>
                  </a:lnTo>
                  <a:lnTo>
                    <a:pt x="57149" y="3357234"/>
                  </a:lnTo>
                  <a:lnTo>
                    <a:pt x="61228" y="3398645"/>
                  </a:lnTo>
                  <a:lnTo>
                    <a:pt x="73188" y="3436625"/>
                  </a:lnTo>
                  <a:lnTo>
                    <a:pt x="99472" y="3476050"/>
                  </a:lnTo>
                  <a:lnTo>
                    <a:pt x="117480" y="3490055"/>
                  </a:lnTo>
                  <a:lnTo>
                    <a:pt x="87694" y="3495019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76325" y="60483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52650" y="323850"/>
                  </a:moveTo>
                  <a:lnTo>
                    <a:pt x="71199" y="323850"/>
                  </a:lnTo>
                  <a:lnTo>
                    <a:pt x="66236" y="323354"/>
                  </a:lnTo>
                  <a:lnTo>
                    <a:pt x="29708" y="308219"/>
                  </a:lnTo>
                  <a:lnTo>
                    <a:pt x="3886" y="272176"/>
                  </a:lnTo>
                  <a:lnTo>
                    <a:pt x="0" y="252650"/>
                  </a:lnTo>
                  <a:lnTo>
                    <a:pt x="0" y="247650"/>
                  </a:lnTo>
                  <a:lnTo>
                    <a:pt x="0" y="71199"/>
                  </a:lnTo>
                  <a:lnTo>
                    <a:pt x="15621" y="29689"/>
                  </a:lnTo>
                  <a:lnTo>
                    <a:pt x="51663" y="3876"/>
                  </a:lnTo>
                  <a:lnTo>
                    <a:pt x="71199" y="0"/>
                  </a:lnTo>
                  <a:lnTo>
                    <a:pt x="252650" y="0"/>
                  </a:lnTo>
                  <a:lnTo>
                    <a:pt x="294141" y="15611"/>
                  </a:lnTo>
                  <a:lnTo>
                    <a:pt x="319963" y="51654"/>
                  </a:lnTo>
                  <a:lnTo>
                    <a:pt x="323850" y="71199"/>
                  </a:lnTo>
                  <a:lnTo>
                    <a:pt x="323850" y="252650"/>
                  </a:lnTo>
                  <a:lnTo>
                    <a:pt x="308229" y="294141"/>
                  </a:lnTo>
                  <a:lnTo>
                    <a:pt x="272186" y="319954"/>
                  </a:lnTo>
                  <a:lnTo>
                    <a:pt x="257613" y="323354"/>
                  </a:lnTo>
                  <a:lnTo>
                    <a:pt x="252650" y="323850"/>
                  </a:lnTo>
                  <a:close/>
                </a:path>
              </a:pathLst>
            </a:custGeom>
            <a:solidFill>
              <a:srgbClr val="FDF3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77924" y="6060907"/>
            <a:ext cx="4550281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5915" algn="l"/>
              </a:tabLst>
            </a:pPr>
            <a:r>
              <a:rPr sz="1350" b="1" dirty="0">
                <a:solidFill>
                  <a:srgbClr val="B45308"/>
                </a:solidFill>
                <a:latin typeface="Arial"/>
                <a:cs typeface="Arial"/>
              </a:rPr>
              <a:t>3	</a:t>
            </a:r>
            <a:r>
              <a:rPr sz="1500" b="1" dirty="0">
                <a:solidFill>
                  <a:srgbClr val="F59E0A"/>
                </a:solidFill>
                <a:latin typeface="Arial"/>
                <a:cs typeface="Arial"/>
              </a:rPr>
              <a:t>A Metáfora Racional (Câmera Autofoco)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63625" y="7263004"/>
            <a:ext cx="5779135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A mente só compra aquilo que ela consegue visualizar e entender em menos de 10 segundos.</a:t>
            </a:r>
            <a:endParaRPr sz="1600">
              <a:latin typeface="Century Gothic"/>
              <a:cs typeface="Century Gothic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76325" y="8429625"/>
            <a:ext cx="7734300" cy="704850"/>
            <a:chOff x="1076325" y="8429625"/>
            <a:chExt cx="7734300" cy="704850"/>
          </a:xfrm>
        </p:grpSpPr>
        <p:sp>
          <p:nvSpPr>
            <p:cNvPr id="38" name="object 38"/>
            <p:cNvSpPr/>
            <p:nvPr/>
          </p:nvSpPr>
          <p:spPr>
            <a:xfrm>
              <a:off x="1095375" y="8429629"/>
              <a:ext cx="7715250" cy="704850"/>
            </a:xfrm>
            <a:custGeom>
              <a:avLst/>
              <a:gdLst/>
              <a:ahLst/>
              <a:cxnLst/>
              <a:rect l="l" t="t" r="r" b="b"/>
              <a:pathLst>
                <a:path w="7715250" h="704850">
                  <a:moveTo>
                    <a:pt x="7608456" y="70484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7608456" y="0"/>
                  </a:lnTo>
                  <a:lnTo>
                    <a:pt x="7615885" y="733"/>
                  </a:lnTo>
                  <a:lnTo>
                    <a:pt x="7658214" y="15097"/>
                  </a:lnTo>
                  <a:lnTo>
                    <a:pt x="7691819" y="44548"/>
                  </a:lnTo>
                  <a:lnTo>
                    <a:pt x="7711593" y="84639"/>
                  </a:lnTo>
                  <a:lnTo>
                    <a:pt x="7715250" y="106794"/>
                  </a:lnTo>
                  <a:lnTo>
                    <a:pt x="7715250" y="598046"/>
                  </a:lnTo>
                  <a:lnTo>
                    <a:pt x="7703677" y="641194"/>
                  </a:lnTo>
                  <a:lnTo>
                    <a:pt x="7676464" y="676675"/>
                  </a:lnTo>
                  <a:lnTo>
                    <a:pt x="7637755" y="699011"/>
                  </a:lnTo>
                  <a:lnTo>
                    <a:pt x="7608456" y="704840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76325" y="8429625"/>
              <a:ext cx="38100" cy="704850"/>
            </a:xfrm>
            <a:custGeom>
              <a:avLst/>
              <a:gdLst/>
              <a:ahLst/>
              <a:cxnLst/>
              <a:rect l="l" t="t" r="r" b="b"/>
              <a:pathLst>
                <a:path w="38100" h="704850">
                  <a:moveTo>
                    <a:pt x="38100" y="70485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04850"/>
                  </a:lnTo>
                  <a:close/>
                </a:path>
              </a:pathLst>
            </a:custGeom>
            <a:solidFill>
              <a:srgbClr val="F59E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292225" y="8558251"/>
            <a:ext cx="7319009" cy="42164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Aplicação Prática: 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A metáfora da câmera com autofoco mecânico versus o olho com tecidos vivos desarma qualquer dúvida sobre a necessidade real da lente.</a:t>
            </a:r>
            <a:endParaRPr sz="1250">
              <a:latin typeface="Century Gothic"/>
              <a:cs typeface="Century Gothic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000743" y="5599176"/>
            <a:ext cx="8745220" cy="4060190"/>
            <a:chOff x="9000743" y="5599176"/>
            <a:chExt cx="8745220" cy="4060190"/>
          </a:xfrm>
        </p:grpSpPr>
        <p:sp>
          <p:nvSpPr>
            <p:cNvPr id="42" name="object 42"/>
            <p:cNvSpPr/>
            <p:nvPr/>
          </p:nvSpPr>
          <p:spPr>
            <a:xfrm>
              <a:off x="9000743" y="5599176"/>
              <a:ext cx="8745220" cy="4060190"/>
            </a:xfrm>
            <a:custGeom>
              <a:avLst/>
              <a:gdLst/>
              <a:ahLst/>
              <a:cxnLst/>
              <a:rect l="l" t="t" r="r" b="b"/>
              <a:pathLst>
                <a:path w="8745219" h="4060190">
                  <a:moveTo>
                    <a:pt x="8744711" y="4059935"/>
                  </a:moveTo>
                  <a:lnTo>
                    <a:pt x="0" y="4059935"/>
                  </a:lnTo>
                  <a:lnTo>
                    <a:pt x="0" y="0"/>
                  </a:lnTo>
                  <a:lnTo>
                    <a:pt x="8744711" y="0"/>
                  </a:lnTo>
                  <a:lnTo>
                    <a:pt x="8744711" y="239648"/>
                  </a:lnTo>
                  <a:lnTo>
                    <a:pt x="419480" y="239648"/>
                  </a:lnTo>
                  <a:lnTo>
                    <a:pt x="405406" y="240328"/>
                  </a:lnTo>
                  <a:lnTo>
                    <a:pt x="364805" y="250524"/>
                  </a:lnTo>
                  <a:lnTo>
                    <a:pt x="328885" y="272024"/>
                  </a:lnTo>
                  <a:lnTo>
                    <a:pt x="300661" y="303131"/>
                  </a:lnTo>
                  <a:lnTo>
                    <a:pt x="282722" y="341109"/>
                  </a:lnTo>
                  <a:lnTo>
                    <a:pt x="276605" y="382523"/>
                  </a:lnTo>
                  <a:lnTo>
                    <a:pt x="276605" y="3601973"/>
                  </a:lnTo>
                  <a:lnTo>
                    <a:pt x="282722" y="3643385"/>
                  </a:lnTo>
                  <a:lnTo>
                    <a:pt x="300661" y="3681365"/>
                  </a:lnTo>
                  <a:lnTo>
                    <a:pt x="328885" y="3712472"/>
                  </a:lnTo>
                  <a:lnTo>
                    <a:pt x="364805" y="3733970"/>
                  </a:lnTo>
                  <a:lnTo>
                    <a:pt x="405406" y="3744168"/>
                  </a:lnTo>
                  <a:lnTo>
                    <a:pt x="419480" y="3744848"/>
                  </a:lnTo>
                  <a:lnTo>
                    <a:pt x="8744711" y="3744848"/>
                  </a:lnTo>
                  <a:lnTo>
                    <a:pt x="8744711" y="4059935"/>
                  </a:lnTo>
                  <a:close/>
                </a:path>
                <a:path w="8745219" h="4060190">
                  <a:moveTo>
                    <a:pt x="8744711" y="3744848"/>
                  </a:moveTo>
                  <a:lnTo>
                    <a:pt x="8325230" y="3744848"/>
                  </a:lnTo>
                  <a:lnTo>
                    <a:pt x="8339303" y="3744168"/>
                  </a:lnTo>
                  <a:lnTo>
                    <a:pt x="8353107" y="3742128"/>
                  </a:lnTo>
                  <a:lnTo>
                    <a:pt x="8392647" y="3727956"/>
                  </a:lnTo>
                  <a:lnTo>
                    <a:pt x="8426256" y="3702999"/>
                  </a:lnTo>
                  <a:lnTo>
                    <a:pt x="8451212" y="3669392"/>
                  </a:lnTo>
                  <a:lnTo>
                    <a:pt x="8465385" y="3629852"/>
                  </a:lnTo>
                  <a:lnTo>
                    <a:pt x="8468105" y="3601973"/>
                  </a:lnTo>
                  <a:lnTo>
                    <a:pt x="8468105" y="382523"/>
                  </a:lnTo>
                  <a:lnTo>
                    <a:pt x="8461986" y="341109"/>
                  </a:lnTo>
                  <a:lnTo>
                    <a:pt x="8444046" y="303131"/>
                  </a:lnTo>
                  <a:lnTo>
                    <a:pt x="8415824" y="272024"/>
                  </a:lnTo>
                  <a:lnTo>
                    <a:pt x="8379905" y="250524"/>
                  </a:lnTo>
                  <a:lnTo>
                    <a:pt x="8339303" y="240328"/>
                  </a:lnTo>
                  <a:lnTo>
                    <a:pt x="8325230" y="239648"/>
                  </a:lnTo>
                  <a:lnTo>
                    <a:pt x="8744711" y="239648"/>
                  </a:lnTo>
                  <a:lnTo>
                    <a:pt x="8744711" y="3744848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296399" y="5834062"/>
              <a:ext cx="8177530" cy="3514725"/>
            </a:xfrm>
            <a:custGeom>
              <a:avLst/>
              <a:gdLst/>
              <a:ahLst/>
              <a:cxnLst/>
              <a:rect l="l" t="t" r="r" b="b"/>
              <a:pathLst>
                <a:path w="8177530" h="3514725">
                  <a:moveTo>
                    <a:pt x="8029575" y="3514725"/>
                  </a:moveTo>
                  <a:lnTo>
                    <a:pt x="115690" y="3514725"/>
                  </a:lnTo>
                  <a:lnTo>
                    <a:pt x="107642" y="3513772"/>
                  </a:lnTo>
                  <a:lnTo>
                    <a:pt x="68922" y="3499770"/>
                  </a:lnTo>
                  <a:lnTo>
                    <a:pt x="36271" y="3471481"/>
                  </a:lnTo>
                  <a:lnTo>
                    <a:pt x="14620" y="3436674"/>
                  </a:lnTo>
                  <a:lnTo>
                    <a:pt x="2381" y="3395881"/>
                  </a:lnTo>
                  <a:lnTo>
                    <a:pt x="0" y="3367087"/>
                  </a:lnTo>
                  <a:lnTo>
                    <a:pt x="0" y="147637"/>
                  </a:lnTo>
                  <a:lnTo>
                    <a:pt x="5330" y="104772"/>
                  </a:lnTo>
                  <a:lnTo>
                    <a:pt x="20869" y="65598"/>
                  </a:lnTo>
                  <a:lnTo>
                    <a:pt x="45269" y="33497"/>
                  </a:lnTo>
                  <a:lnTo>
                    <a:pt x="83953" y="7515"/>
                  </a:lnTo>
                  <a:lnTo>
                    <a:pt x="115690" y="0"/>
                  </a:lnTo>
                  <a:lnTo>
                    <a:pt x="8029575" y="0"/>
                  </a:lnTo>
                  <a:lnTo>
                    <a:pt x="8072430" y="6343"/>
                  </a:lnTo>
                  <a:lnTo>
                    <a:pt x="8111594" y="24869"/>
                  </a:lnTo>
                  <a:lnTo>
                    <a:pt x="8143701" y="53956"/>
                  </a:lnTo>
                  <a:lnTo>
                    <a:pt x="8165973" y="91125"/>
                  </a:lnTo>
                  <a:lnTo>
                    <a:pt x="8176504" y="133160"/>
                  </a:lnTo>
                  <a:lnTo>
                    <a:pt x="8177212" y="147637"/>
                  </a:lnTo>
                  <a:lnTo>
                    <a:pt x="8177212" y="3367087"/>
                  </a:lnTo>
                  <a:lnTo>
                    <a:pt x="8170852" y="3409934"/>
                  </a:lnTo>
                  <a:lnTo>
                    <a:pt x="8152333" y="3449107"/>
                  </a:lnTo>
                  <a:lnTo>
                    <a:pt x="8123231" y="3481213"/>
                  </a:lnTo>
                  <a:lnTo>
                    <a:pt x="8086067" y="3503475"/>
                  </a:lnTo>
                  <a:lnTo>
                    <a:pt x="8044048" y="3514013"/>
                  </a:lnTo>
                  <a:lnTo>
                    <a:pt x="8029575" y="3514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355264" y="5829312"/>
              <a:ext cx="8123555" cy="3524250"/>
            </a:xfrm>
            <a:custGeom>
              <a:avLst/>
              <a:gdLst/>
              <a:ahLst/>
              <a:cxnLst/>
              <a:rect l="l" t="t" r="r" b="b"/>
              <a:pathLst>
                <a:path w="8123555" h="3524250">
                  <a:moveTo>
                    <a:pt x="8123110" y="152387"/>
                  </a:moveTo>
                  <a:lnTo>
                    <a:pt x="8116570" y="108216"/>
                  </a:lnTo>
                  <a:lnTo>
                    <a:pt x="8097444" y="67703"/>
                  </a:lnTo>
                  <a:lnTo>
                    <a:pt x="8078914" y="45135"/>
                  </a:lnTo>
                  <a:lnTo>
                    <a:pt x="8078470" y="44640"/>
                  </a:lnTo>
                  <a:lnTo>
                    <a:pt x="8067345" y="34531"/>
                  </a:lnTo>
                  <a:lnTo>
                    <a:pt x="8055394" y="25654"/>
                  </a:lnTo>
                  <a:lnTo>
                    <a:pt x="8042618" y="18008"/>
                  </a:lnTo>
                  <a:lnTo>
                    <a:pt x="8029016" y="11595"/>
                  </a:lnTo>
                  <a:lnTo>
                    <a:pt x="8023238" y="9525"/>
                  </a:lnTo>
                  <a:lnTo>
                    <a:pt x="8014881" y="6527"/>
                  </a:lnTo>
                  <a:lnTo>
                    <a:pt x="8000441" y="2895"/>
                  </a:lnTo>
                  <a:lnTo>
                    <a:pt x="7985722" y="723"/>
                  </a:lnTo>
                  <a:lnTo>
                    <a:pt x="7970710" y="0"/>
                  </a:lnTo>
                  <a:lnTo>
                    <a:pt x="64960" y="0"/>
                  </a:lnTo>
                  <a:lnTo>
                    <a:pt x="20777" y="6527"/>
                  </a:lnTo>
                  <a:lnTo>
                    <a:pt x="0" y="14732"/>
                  </a:lnTo>
                  <a:lnTo>
                    <a:pt x="29806" y="19697"/>
                  </a:lnTo>
                  <a:lnTo>
                    <a:pt x="37350" y="15633"/>
                  </a:lnTo>
                  <a:lnTo>
                    <a:pt x="46367" y="12242"/>
                  </a:lnTo>
                  <a:lnTo>
                    <a:pt x="55575" y="10198"/>
                  </a:lnTo>
                  <a:lnTo>
                    <a:pt x="64960" y="9525"/>
                  </a:lnTo>
                  <a:lnTo>
                    <a:pt x="7970710" y="9525"/>
                  </a:lnTo>
                  <a:lnTo>
                    <a:pt x="8012112" y="15633"/>
                  </a:lnTo>
                  <a:lnTo>
                    <a:pt x="8050098" y="33578"/>
                  </a:lnTo>
                  <a:lnTo>
                    <a:pt x="8081200" y="61798"/>
                  </a:lnTo>
                  <a:lnTo>
                    <a:pt x="8102701" y="97713"/>
                  </a:lnTo>
                  <a:lnTo>
                    <a:pt x="8112900" y="138315"/>
                  </a:lnTo>
                  <a:lnTo>
                    <a:pt x="8113585" y="152387"/>
                  </a:lnTo>
                  <a:lnTo>
                    <a:pt x="8113585" y="3371837"/>
                  </a:lnTo>
                  <a:lnTo>
                    <a:pt x="8107464" y="3413252"/>
                  </a:lnTo>
                  <a:lnTo>
                    <a:pt x="8089519" y="3451237"/>
                  </a:lnTo>
                  <a:lnTo>
                    <a:pt x="8071726" y="3472865"/>
                  </a:lnTo>
                  <a:lnTo>
                    <a:pt x="8038122" y="3497834"/>
                  </a:lnTo>
                  <a:lnTo>
                    <a:pt x="7998587" y="3512007"/>
                  </a:lnTo>
                  <a:lnTo>
                    <a:pt x="7970710" y="3514725"/>
                  </a:lnTo>
                  <a:lnTo>
                    <a:pt x="64960" y="3514725"/>
                  </a:lnTo>
                  <a:lnTo>
                    <a:pt x="55575" y="3514039"/>
                  </a:lnTo>
                  <a:lnTo>
                    <a:pt x="46367" y="3512007"/>
                  </a:lnTo>
                  <a:lnTo>
                    <a:pt x="37350" y="3508603"/>
                  </a:lnTo>
                  <a:lnTo>
                    <a:pt x="29806" y="3504539"/>
                  </a:lnTo>
                  <a:lnTo>
                    <a:pt x="0" y="3509518"/>
                  </a:lnTo>
                  <a:lnTo>
                    <a:pt x="49936" y="3523526"/>
                  </a:lnTo>
                  <a:lnTo>
                    <a:pt x="64960" y="3524250"/>
                  </a:lnTo>
                  <a:lnTo>
                    <a:pt x="7970710" y="3524250"/>
                  </a:lnTo>
                  <a:lnTo>
                    <a:pt x="8014868" y="3517722"/>
                  </a:lnTo>
                  <a:lnTo>
                    <a:pt x="8055381" y="3498583"/>
                  </a:lnTo>
                  <a:lnTo>
                    <a:pt x="8078914" y="3479114"/>
                  </a:lnTo>
                  <a:lnTo>
                    <a:pt x="8088566" y="3468471"/>
                  </a:lnTo>
                  <a:lnTo>
                    <a:pt x="8111503" y="3430168"/>
                  </a:lnTo>
                  <a:lnTo>
                    <a:pt x="8122374" y="3386861"/>
                  </a:lnTo>
                  <a:lnTo>
                    <a:pt x="8123110" y="3371837"/>
                  </a:lnTo>
                  <a:lnTo>
                    <a:pt x="8123110" y="152387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267825" y="5843915"/>
              <a:ext cx="117475" cy="3495040"/>
            </a:xfrm>
            <a:custGeom>
              <a:avLst/>
              <a:gdLst/>
              <a:ahLst/>
              <a:cxnLst/>
              <a:rect l="l" t="t" r="r" b="b"/>
              <a:pathLst>
                <a:path w="117475" h="3495040">
                  <a:moveTo>
                    <a:pt x="87693" y="3495019"/>
                  </a:moveTo>
                  <a:lnTo>
                    <a:pt x="44637" y="3464996"/>
                  </a:lnTo>
                  <a:lnTo>
                    <a:pt x="18014" y="3429145"/>
                  </a:lnTo>
                  <a:lnTo>
                    <a:pt x="2900" y="3386970"/>
                  </a:lnTo>
                  <a:lnTo>
                    <a:pt x="0" y="3357234"/>
                  </a:lnTo>
                  <a:lnTo>
                    <a:pt x="0" y="137784"/>
                  </a:lnTo>
                  <a:lnTo>
                    <a:pt x="6525" y="93610"/>
                  </a:lnTo>
                  <a:lnTo>
                    <a:pt x="25659" y="53099"/>
                  </a:lnTo>
                  <a:lnTo>
                    <a:pt x="55765" y="19917"/>
                  </a:lnTo>
                  <a:lnTo>
                    <a:pt x="87689" y="0"/>
                  </a:lnTo>
                  <a:lnTo>
                    <a:pt x="117472" y="4964"/>
                  </a:lnTo>
                  <a:lnTo>
                    <a:pt x="115948" y="5784"/>
                  </a:lnTo>
                  <a:lnTo>
                    <a:pt x="107452" y="11798"/>
                  </a:lnTo>
                  <a:lnTo>
                    <a:pt x="78732" y="47188"/>
                  </a:lnTo>
                  <a:lnTo>
                    <a:pt x="64397" y="83106"/>
                  </a:lnTo>
                  <a:lnTo>
                    <a:pt x="57602" y="123709"/>
                  </a:lnTo>
                  <a:lnTo>
                    <a:pt x="57149" y="137784"/>
                  </a:lnTo>
                  <a:lnTo>
                    <a:pt x="57149" y="3357234"/>
                  </a:lnTo>
                  <a:lnTo>
                    <a:pt x="61227" y="3398645"/>
                  </a:lnTo>
                  <a:lnTo>
                    <a:pt x="73185" y="3436625"/>
                  </a:lnTo>
                  <a:lnTo>
                    <a:pt x="99470" y="3476050"/>
                  </a:lnTo>
                  <a:lnTo>
                    <a:pt x="117480" y="3490055"/>
                  </a:lnTo>
                  <a:lnTo>
                    <a:pt x="87693" y="3495019"/>
                  </a:lnTo>
                  <a:close/>
                </a:path>
              </a:pathLst>
            </a:custGeom>
            <a:solidFill>
              <a:srgbClr val="10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534524" y="6048375"/>
              <a:ext cx="323850" cy="323850"/>
            </a:xfrm>
            <a:custGeom>
              <a:avLst/>
              <a:gdLst/>
              <a:ahLst/>
              <a:cxnLst/>
              <a:rect l="l" t="t" r="r" b="b"/>
              <a:pathLst>
                <a:path w="323850" h="323850">
                  <a:moveTo>
                    <a:pt x="252650" y="323850"/>
                  </a:moveTo>
                  <a:lnTo>
                    <a:pt x="71199" y="323850"/>
                  </a:lnTo>
                  <a:lnTo>
                    <a:pt x="66236" y="323354"/>
                  </a:lnTo>
                  <a:lnTo>
                    <a:pt x="29708" y="308219"/>
                  </a:lnTo>
                  <a:lnTo>
                    <a:pt x="3886" y="272176"/>
                  </a:lnTo>
                  <a:lnTo>
                    <a:pt x="0" y="252650"/>
                  </a:lnTo>
                  <a:lnTo>
                    <a:pt x="0" y="247650"/>
                  </a:lnTo>
                  <a:lnTo>
                    <a:pt x="0" y="71199"/>
                  </a:lnTo>
                  <a:lnTo>
                    <a:pt x="15621" y="29689"/>
                  </a:lnTo>
                  <a:lnTo>
                    <a:pt x="51663" y="3876"/>
                  </a:lnTo>
                  <a:lnTo>
                    <a:pt x="71199" y="0"/>
                  </a:lnTo>
                  <a:lnTo>
                    <a:pt x="252650" y="0"/>
                  </a:lnTo>
                  <a:lnTo>
                    <a:pt x="294141" y="15611"/>
                  </a:lnTo>
                  <a:lnTo>
                    <a:pt x="319963" y="51654"/>
                  </a:lnTo>
                  <a:lnTo>
                    <a:pt x="323850" y="71199"/>
                  </a:lnTo>
                  <a:lnTo>
                    <a:pt x="323850" y="252650"/>
                  </a:lnTo>
                  <a:lnTo>
                    <a:pt x="308229" y="294141"/>
                  </a:lnTo>
                  <a:lnTo>
                    <a:pt x="272186" y="319954"/>
                  </a:lnTo>
                  <a:lnTo>
                    <a:pt x="257603" y="323354"/>
                  </a:lnTo>
                  <a:lnTo>
                    <a:pt x="252650" y="323850"/>
                  </a:lnTo>
                  <a:close/>
                </a:path>
              </a:pathLst>
            </a:custGeom>
            <a:solidFill>
              <a:srgbClr val="DC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9626600" y="6060907"/>
            <a:ext cx="4241800" cy="24686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0995" algn="l"/>
              </a:tabLst>
            </a:pPr>
            <a:r>
              <a:rPr sz="1350" b="1" dirty="0">
                <a:solidFill>
                  <a:srgbClr val="14803C"/>
                </a:solidFill>
                <a:latin typeface="Arial"/>
                <a:cs typeface="Arial"/>
              </a:rPr>
              <a:t>4	</a:t>
            </a:r>
            <a:r>
              <a:rPr sz="1500" b="1" dirty="0">
                <a:solidFill>
                  <a:srgbClr val="10B881"/>
                </a:solidFill>
                <a:latin typeface="Arial"/>
                <a:cs typeface="Arial"/>
              </a:rPr>
              <a:t>O Orgulho da Escolha </a:t>
            </a:r>
            <a:r>
              <a:rPr sz="1500" b="1" dirty="0" err="1">
                <a:solidFill>
                  <a:srgbClr val="10B881"/>
                </a:solidFill>
                <a:latin typeface="Arial"/>
                <a:cs typeface="Arial"/>
              </a:rPr>
              <a:t>Inteligente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517063" y="7263004"/>
            <a:ext cx="6845934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Todo cliente quer estar na vanguarda da tecnologia, mas se </a:t>
            </a:r>
            <a:r>
              <a:rPr lang="pt-BR" sz="1600" dirty="0">
                <a:solidFill>
                  <a:srgbClr val="334154"/>
                </a:solidFill>
                <a:latin typeface="Century Gothic"/>
                <a:cs typeface="Century Gothic"/>
              </a:rPr>
              <a:t>inseguro de</a:t>
            </a:r>
            <a:r>
              <a:rPr sz="1600" dirty="0">
                <a:solidFill>
                  <a:srgbClr val="334154"/>
                </a:solidFill>
                <a:latin typeface="Century Gothic"/>
                <a:cs typeface="Century Gothic"/>
              </a:rPr>
              <a:t> pagar o "pedágio" das marcas de luxo.</a:t>
            </a:r>
            <a:endParaRPr sz="1600" dirty="0">
              <a:latin typeface="Century Gothic"/>
              <a:cs typeface="Century Gothic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534525" y="8429625"/>
            <a:ext cx="7724775" cy="704850"/>
            <a:chOff x="9534525" y="8429625"/>
            <a:chExt cx="7724775" cy="704850"/>
          </a:xfrm>
        </p:grpSpPr>
        <p:sp>
          <p:nvSpPr>
            <p:cNvPr id="50" name="object 50"/>
            <p:cNvSpPr/>
            <p:nvPr/>
          </p:nvSpPr>
          <p:spPr>
            <a:xfrm>
              <a:off x="9553575" y="8429629"/>
              <a:ext cx="7705725" cy="704850"/>
            </a:xfrm>
            <a:custGeom>
              <a:avLst/>
              <a:gdLst/>
              <a:ahLst/>
              <a:cxnLst/>
              <a:rect l="l" t="t" r="r" b="b"/>
              <a:pathLst>
                <a:path w="7705725" h="704850">
                  <a:moveTo>
                    <a:pt x="7598931" y="70484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7598931" y="0"/>
                  </a:lnTo>
                  <a:lnTo>
                    <a:pt x="7606360" y="733"/>
                  </a:lnTo>
                  <a:lnTo>
                    <a:pt x="7648680" y="15097"/>
                  </a:lnTo>
                  <a:lnTo>
                    <a:pt x="7682294" y="44548"/>
                  </a:lnTo>
                  <a:lnTo>
                    <a:pt x="7702058" y="84639"/>
                  </a:lnTo>
                  <a:lnTo>
                    <a:pt x="7705725" y="106794"/>
                  </a:lnTo>
                  <a:lnTo>
                    <a:pt x="7705725" y="598046"/>
                  </a:lnTo>
                  <a:lnTo>
                    <a:pt x="7694152" y="641194"/>
                  </a:lnTo>
                  <a:lnTo>
                    <a:pt x="7666939" y="676675"/>
                  </a:lnTo>
                  <a:lnTo>
                    <a:pt x="7628230" y="699011"/>
                  </a:lnTo>
                  <a:lnTo>
                    <a:pt x="7598931" y="704840"/>
                  </a:lnTo>
                  <a:close/>
                </a:path>
              </a:pathLst>
            </a:custGeom>
            <a:solidFill>
              <a:srgbClr val="EFF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34525" y="8429625"/>
              <a:ext cx="38100" cy="704850"/>
            </a:xfrm>
            <a:custGeom>
              <a:avLst/>
              <a:gdLst/>
              <a:ahLst/>
              <a:cxnLst/>
              <a:rect l="l" t="t" r="r" b="b"/>
              <a:pathLst>
                <a:path w="38100" h="704850">
                  <a:moveTo>
                    <a:pt x="38100" y="704850"/>
                  </a:moveTo>
                  <a:lnTo>
                    <a:pt x="0" y="704850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38100" y="704850"/>
                  </a:lnTo>
                  <a:close/>
                </a:path>
              </a:pathLst>
            </a:custGeom>
            <a:solidFill>
              <a:srgbClr val="10B8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745662" y="8558251"/>
            <a:ext cx="7090409" cy="41165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250" b="1" dirty="0">
                <a:solidFill>
                  <a:srgbClr val="0F162A"/>
                </a:solidFill>
                <a:latin typeface="Century Gothic"/>
                <a:cs typeface="Century Gothic"/>
              </a:rPr>
              <a:t>Aplicação Prática: 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A </a:t>
            </a:r>
            <a:r>
              <a:rPr lang="pt-BR" sz="1250" dirty="0">
                <a:solidFill>
                  <a:srgbClr val="0F162A"/>
                </a:solidFill>
                <a:latin typeface="Century Gothic"/>
                <a:cs typeface="Century Gothic"/>
              </a:rPr>
              <a:t>linha Gold Comfort </a:t>
            </a:r>
            <a:r>
              <a:rPr sz="1250" dirty="0" err="1">
                <a:solidFill>
                  <a:srgbClr val="0F162A"/>
                </a:solidFill>
                <a:latin typeface="Century Gothic"/>
                <a:cs typeface="Century Gothic"/>
              </a:rPr>
              <a:t>dá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 a</a:t>
            </a:r>
            <a:r>
              <a:rPr lang="pt-BR" sz="1250" dirty="0">
                <a:solidFill>
                  <a:srgbClr val="0F162A"/>
                </a:solidFill>
                <a:latin typeface="Century Gothic"/>
                <a:cs typeface="Century Gothic"/>
              </a:rPr>
              <a:t>os clientes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 o prestígio de um </a:t>
            </a:r>
            <a:r>
              <a:rPr sz="1250" dirty="0" err="1">
                <a:solidFill>
                  <a:srgbClr val="0F162A"/>
                </a:solidFill>
                <a:latin typeface="Century Gothic"/>
                <a:cs typeface="Century Gothic"/>
              </a:rPr>
              <a:t>produto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 </a:t>
            </a:r>
            <a:r>
              <a:rPr lang="pt-BR" sz="1250" dirty="0">
                <a:solidFill>
                  <a:srgbClr val="0F162A"/>
                </a:solidFill>
                <a:latin typeface="Century Gothic"/>
                <a:cs typeface="Century Gothic"/>
              </a:rPr>
              <a:t>diferenciado e colocado no mercado </a:t>
            </a:r>
            <a:r>
              <a:rPr sz="1250" dirty="0">
                <a:solidFill>
                  <a:srgbClr val="0F162A"/>
                </a:solidFill>
                <a:latin typeface="Century Gothic"/>
                <a:cs typeface="Century Gothic"/>
              </a:rPr>
              <a:t>por um valor justo e acessível.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96924" y="9491250"/>
            <a:ext cx="31654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5 • Pilares Psicológicos da Venda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56" name="object 3">
            <a:extLst>
              <a:ext uri="{FF2B5EF4-FFF2-40B4-BE49-F238E27FC236}">
                <a16:creationId xmlns:a16="http://schemas.microsoft.com/office/drawing/2014/main" id="{BE6B5266-195F-47BA-B8A2-496FED470F00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57" name="object 4">
              <a:extLst>
                <a:ext uri="{FF2B5EF4-FFF2-40B4-BE49-F238E27FC236}">
                  <a16:creationId xmlns:a16="http://schemas.microsoft.com/office/drawing/2014/main" id="{DD5E1315-0D3C-4C75-A85A-0A0E8FC41C03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">
              <a:extLst>
                <a:ext uri="{FF2B5EF4-FFF2-40B4-BE49-F238E27FC236}">
                  <a16:creationId xmlns:a16="http://schemas.microsoft.com/office/drawing/2014/main" id="{8F6D25E8-F3B2-4D56-9D46-53615695C2ED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6">
            <a:extLst>
              <a:ext uri="{FF2B5EF4-FFF2-40B4-BE49-F238E27FC236}">
                <a16:creationId xmlns:a16="http://schemas.microsoft.com/office/drawing/2014/main" id="{81D48318-4E14-48D5-9A57-56AE1E72F44E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085975" cy="266700"/>
          </a:xfrm>
          <a:custGeom>
            <a:avLst/>
            <a:gdLst/>
            <a:ahLst/>
            <a:cxnLst/>
            <a:rect l="l" t="t" r="r" b="b"/>
            <a:pathLst>
              <a:path w="2085975" h="266700">
                <a:moveTo>
                  <a:pt x="1952625" y="266700"/>
                </a:moveTo>
                <a:lnTo>
                  <a:pt x="133350" y="266700"/>
                </a:lnTo>
                <a:lnTo>
                  <a:pt x="126799" y="266533"/>
                </a:lnTo>
                <a:lnTo>
                  <a:pt x="88432" y="258901"/>
                </a:lnTo>
                <a:lnTo>
                  <a:pt x="53908" y="240445"/>
                </a:lnTo>
                <a:lnTo>
                  <a:pt x="26243" y="212777"/>
                </a:lnTo>
                <a:lnTo>
                  <a:pt x="7792" y="178250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3"/>
                </a:lnTo>
                <a:lnTo>
                  <a:pt x="7792" y="88422"/>
                </a:lnTo>
                <a:lnTo>
                  <a:pt x="26243" y="53898"/>
                </a:lnTo>
                <a:lnTo>
                  <a:pt x="53908" y="26231"/>
                </a:lnTo>
                <a:lnTo>
                  <a:pt x="88432" y="7780"/>
                </a:lnTo>
                <a:lnTo>
                  <a:pt x="126799" y="160"/>
                </a:lnTo>
                <a:lnTo>
                  <a:pt x="133350" y="0"/>
                </a:lnTo>
                <a:lnTo>
                  <a:pt x="1952625" y="0"/>
                </a:lnTo>
                <a:lnTo>
                  <a:pt x="1991334" y="5735"/>
                </a:lnTo>
                <a:lnTo>
                  <a:pt x="2026710" y="22450"/>
                </a:lnTo>
                <a:lnTo>
                  <a:pt x="2055705" y="48746"/>
                </a:lnTo>
                <a:lnTo>
                  <a:pt x="2075821" y="82315"/>
                </a:lnTo>
                <a:lnTo>
                  <a:pt x="2085333" y="120270"/>
                </a:lnTo>
                <a:lnTo>
                  <a:pt x="2085975" y="133350"/>
                </a:lnTo>
                <a:lnTo>
                  <a:pt x="2085814" y="139899"/>
                </a:lnTo>
                <a:lnTo>
                  <a:pt x="2078182" y="178250"/>
                </a:lnTo>
                <a:lnTo>
                  <a:pt x="2059730" y="212777"/>
                </a:lnTo>
                <a:lnTo>
                  <a:pt x="2032066" y="240445"/>
                </a:lnTo>
                <a:lnTo>
                  <a:pt x="1997542" y="258901"/>
                </a:lnTo>
                <a:lnTo>
                  <a:pt x="1959175" y="266533"/>
                </a:lnTo>
                <a:lnTo>
                  <a:pt x="1952625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180340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2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5: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OTE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284C6"/>
                </a:solidFill>
                <a:latin typeface="Century Gothic"/>
                <a:cs typeface="Century Gothic"/>
              </a:rPr>
              <a:t>I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8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r>
              <a:rPr sz="1100" b="1" spc="2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PR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10" dirty="0">
                <a:solidFill>
                  <a:srgbClr val="0284C6"/>
                </a:solidFill>
                <a:latin typeface="Century Gothic"/>
                <a:cs typeface="Century Gothic"/>
              </a:rPr>
              <a:t>ÁTI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35" dirty="0">
                <a:solidFill>
                  <a:srgbClr val="0284C6"/>
                </a:solidFill>
                <a:latin typeface="Century Gothic"/>
                <a:cs typeface="Century Gothic"/>
              </a:rPr>
              <a:t>CO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5" y="768592"/>
            <a:ext cx="104044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Script de Ouro de Balcão (Sondagem &amp; Pitch 2 em 1)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O passo a passo exato do que falar assim que a receita de visão simples entra na loja.</a:t>
            </a:r>
            <a:endParaRPr sz="1400" dirty="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543" y="1837944"/>
            <a:ext cx="17202911" cy="78211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87450" y="2372301"/>
            <a:ext cx="47752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369A0"/>
                </a:solidFill>
                <a:latin typeface="Century Gothic"/>
                <a:cs typeface="Century Gothic"/>
              </a:rPr>
              <a:t>FASE 1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68475" y="2316228"/>
            <a:ext cx="5410517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0F162A"/>
                </a:solidFill>
                <a:latin typeface="Arial"/>
                <a:cs typeface="Arial"/>
              </a:rPr>
              <a:t>Acolhimento &amp; As 3 Perguntas de Sondagem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3150" y="2688863"/>
            <a:ext cx="7656195" cy="416559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330"/>
              </a:spcBef>
            </a:pPr>
            <a:r>
              <a:rPr sz="1350" dirty="0">
                <a:solidFill>
                  <a:srgbClr val="63748A"/>
                </a:solidFill>
                <a:latin typeface="Gotham Book" panose="02000604040000020004" pitchFamily="50" charset="0"/>
                <a:cs typeface="Arial"/>
              </a:rPr>
              <a:t>Pegue a receita na mão com respeito, valide o trabalho do médico e faça as 3 perguntas antes de falar qualquer número:</a:t>
            </a:r>
            <a:endParaRPr sz="1350" dirty="0">
              <a:latin typeface="Gotham Book" panose="02000604040000020004" pitchFamily="50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3175" y="3332160"/>
            <a:ext cx="6415405" cy="743792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dirty="0">
                <a:solidFill>
                  <a:srgbClr val="0284C6"/>
                </a:solidFill>
                <a:latin typeface="Century Gothic"/>
                <a:cs typeface="Century Gothic"/>
              </a:rPr>
              <a:t>Pergunta 1 • Rotina Digital: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400" dirty="0">
                <a:solidFill>
                  <a:srgbClr val="0F162A"/>
                </a:solidFill>
                <a:latin typeface="Century Gothic"/>
                <a:cs typeface="Century Gothic"/>
              </a:rPr>
              <a:t>"Quantas horas por dia o senhor(a) passa diante de computadores, telas e smartphone?"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3175" y="4237035"/>
            <a:ext cx="6923405" cy="73609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dirty="0">
                <a:solidFill>
                  <a:srgbClr val="0284C6"/>
                </a:solidFill>
                <a:latin typeface="Century Gothic"/>
                <a:cs typeface="Century Gothic"/>
              </a:rPr>
              <a:t>Pergunta 2 • Sintoma Físico:</a:t>
            </a:r>
            <a:endParaRPr sz="1400">
              <a:latin typeface="Century Gothic"/>
              <a:cs typeface="Century Gothic"/>
            </a:endParaRPr>
          </a:p>
          <a:p>
            <a:pPr marL="12700" marR="5080">
              <a:lnSpc>
                <a:spcPts val="1580"/>
              </a:lnSpc>
              <a:spcBef>
                <a:spcPts val="415"/>
              </a:spcBef>
            </a:pPr>
            <a:r>
              <a:rPr sz="1400" dirty="0">
                <a:solidFill>
                  <a:srgbClr val="0F162A"/>
                </a:solidFill>
                <a:latin typeface="Century Gothic"/>
                <a:cs typeface="Century Gothic"/>
              </a:rPr>
              <a:t>"Ao final do dia, já sentiu aquela sensação de olho pesado, ardência ou uma dorzinha de cabeça chata?"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3175" y="5341935"/>
            <a:ext cx="6821170" cy="73609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400" b="1" dirty="0">
                <a:solidFill>
                  <a:srgbClr val="0284C6"/>
                </a:solidFill>
                <a:latin typeface="Century Gothic"/>
                <a:cs typeface="Century Gothic"/>
              </a:rPr>
              <a:t>Pergunta 3 • Descoberta do Problema:</a:t>
            </a:r>
            <a:endParaRPr sz="1400" dirty="0">
              <a:latin typeface="Century Gothic"/>
              <a:cs typeface="Century Gothic"/>
            </a:endParaRPr>
          </a:p>
          <a:p>
            <a:pPr marL="12700" marR="5080">
              <a:lnSpc>
                <a:spcPts val="1580"/>
              </a:lnSpc>
              <a:spcBef>
                <a:spcPts val="415"/>
              </a:spcBef>
            </a:pPr>
            <a:r>
              <a:rPr sz="1400" dirty="0">
                <a:solidFill>
                  <a:srgbClr val="0F162A"/>
                </a:solidFill>
                <a:latin typeface="Century Gothic"/>
                <a:cs typeface="Century Gothic"/>
              </a:rPr>
              <a:t>"Sabia que a receita médica corrige para longe, mas não foi pensada para a sobrecarga que o celular impõe hoje aos seus olhos?"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4600" y="8558250"/>
            <a:ext cx="7484745" cy="3898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240"/>
              </a:spcBef>
            </a:pPr>
            <a:r>
              <a:rPr sz="1150" dirty="0">
                <a:solidFill>
                  <a:srgbClr val="465469"/>
                </a:solidFill>
                <a:latin typeface="Gotham Book" panose="02000604040000020004" pitchFamily="50" charset="0"/>
                <a:cs typeface="Segoe UI Symbol"/>
              </a:rPr>
              <a:t>💡 </a:t>
            </a:r>
            <a:r>
              <a:rPr sz="1250" b="1" dirty="0">
                <a:solidFill>
                  <a:srgbClr val="465469"/>
                </a:solidFill>
                <a:latin typeface="Gotham Book" panose="02000604040000020004" pitchFamily="50" charset="0"/>
                <a:cs typeface="Century Gothic"/>
              </a:rPr>
              <a:t>Efeito Psicológico: </a:t>
            </a:r>
            <a:r>
              <a:rPr sz="1250" dirty="0">
                <a:solidFill>
                  <a:srgbClr val="465469"/>
                </a:solidFill>
                <a:latin typeface="Gotham Book" panose="02000604040000020004" pitchFamily="50" charset="0"/>
                <a:cs typeface="Century Gothic"/>
              </a:rPr>
              <a:t>O cliente responde "SIM" para as 3 perguntas e percebe que uma lente comum não vai resolver a rotina dele.</a:t>
            </a:r>
            <a:endParaRPr sz="1250" dirty="0">
              <a:latin typeface="Gotham Book" panose="02000604040000020004" pitchFamily="50" charset="0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291637" y="2071687"/>
            <a:ext cx="8181975" cy="7277100"/>
            <a:chOff x="9291637" y="2071687"/>
            <a:chExt cx="8181975" cy="72771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00" y="2076452"/>
              <a:ext cx="8172450" cy="72675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291637" y="2071687"/>
              <a:ext cx="8181975" cy="7277100"/>
            </a:xfrm>
            <a:custGeom>
              <a:avLst/>
              <a:gdLst/>
              <a:ahLst/>
              <a:cxnLst/>
              <a:rect l="l" t="t" r="r" b="b"/>
              <a:pathLst>
                <a:path w="8181975" h="7277100">
                  <a:moveTo>
                    <a:pt x="0" y="7129462"/>
                  </a:moveTo>
                  <a:lnTo>
                    <a:pt x="0" y="147637"/>
                  </a:lnTo>
                  <a:lnTo>
                    <a:pt x="176" y="140378"/>
                  </a:lnTo>
                  <a:lnTo>
                    <a:pt x="8624" y="97888"/>
                  </a:lnTo>
                  <a:lnTo>
                    <a:pt x="29058" y="59669"/>
                  </a:lnTo>
                  <a:lnTo>
                    <a:pt x="59681" y="29057"/>
                  </a:lnTo>
                  <a:lnTo>
                    <a:pt x="97903" y="8623"/>
                  </a:lnTo>
                  <a:lnTo>
                    <a:pt x="140383" y="176"/>
                  </a:lnTo>
                  <a:lnTo>
                    <a:pt x="147637" y="0"/>
                  </a:lnTo>
                  <a:lnTo>
                    <a:pt x="8034337" y="0"/>
                  </a:lnTo>
                  <a:lnTo>
                    <a:pt x="8077192" y="6348"/>
                  </a:lnTo>
                  <a:lnTo>
                    <a:pt x="8116357" y="24879"/>
                  </a:lnTo>
                  <a:lnTo>
                    <a:pt x="8148463" y="53966"/>
                  </a:lnTo>
                  <a:lnTo>
                    <a:pt x="8170735" y="91116"/>
                  </a:lnTo>
                  <a:lnTo>
                    <a:pt x="8181266" y="133159"/>
                  </a:lnTo>
                  <a:lnTo>
                    <a:pt x="8181975" y="147637"/>
                  </a:lnTo>
                  <a:lnTo>
                    <a:pt x="8181975" y="7129462"/>
                  </a:lnTo>
                  <a:lnTo>
                    <a:pt x="8175614" y="7172299"/>
                  </a:lnTo>
                  <a:lnTo>
                    <a:pt x="8157095" y="7211463"/>
                  </a:lnTo>
                  <a:lnTo>
                    <a:pt x="8127994" y="7243579"/>
                  </a:lnTo>
                  <a:lnTo>
                    <a:pt x="8090830" y="7265841"/>
                  </a:lnTo>
                  <a:lnTo>
                    <a:pt x="8048810" y="7276379"/>
                  </a:lnTo>
                  <a:lnTo>
                    <a:pt x="8034337" y="7277100"/>
                  </a:lnTo>
                  <a:lnTo>
                    <a:pt x="147637" y="7277100"/>
                  </a:lnTo>
                  <a:lnTo>
                    <a:pt x="104780" y="7270737"/>
                  </a:lnTo>
                  <a:lnTo>
                    <a:pt x="65617" y="7252211"/>
                  </a:lnTo>
                  <a:lnTo>
                    <a:pt x="33511" y="7223108"/>
                  </a:lnTo>
                  <a:lnTo>
                    <a:pt x="11239" y="7185945"/>
                  </a:lnTo>
                  <a:lnTo>
                    <a:pt x="708" y="7143922"/>
                  </a:lnTo>
                  <a:lnTo>
                    <a:pt x="0" y="7129462"/>
                  </a:lnTo>
                  <a:close/>
                </a:path>
              </a:pathLst>
            </a:custGeom>
            <a:ln w="9525">
              <a:solidFill>
                <a:srgbClr val="0284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567862" y="3062287"/>
              <a:ext cx="7629525" cy="2371725"/>
            </a:xfrm>
            <a:custGeom>
              <a:avLst/>
              <a:gdLst/>
              <a:ahLst/>
              <a:cxnLst/>
              <a:rect l="l" t="t" r="r" b="b"/>
              <a:pathLst>
                <a:path w="7629525" h="2371725">
                  <a:moveTo>
                    <a:pt x="7509376" y="2371725"/>
                  </a:moveTo>
                  <a:lnTo>
                    <a:pt x="120148" y="2371725"/>
                  </a:lnTo>
                  <a:lnTo>
                    <a:pt x="111785" y="2370896"/>
                  </a:lnTo>
                  <a:lnTo>
                    <a:pt x="71580" y="2358704"/>
                  </a:lnTo>
                  <a:lnTo>
                    <a:pt x="31689" y="2328090"/>
                  </a:lnTo>
                  <a:lnTo>
                    <a:pt x="6553" y="2284542"/>
                  </a:lnTo>
                  <a:lnTo>
                    <a:pt x="0" y="2251576"/>
                  </a:lnTo>
                  <a:lnTo>
                    <a:pt x="0" y="2243137"/>
                  </a:lnTo>
                  <a:lnTo>
                    <a:pt x="0" y="120129"/>
                  </a:lnTo>
                  <a:lnTo>
                    <a:pt x="13020" y="71561"/>
                  </a:lnTo>
                  <a:lnTo>
                    <a:pt x="43634" y="31680"/>
                  </a:lnTo>
                  <a:lnTo>
                    <a:pt x="87182" y="6553"/>
                  </a:lnTo>
                  <a:lnTo>
                    <a:pt x="120148" y="0"/>
                  </a:lnTo>
                  <a:lnTo>
                    <a:pt x="7509376" y="0"/>
                  </a:lnTo>
                  <a:lnTo>
                    <a:pt x="7557944" y="13001"/>
                  </a:lnTo>
                  <a:lnTo>
                    <a:pt x="7597835" y="43624"/>
                  </a:lnTo>
                  <a:lnTo>
                    <a:pt x="7622962" y="87153"/>
                  </a:lnTo>
                  <a:lnTo>
                    <a:pt x="7629525" y="120129"/>
                  </a:lnTo>
                  <a:lnTo>
                    <a:pt x="7629525" y="2251576"/>
                  </a:lnTo>
                  <a:lnTo>
                    <a:pt x="7616504" y="2300125"/>
                  </a:lnTo>
                  <a:lnTo>
                    <a:pt x="7585890" y="2340025"/>
                  </a:lnTo>
                  <a:lnTo>
                    <a:pt x="7542342" y="2365162"/>
                  </a:lnTo>
                  <a:lnTo>
                    <a:pt x="7517739" y="2370896"/>
                  </a:lnTo>
                  <a:lnTo>
                    <a:pt x="7509376" y="2371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67862" y="3062287"/>
              <a:ext cx="7629525" cy="3148013"/>
            </a:xfrm>
            <a:custGeom>
              <a:avLst/>
              <a:gdLst/>
              <a:ahLst/>
              <a:cxnLst/>
              <a:rect l="l" t="t" r="r" b="b"/>
              <a:pathLst>
                <a:path w="7629525" h="2371725">
                  <a:moveTo>
                    <a:pt x="0" y="2243137"/>
                  </a:moveTo>
                  <a:lnTo>
                    <a:pt x="0" y="128587"/>
                  </a:lnTo>
                  <a:lnTo>
                    <a:pt x="0" y="120129"/>
                  </a:lnTo>
                  <a:lnTo>
                    <a:pt x="819" y="111766"/>
                  </a:lnTo>
                  <a:lnTo>
                    <a:pt x="2466" y="103479"/>
                  </a:lnTo>
                  <a:lnTo>
                    <a:pt x="4114" y="95192"/>
                  </a:lnTo>
                  <a:lnTo>
                    <a:pt x="6553" y="87153"/>
                  </a:lnTo>
                  <a:lnTo>
                    <a:pt x="9791" y="79362"/>
                  </a:lnTo>
                  <a:lnTo>
                    <a:pt x="13020" y="71561"/>
                  </a:lnTo>
                  <a:lnTo>
                    <a:pt x="16983" y="64141"/>
                  </a:lnTo>
                  <a:lnTo>
                    <a:pt x="21669" y="57121"/>
                  </a:lnTo>
                  <a:lnTo>
                    <a:pt x="26365" y="50120"/>
                  </a:lnTo>
                  <a:lnTo>
                    <a:pt x="31689" y="43624"/>
                  </a:lnTo>
                  <a:lnTo>
                    <a:pt x="37661" y="37652"/>
                  </a:lnTo>
                  <a:lnTo>
                    <a:pt x="43634" y="31680"/>
                  </a:lnTo>
                  <a:lnTo>
                    <a:pt x="50130" y="26355"/>
                  </a:lnTo>
                  <a:lnTo>
                    <a:pt x="57150" y="21659"/>
                  </a:lnTo>
                  <a:lnTo>
                    <a:pt x="64169" y="16964"/>
                  </a:lnTo>
                  <a:lnTo>
                    <a:pt x="103498" y="2466"/>
                  </a:lnTo>
                  <a:lnTo>
                    <a:pt x="120148" y="0"/>
                  </a:lnTo>
                  <a:lnTo>
                    <a:pt x="128587" y="0"/>
                  </a:lnTo>
                  <a:lnTo>
                    <a:pt x="7500937" y="0"/>
                  </a:lnTo>
                  <a:lnTo>
                    <a:pt x="7509376" y="0"/>
                  </a:lnTo>
                  <a:lnTo>
                    <a:pt x="7517739" y="828"/>
                  </a:lnTo>
                  <a:lnTo>
                    <a:pt x="7526026" y="2476"/>
                  </a:lnTo>
                  <a:lnTo>
                    <a:pt x="7534303" y="4114"/>
                  </a:lnTo>
                  <a:lnTo>
                    <a:pt x="7572375" y="21659"/>
                  </a:lnTo>
                  <a:lnTo>
                    <a:pt x="7579394" y="26355"/>
                  </a:lnTo>
                  <a:lnTo>
                    <a:pt x="7585890" y="31680"/>
                  </a:lnTo>
                  <a:lnTo>
                    <a:pt x="7591863" y="37652"/>
                  </a:lnTo>
                  <a:lnTo>
                    <a:pt x="7597835" y="43624"/>
                  </a:lnTo>
                  <a:lnTo>
                    <a:pt x="7619733" y="79362"/>
                  </a:lnTo>
                  <a:lnTo>
                    <a:pt x="7622962" y="87153"/>
                  </a:lnTo>
                  <a:lnTo>
                    <a:pt x="7625400" y="95192"/>
                  </a:lnTo>
                  <a:lnTo>
                    <a:pt x="7627048" y="103479"/>
                  </a:lnTo>
                  <a:lnTo>
                    <a:pt x="7628696" y="111766"/>
                  </a:lnTo>
                  <a:lnTo>
                    <a:pt x="7629525" y="120129"/>
                  </a:lnTo>
                  <a:lnTo>
                    <a:pt x="7629525" y="128587"/>
                  </a:lnTo>
                  <a:lnTo>
                    <a:pt x="7629525" y="2243137"/>
                  </a:lnTo>
                  <a:lnTo>
                    <a:pt x="7629525" y="2251576"/>
                  </a:lnTo>
                  <a:lnTo>
                    <a:pt x="7628696" y="2259939"/>
                  </a:lnTo>
                  <a:lnTo>
                    <a:pt x="7627048" y="2268216"/>
                  </a:lnTo>
                  <a:lnTo>
                    <a:pt x="7625400" y="2276503"/>
                  </a:lnTo>
                  <a:lnTo>
                    <a:pt x="7622962" y="2284542"/>
                  </a:lnTo>
                  <a:lnTo>
                    <a:pt x="7619733" y="2292334"/>
                  </a:lnTo>
                  <a:lnTo>
                    <a:pt x="7616504" y="2300125"/>
                  </a:lnTo>
                  <a:lnTo>
                    <a:pt x="7591863" y="2334063"/>
                  </a:lnTo>
                  <a:lnTo>
                    <a:pt x="7557944" y="2358704"/>
                  </a:lnTo>
                  <a:lnTo>
                    <a:pt x="7550143" y="2361933"/>
                  </a:lnTo>
                  <a:lnTo>
                    <a:pt x="7542342" y="2365162"/>
                  </a:lnTo>
                  <a:lnTo>
                    <a:pt x="7534303" y="2367591"/>
                  </a:lnTo>
                  <a:lnTo>
                    <a:pt x="7526026" y="2369238"/>
                  </a:lnTo>
                  <a:lnTo>
                    <a:pt x="7517739" y="2370896"/>
                  </a:lnTo>
                  <a:lnTo>
                    <a:pt x="7509376" y="2371725"/>
                  </a:lnTo>
                  <a:lnTo>
                    <a:pt x="7500937" y="2371725"/>
                  </a:lnTo>
                  <a:lnTo>
                    <a:pt x="128587" y="2371725"/>
                  </a:lnTo>
                  <a:lnTo>
                    <a:pt x="120148" y="2371725"/>
                  </a:lnTo>
                  <a:lnTo>
                    <a:pt x="111785" y="2370896"/>
                  </a:lnTo>
                  <a:lnTo>
                    <a:pt x="103498" y="2369248"/>
                  </a:lnTo>
                  <a:lnTo>
                    <a:pt x="95221" y="2367600"/>
                  </a:lnTo>
                  <a:lnTo>
                    <a:pt x="87182" y="2365162"/>
                  </a:lnTo>
                  <a:lnTo>
                    <a:pt x="79381" y="2361933"/>
                  </a:lnTo>
                  <a:lnTo>
                    <a:pt x="71580" y="2358704"/>
                  </a:lnTo>
                  <a:lnTo>
                    <a:pt x="37661" y="2334063"/>
                  </a:lnTo>
                  <a:lnTo>
                    <a:pt x="13020" y="2300125"/>
                  </a:lnTo>
                  <a:lnTo>
                    <a:pt x="9791" y="2292334"/>
                  </a:lnTo>
                  <a:lnTo>
                    <a:pt x="6553" y="2284542"/>
                  </a:lnTo>
                  <a:lnTo>
                    <a:pt x="4114" y="2276503"/>
                  </a:lnTo>
                  <a:lnTo>
                    <a:pt x="2466" y="2268216"/>
                  </a:lnTo>
                  <a:lnTo>
                    <a:pt x="819" y="2259939"/>
                  </a:lnTo>
                  <a:lnTo>
                    <a:pt x="0" y="2251576"/>
                  </a:lnTo>
                  <a:lnTo>
                    <a:pt x="0" y="2243137"/>
                  </a:lnTo>
                  <a:close/>
                </a:path>
              </a:pathLst>
            </a:custGeom>
            <a:ln w="9525">
              <a:solidFill>
                <a:srgbClr val="B9E6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563100" y="2343150"/>
              <a:ext cx="628650" cy="266700"/>
            </a:xfrm>
            <a:custGeom>
              <a:avLst/>
              <a:gdLst/>
              <a:ahLst/>
              <a:cxnLst/>
              <a:rect l="l" t="t" r="r" b="b"/>
              <a:pathLst>
                <a:path w="628650" h="266700">
                  <a:moveTo>
                    <a:pt x="575252" y="266690"/>
                  </a:moveTo>
                  <a:lnTo>
                    <a:pt x="53397" y="266690"/>
                  </a:lnTo>
                  <a:lnTo>
                    <a:pt x="49682" y="266328"/>
                  </a:lnTo>
                  <a:lnTo>
                    <a:pt x="14087" y="247297"/>
                  </a:lnTo>
                  <a:lnTo>
                    <a:pt x="0" y="213302"/>
                  </a:lnTo>
                  <a:lnTo>
                    <a:pt x="0" y="209550"/>
                  </a:lnTo>
                  <a:lnTo>
                    <a:pt x="0" y="53397"/>
                  </a:lnTo>
                  <a:lnTo>
                    <a:pt x="19392" y="14087"/>
                  </a:lnTo>
                  <a:lnTo>
                    <a:pt x="53397" y="0"/>
                  </a:lnTo>
                  <a:lnTo>
                    <a:pt x="575252" y="0"/>
                  </a:lnTo>
                  <a:lnTo>
                    <a:pt x="614562" y="19383"/>
                  </a:lnTo>
                  <a:lnTo>
                    <a:pt x="628650" y="53397"/>
                  </a:lnTo>
                  <a:lnTo>
                    <a:pt x="628650" y="213302"/>
                  </a:lnTo>
                  <a:lnTo>
                    <a:pt x="609257" y="252603"/>
                  </a:lnTo>
                  <a:lnTo>
                    <a:pt x="578967" y="266328"/>
                  </a:lnTo>
                  <a:lnTo>
                    <a:pt x="575252" y="266690"/>
                  </a:lnTo>
                  <a:close/>
                </a:path>
              </a:pathLst>
            </a:custGeom>
            <a:solidFill>
              <a:srgbClr val="DC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664700" y="2372302"/>
            <a:ext cx="527050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14803C"/>
                </a:solidFill>
                <a:latin typeface="Century Gothic"/>
                <a:cs typeface="Century Gothic"/>
              </a:rPr>
              <a:t>FASE 2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274300" y="2316228"/>
            <a:ext cx="3136900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0284C6"/>
                </a:solidFill>
                <a:latin typeface="Arial"/>
                <a:cs typeface="Arial"/>
              </a:rPr>
              <a:t>O Pitch do Produto 2 em 1</a:t>
            </a:r>
            <a:endParaRPr sz="165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550400" y="2688863"/>
            <a:ext cx="6299200" cy="223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Apresente a </a:t>
            </a:r>
            <a:r>
              <a:rPr lang="pt-BR" sz="1350" dirty="0">
                <a:solidFill>
                  <a:srgbClr val="63748A"/>
                </a:solidFill>
                <a:latin typeface="Arial"/>
                <a:cs typeface="Arial"/>
              </a:rPr>
              <a:t>linha Gold Comfort </a:t>
            </a:r>
            <a:r>
              <a:rPr sz="1350" dirty="0">
                <a:solidFill>
                  <a:srgbClr val="63748A"/>
                </a:solidFill>
                <a:latin typeface="Arial"/>
                <a:cs typeface="Arial"/>
              </a:rPr>
              <a:t>com autoridade, entusiasmo e clareza absoluta: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69475" y="3240995"/>
            <a:ext cx="668147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"Existe hoje uma tecnologia revolucionária que chamamos de </a:t>
            </a:r>
            <a:r>
              <a:rPr sz="1350" b="1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produto 2 em 1: a</a:t>
            </a:r>
            <a:r>
              <a:rPr lang="pt-BR" sz="1350" b="1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 linha de lentes Gold Comfort</a:t>
            </a:r>
            <a:endParaRPr sz="1350" dirty="0">
              <a:latin typeface="Gotham Book" panose="02000604040000020004" pitchFamily="50" charset="0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769475" y="3900157"/>
            <a:ext cx="7245350" cy="193783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Em vez de uma lente simples comum, ela executa duas funções em um único </a:t>
            </a:r>
            <a:r>
              <a:rPr sz="1350" dirty="0" err="1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bloco</a:t>
            </a: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:</a:t>
            </a:r>
            <a:endParaRPr lang="pt-BR" sz="1350" dirty="0">
              <a:solidFill>
                <a:srgbClr val="0F162A"/>
              </a:solidFill>
              <a:latin typeface="Gotham Book" panose="02000604040000020004" pitchFamily="50" charset="0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430"/>
              </a:spcBef>
            </a:pPr>
            <a:endParaRPr sz="1350" dirty="0">
              <a:latin typeface="Gotham Book" panose="02000604040000020004" pitchFamily="50" charset="0"/>
              <a:cs typeface="Century Gothic"/>
            </a:endParaRPr>
          </a:p>
          <a:p>
            <a:pPr marL="154305" indent="-150495" algn="just">
              <a:lnSpc>
                <a:spcPct val="100000"/>
              </a:lnSpc>
              <a:spcBef>
                <a:spcPts val="330"/>
              </a:spcBef>
              <a:buSzPct val="96296"/>
              <a:buAutoNum type="arabicPeriod"/>
              <a:tabLst>
                <a:tab pos="154305" algn="l"/>
              </a:tabLst>
            </a:pPr>
            <a:r>
              <a:rPr sz="1350" b="1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Na parte superior: </a:t>
            </a: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Corrige 100% da receita do seu médico com nitidez panorâmica para </a:t>
            </a:r>
            <a:r>
              <a:rPr sz="1350" dirty="0" err="1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longe</a:t>
            </a: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.</a:t>
            </a:r>
            <a:endParaRPr lang="pt-BR" sz="1350" dirty="0">
              <a:solidFill>
                <a:srgbClr val="0F162A"/>
              </a:solidFill>
              <a:latin typeface="Gotham Book" panose="02000604040000020004" pitchFamily="50" charset="0"/>
              <a:cs typeface="Century Gothic"/>
            </a:endParaRPr>
          </a:p>
          <a:p>
            <a:pPr marL="154305" indent="-150495" algn="just">
              <a:lnSpc>
                <a:spcPct val="100000"/>
              </a:lnSpc>
              <a:spcBef>
                <a:spcPts val="330"/>
              </a:spcBef>
              <a:buSzPct val="96296"/>
              <a:buAutoNum type="arabicPeriod"/>
              <a:tabLst>
                <a:tab pos="154305" algn="l"/>
              </a:tabLst>
            </a:pPr>
            <a:endParaRPr sz="1350" dirty="0">
              <a:latin typeface="Gotham Book" panose="02000604040000020004" pitchFamily="50" charset="0"/>
              <a:cs typeface="Century Gothic"/>
            </a:endParaRPr>
          </a:p>
          <a:p>
            <a:pPr marL="12700" marR="5080" indent="179705" algn="just">
              <a:lnSpc>
                <a:spcPct val="118100"/>
              </a:lnSpc>
              <a:spcBef>
                <a:spcPts val="35"/>
              </a:spcBef>
              <a:buSzPct val="96296"/>
              <a:buAutoNum type="arabicPeriod"/>
              <a:tabLst>
                <a:tab pos="192405" algn="l"/>
              </a:tabLst>
            </a:pPr>
            <a:r>
              <a:rPr sz="1350" b="1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Na parte inferior: </a:t>
            </a: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Possui uma </a:t>
            </a:r>
            <a:r>
              <a:rPr sz="1350" b="1" dirty="0">
                <a:solidFill>
                  <a:srgbClr val="0F162A"/>
                </a:solidFill>
                <a:latin typeface="Gotham Book" panose="02000604040000020004" pitchFamily="50" charset="0"/>
                <a:cs typeface="Arial"/>
              </a:rPr>
              <a:t>área de relaxamento calculada por Inteligência Artificial </a:t>
            </a:r>
            <a:r>
              <a:rPr sz="1350" dirty="0">
                <a:solidFill>
                  <a:srgbClr val="0F162A"/>
                </a:solidFill>
                <a:latin typeface="Gotham Book" panose="02000604040000020004" pitchFamily="50" charset="0"/>
                <a:cs typeface="Century Gothic"/>
              </a:rPr>
              <a:t>para a sua rotina de telas. É um amortecedor suave que não deixa seus olhos cansarem nem arderem ao longo do dia!"</a:t>
            </a:r>
            <a:endParaRPr sz="1350" dirty="0">
              <a:latin typeface="Gotham Book" panose="02000604040000020004" pitchFamily="50" charset="0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9625" y="935355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E1E8E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96925" y="9491250"/>
            <a:ext cx="1955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5 • Script de Balcão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31" name="object 3">
            <a:extLst>
              <a:ext uri="{FF2B5EF4-FFF2-40B4-BE49-F238E27FC236}">
                <a16:creationId xmlns:a16="http://schemas.microsoft.com/office/drawing/2014/main" id="{5EAEDE8E-8448-4F27-AC51-FAE80D0D5949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32" name="object 4">
              <a:extLst>
                <a:ext uri="{FF2B5EF4-FFF2-40B4-BE49-F238E27FC236}">
                  <a16:creationId xmlns:a16="http://schemas.microsoft.com/office/drawing/2014/main" id="{07A9D99B-16D6-4513-A417-A3A8B1E27480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5">
              <a:extLst>
                <a:ext uri="{FF2B5EF4-FFF2-40B4-BE49-F238E27FC236}">
                  <a16:creationId xmlns:a16="http://schemas.microsoft.com/office/drawing/2014/main" id="{9156A982-71F7-4E97-9A6C-0A58FD3A5673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6">
            <a:extLst>
              <a:ext uri="{FF2B5EF4-FFF2-40B4-BE49-F238E27FC236}">
                <a16:creationId xmlns:a16="http://schemas.microsoft.com/office/drawing/2014/main" id="{819AC987-FDE5-49FD-9201-957EABDB5AE1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9625" y="619125"/>
            <a:ext cx="2647950" cy="266700"/>
          </a:xfrm>
          <a:custGeom>
            <a:avLst/>
            <a:gdLst/>
            <a:ahLst/>
            <a:cxnLst/>
            <a:rect l="l" t="t" r="r" b="b"/>
            <a:pathLst>
              <a:path w="2647950" h="266700">
                <a:moveTo>
                  <a:pt x="2514600" y="266700"/>
                </a:moveTo>
                <a:lnTo>
                  <a:pt x="133350" y="266700"/>
                </a:lnTo>
                <a:lnTo>
                  <a:pt x="126799" y="266533"/>
                </a:lnTo>
                <a:lnTo>
                  <a:pt x="88432" y="258897"/>
                </a:lnTo>
                <a:lnTo>
                  <a:pt x="53908" y="240442"/>
                </a:lnTo>
                <a:lnTo>
                  <a:pt x="26243" y="212777"/>
                </a:lnTo>
                <a:lnTo>
                  <a:pt x="7792" y="178250"/>
                </a:lnTo>
                <a:lnTo>
                  <a:pt x="160" y="139899"/>
                </a:lnTo>
                <a:lnTo>
                  <a:pt x="0" y="133350"/>
                </a:lnTo>
                <a:lnTo>
                  <a:pt x="160" y="126793"/>
                </a:lnTo>
                <a:lnTo>
                  <a:pt x="7792" y="88413"/>
                </a:lnTo>
                <a:lnTo>
                  <a:pt x="26243" y="53901"/>
                </a:lnTo>
                <a:lnTo>
                  <a:pt x="53908" y="26233"/>
                </a:lnTo>
                <a:lnTo>
                  <a:pt x="88432" y="7779"/>
                </a:lnTo>
                <a:lnTo>
                  <a:pt x="126799" y="160"/>
                </a:lnTo>
                <a:lnTo>
                  <a:pt x="133350" y="0"/>
                </a:lnTo>
                <a:lnTo>
                  <a:pt x="2514600" y="0"/>
                </a:lnTo>
                <a:lnTo>
                  <a:pt x="2553309" y="5740"/>
                </a:lnTo>
                <a:lnTo>
                  <a:pt x="2588685" y="22459"/>
                </a:lnTo>
                <a:lnTo>
                  <a:pt x="2617680" y="48739"/>
                </a:lnTo>
                <a:lnTo>
                  <a:pt x="2637796" y="82305"/>
                </a:lnTo>
                <a:lnTo>
                  <a:pt x="2647308" y="120270"/>
                </a:lnTo>
                <a:lnTo>
                  <a:pt x="2647950" y="133350"/>
                </a:lnTo>
                <a:lnTo>
                  <a:pt x="2647789" y="139899"/>
                </a:lnTo>
                <a:lnTo>
                  <a:pt x="2640157" y="178250"/>
                </a:lnTo>
                <a:lnTo>
                  <a:pt x="2621705" y="212769"/>
                </a:lnTo>
                <a:lnTo>
                  <a:pt x="2594041" y="240447"/>
                </a:lnTo>
                <a:lnTo>
                  <a:pt x="2559517" y="258897"/>
                </a:lnTo>
                <a:lnTo>
                  <a:pt x="2521150" y="266533"/>
                </a:lnTo>
                <a:lnTo>
                  <a:pt x="2514600" y="266700"/>
                </a:lnTo>
                <a:close/>
              </a:path>
            </a:pathLst>
          </a:custGeom>
          <a:solidFill>
            <a:srgbClr val="0284C6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49325" y="648276"/>
            <a:ext cx="236537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ATO</a:t>
            </a:r>
            <a:r>
              <a:rPr sz="1100" b="1" spc="1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65" dirty="0">
                <a:solidFill>
                  <a:srgbClr val="0284C6"/>
                </a:solidFill>
                <a:latin typeface="Century Gothic"/>
                <a:cs typeface="Century Gothic"/>
              </a:rPr>
              <a:t>5:</a:t>
            </a:r>
            <a:r>
              <a:rPr sz="1100" b="1" spc="6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CON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TOR</a:t>
            </a:r>
            <a:r>
              <a:rPr sz="1100" b="1" spc="-1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95" dirty="0">
                <a:solidFill>
                  <a:srgbClr val="0284C6"/>
                </a:solidFill>
                <a:latin typeface="Century Gothic"/>
                <a:cs typeface="Century Gothic"/>
              </a:rPr>
              <a:t>N</a:t>
            </a:r>
            <a:r>
              <a:rPr sz="1100" b="1" spc="-18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80" dirty="0">
                <a:solidFill>
                  <a:srgbClr val="0284C6"/>
                </a:solidFill>
                <a:latin typeface="Century Gothic"/>
                <a:cs typeface="Century Gothic"/>
              </a:rPr>
              <a:t>O</a:t>
            </a:r>
            <a:r>
              <a:rPr sz="1100" b="1" spc="2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284C6"/>
                </a:solidFill>
                <a:latin typeface="Century Gothic"/>
                <a:cs typeface="Century Gothic"/>
              </a:rPr>
              <a:t>D</a:t>
            </a:r>
            <a:r>
              <a:rPr sz="1100" b="1" spc="-18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E</a:t>
            </a:r>
            <a:r>
              <a:rPr sz="1100" b="1" spc="75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284C6"/>
                </a:solidFill>
                <a:latin typeface="Century Gothic"/>
                <a:cs typeface="Century Gothic"/>
              </a:rPr>
              <a:t>OBJE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20" dirty="0">
                <a:solidFill>
                  <a:srgbClr val="0284C6"/>
                </a:solidFill>
                <a:latin typeface="Century Gothic"/>
                <a:cs typeface="Century Gothic"/>
              </a:rPr>
              <a:t>ÇÕE</a:t>
            </a:r>
            <a:r>
              <a:rPr sz="1100" b="1" spc="-190" dirty="0">
                <a:solidFill>
                  <a:srgbClr val="0284C6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284C6"/>
                </a:solidFill>
                <a:latin typeface="Century Gothic"/>
                <a:cs typeface="Century Gothic"/>
              </a:rPr>
              <a:t>S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96924" y="768592"/>
            <a:ext cx="90328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solidFill>
                  <a:srgbClr val="0F162A"/>
                </a:solidFill>
                <a:latin typeface="Arial"/>
                <a:cs typeface="Arial"/>
              </a:rPr>
              <a:t>Arsenal de Quebra de Objeções no Balcão</a:t>
            </a:r>
            <a:endParaRPr sz="3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63748A"/>
                </a:solidFill>
                <a:latin typeface="Century Gothic"/>
                <a:cs typeface="Century Gothic"/>
              </a:rPr>
              <a:t>Como desarmar com elegância e autoridade as 4 maiores resistências do cliente.</a:t>
            </a:r>
            <a:endParaRPr sz="1400" dirty="0">
              <a:latin typeface="Century Gothic"/>
              <a:cs typeface="Century Gothic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543" y="1837944"/>
            <a:ext cx="17202911" cy="782116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64525" y="2298769"/>
            <a:ext cx="46228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solidFill>
                  <a:srgbClr val="991B1B"/>
                </a:solidFill>
                <a:latin typeface="Century Gothic"/>
                <a:cs typeface="Century Gothic"/>
              </a:rPr>
              <a:t>RECEITA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2173758"/>
            <a:ext cx="4851400" cy="59631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solidFill>
                  <a:srgbClr val="EE4444"/>
                </a:solidFill>
                <a:latin typeface="Segoe UI Symbol"/>
                <a:cs typeface="Segoe UI Symbol"/>
              </a:rPr>
              <a:t>❌ </a:t>
            </a:r>
            <a:r>
              <a:rPr sz="1400" b="1" dirty="0">
                <a:solidFill>
                  <a:srgbClr val="EE4444"/>
                </a:solidFill>
                <a:latin typeface="Arial"/>
                <a:cs typeface="Arial"/>
              </a:rPr>
              <a:t>"O médico não pediu isso na receita."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i="1" dirty="0">
                <a:solidFill>
                  <a:srgbClr val="63748A"/>
                </a:solidFill>
                <a:latin typeface="Arial"/>
                <a:cs typeface="Arial"/>
              </a:rPr>
              <a:t>A dúvida oculta: "Será que posso mudar o que o médico escreveu?"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7925" y="2909926"/>
            <a:ext cx="7414259" cy="1558888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600" b="1" dirty="0">
                <a:solidFill>
                  <a:srgbClr val="1E293A"/>
                </a:solidFill>
                <a:latin typeface="Century Gothic"/>
                <a:cs typeface="Century Gothic"/>
              </a:rPr>
              <a:t>Como Responder: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"O médico oftalmologista é o especialista em saúde clínica — a função dele é medir sua dioptria com exatidão. Já o nosso papel na óptica é a consultoria técnica de como essa dioptria vai funcionar na sua vida de telas. A 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linha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Gold Comfort </a:t>
            </a:r>
            <a:r>
              <a:rPr sz="1600" dirty="0" err="1">
                <a:solidFill>
                  <a:srgbClr val="1E293A"/>
                </a:solidFill>
                <a:latin typeface="Century Gothic"/>
                <a:cs typeface="Century Gothic"/>
              </a:rPr>
              <a:t>mantém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 exatamente 100% do grau que ele receitou, mas com a tecnologia digital que protege seus olhos da fadiga moderna."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5029951"/>
            <a:ext cx="74472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Ponte de Fechamento: "Faz sentido proteger seus olhos no computador mantendo 100% do grau dele?"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70350" y="2298769"/>
            <a:ext cx="403225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solidFill>
                  <a:srgbClr val="991B1B"/>
                </a:solidFill>
                <a:latin typeface="Century Gothic"/>
                <a:cs typeface="Century Gothic"/>
              </a:rPr>
              <a:t>PREÇO</a:t>
            </a:r>
            <a:endParaRPr sz="9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64675" y="2173758"/>
            <a:ext cx="4446270" cy="59631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solidFill>
                  <a:srgbClr val="EE4444"/>
                </a:solidFill>
                <a:latin typeface="Segoe UI Symbol"/>
                <a:cs typeface="Segoe UI Symbol"/>
              </a:rPr>
              <a:t>❌ </a:t>
            </a:r>
            <a:r>
              <a:rPr sz="1400" b="1" dirty="0">
                <a:solidFill>
                  <a:srgbClr val="EE4444"/>
                </a:solidFill>
                <a:latin typeface="Arial"/>
                <a:cs typeface="Arial"/>
              </a:rPr>
              <a:t>"A lente pronta de estoque é mais barata."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i="1" dirty="0">
                <a:solidFill>
                  <a:srgbClr val="63748A"/>
                </a:solidFill>
                <a:latin typeface="Arial"/>
                <a:cs typeface="Arial"/>
              </a:rPr>
              <a:t>A dúvida oculta: "Por que pagar essa diferença de valor?"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26600" y="2909926"/>
            <a:ext cx="7185659" cy="130035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600" b="1" dirty="0">
                <a:solidFill>
                  <a:srgbClr val="1E293A"/>
                </a:solidFill>
                <a:latin typeface="Century Gothic"/>
                <a:cs typeface="Century Gothic"/>
              </a:rPr>
              <a:t>Como Responder: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"A lente pronta é excelente para uma emergência, mas ela não tem amortecimento muscular. A diferença entre a pronta e a 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linha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Gold Comfort, dividida em 10 </a:t>
            </a:r>
            <a:r>
              <a:rPr sz="1600" dirty="0" err="1">
                <a:solidFill>
                  <a:srgbClr val="1E293A"/>
                </a:solidFill>
                <a:latin typeface="Century Gothic"/>
                <a:cs typeface="Century Gothic"/>
              </a:rPr>
              <a:t>vezes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 mostra que não v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ale a pena passar o dia inteiro com os olhos ardendo para </a:t>
            </a:r>
            <a:r>
              <a:rPr sz="1600" dirty="0" err="1">
                <a:solidFill>
                  <a:srgbClr val="1E293A"/>
                </a:solidFill>
                <a:latin typeface="Century Gothic"/>
                <a:cs typeface="Century Gothic"/>
              </a:rPr>
              <a:t>economizar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 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um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 valor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 pequeno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?"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64675" y="5029951"/>
            <a:ext cx="744728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Ponte de Fechamento: "</a:t>
            </a:r>
            <a:r>
              <a:rPr lang="pt-BR" sz="1600" b="1" dirty="0">
                <a:solidFill>
                  <a:srgbClr val="0284C6"/>
                </a:solidFill>
                <a:latin typeface="Century Gothic"/>
                <a:cs typeface="Century Gothic"/>
              </a:rPr>
              <a:t>Você </a:t>
            </a:r>
            <a:r>
              <a:rPr sz="1600" b="1" dirty="0" err="1">
                <a:solidFill>
                  <a:srgbClr val="0284C6"/>
                </a:solidFill>
                <a:latin typeface="Century Gothic"/>
                <a:cs typeface="Century Gothic"/>
              </a:rPr>
              <a:t>merece</a:t>
            </a: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 esse conforto todos os dias por </a:t>
            </a:r>
            <a:r>
              <a:rPr lang="pt-BR" sz="1600" b="1" dirty="0">
                <a:solidFill>
                  <a:srgbClr val="0284C6"/>
                </a:solidFill>
                <a:latin typeface="Century Gothic"/>
                <a:cs typeface="Century Gothic"/>
              </a:rPr>
              <a:t>um investimento baixo</a:t>
            </a: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, concorda?"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26399" y="6156394"/>
            <a:ext cx="796927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solidFill>
                  <a:srgbClr val="991B1B"/>
                </a:solidFill>
                <a:latin typeface="Century Gothic"/>
                <a:cs typeface="Century Gothic"/>
              </a:rPr>
              <a:t>ADAPTAÇÃO</a:t>
            </a:r>
            <a:endParaRPr sz="9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000" y="6031383"/>
            <a:ext cx="4889499" cy="59631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solidFill>
                  <a:srgbClr val="EE4444"/>
                </a:solidFill>
                <a:latin typeface="Segoe UI Symbol"/>
                <a:cs typeface="Segoe UI Symbol"/>
              </a:rPr>
              <a:t>❌ </a:t>
            </a:r>
            <a:r>
              <a:rPr sz="1400" b="1" dirty="0">
                <a:solidFill>
                  <a:srgbClr val="EE4444"/>
                </a:solidFill>
                <a:latin typeface="Arial"/>
                <a:cs typeface="Arial"/>
              </a:rPr>
              <a:t>"Isso é multifocal? Vou demorar para acostumar?"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i="1" dirty="0">
                <a:solidFill>
                  <a:srgbClr val="63748A"/>
                </a:solidFill>
                <a:latin typeface="Arial"/>
                <a:cs typeface="Arial"/>
              </a:rPr>
              <a:t>A dúvida oculta: "Vou sentir tontura ou distorção ao andar?"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7925" y="6767551"/>
            <a:ext cx="7285355" cy="130035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600" b="1" dirty="0">
                <a:solidFill>
                  <a:srgbClr val="1E293A"/>
                </a:solidFill>
                <a:latin typeface="Century Gothic"/>
                <a:cs typeface="Century Gothic"/>
              </a:rPr>
              <a:t>Como Responder: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"Não! Ela não é multifocal e não tem nenhuma linha visível ou salto de imagem. É uma lente de visão simples digital inteligente. A transição calculada por inteligência artificial é tão suave que a adaptação é imediata, no primeiro minuto em que você coloca os óculos no rosto."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000" y="8687552"/>
            <a:ext cx="68326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Ponte de Fechamento: "A adaptação é 100% garantida pela nossa garantia de satisfação."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751300" y="6156395"/>
            <a:ext cx="52070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b="1" dirty="0">
                <a:solidFill>
                  <a:srgbClr val="991B1B"/>
                </a:solidFill>
                <a:latin typeface="Century Gothic"/>
                <a:cs typeface="Century Gothic"/>
              </a:rPr>
              <a:t>MARCA</a:t>
            </a:r>
            <a:endParaRPr sz="900" dirty="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64674" y="6031383"/>
            <a:ext cx="5165725" cy="596317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solidFill>
                  <a:srgbClr val="EE4444"/>
                </a:solidFill>
                <a:latin typeface="Segoe UI Symbol"/>
                <a:cs typeface="Segoe UI Symbol"/>
              </a:rPr>
              <a:t>❌ </a:t>
            </a:r>
            <a:r>
              <a:rPr sz="1400" b="1" dirty="0">
                <a:solidFill>
                  <a:srgbClr val="EE4444"/>
                </a:solidFill>
                <a:latin typeface="Arial"/>
                <a:cs typeface="Arial"/>
              </a:rPr>
              <a:t>"E essas marcas famosas da TV (Eyezen, Zeiss)?"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200" i="1" dirty="0">
                <a:solidFill>
                  <a:srgbClr val="63748A"/>
                </a:solidFill>
                <a:latin typeface="Arial"/>
                <a:cs typeface="Arial"/>
              </a:rPr>
              <a:t>A dúvida oculta: "Marca famosa é sinônimo de lente melhor?"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26600" y="6767551"/>
            <a:ext cx="7484745" cy="1300356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60"/>
              </a:spcBef>
            </a:pPr>
            <a:r>
              <a:rPr sz="1600" b="1" dirty="0">
                <a:solidFill>
                  <a:srgbClr val="1E293A"/>
                </a:solidFill>
                <a:latin typeface="Century Gothic"/>
                <a:cs typeface="Century Gothic"/>
              </a:rPr>
              <a:t>Como Responder: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"São ótimas referências, mas cobram até R$ 2.500 pelo marketing de grife internacional. A </a:t>
            </a:r>
            <a:r>
              <a:rPr lang="pt-BR" sz="1600" dirty="0">
                <a:solidFill>
                  <a:srgbClr val="1E293A"/>
                </a:solidFill>
                <a:latin typeface="Century Gothic"/>
                <a:cs typeface="Century Gothic"/>
              </a:rPr>
              <a:t>linha 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Gold Comfort utiliza a mesma tecnologia de cálculo ponto a </a:t>
            </a:r>
            <a:r>
              <a:rPr sz="1600" dirty="0" err="1">
                <a:solidFill>
                  <a:srgbClr val="1E293A"/>
                </a:solidFill>
                <a:latin typeface="Century Gothic"/>
                <a:cs typeface="Century Gothic"/>
              </a:rPr>
              <a:t>ponto</a:t>
            </a:r>
            <a:r>
              <a:rPr sz="1600" dirty="0">
                <a:solidFill>
                  <a:srgbClr val="1E293A"/>
                </a:solidFill>
                <a:latin typeface="Century Gothic"/>
                <a:cs typeface="Century Gothic"/>
              </a:rPr>
              <a:t>, com antirreflexo nobre e 5 níveis de alívio personalizado, por praticamente metade do valor. É a escolha mais inteligente do mercado hoje."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64675" y="8687551"/>
            <a:ext cx="76466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284C6"/>
                </a:solidFill>
                <a:latin typeface="Century Gothic"/>
                <a:cs typeface="Century Gothic"/>
              </a:rPr>
              <a:t>Ponte de Fechamento: "Por que pagar o dobro pela marca se a tecnologia preditiva é a mesma?"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6925" y="9491251"/>
            <a:ext cx="23272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284C6"/>
                </a:solidFill>
                <a:latin typeface="Century Gothic"/>
                <a:cs typeface="Century Gothic"/>
              </a:rPr>
              <a:t>Ato 5 • Quebra de Objeções</a:t>
            </a:r>
            <a:endParaRPr sz="1250" dirty="0">
              <a:latin typeface="Century Gothic"/>
              <a:cs typeface="Century Gothic"/>
            </a:endParaRPr>
          </a:p>
        </p:txBody>
      </p:sp>
      <p:grpSp>
        <p:nvGrpSpPr>
          <p:cNvPr id="25" name="object 3">
            <a:extLst>
              <a:ext uri="{FF2B5EF4-FFF2-40B4-BE49-F238E27FC236}">
                <a16:creationId xmlns:a16="http://schemas.microsoft.com/office/drawing/2014/main" id="{4E72C37C-ABCD-4955-B962-4E18327FAF42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  <a:solidFill>
            <a:schemeClr val="tx1"/>
          </a:solidFill>
        </p:grpSpPr>
        <p:sp>
          <p:nvSpPr>
            <p:cNvPr id="26" name="object 4">
              <a:extLst>
                <a:ext uri="{FF2B5EF4-FFF2-40B4-BE49-F238E27FC236}">
                  <a16:creationId xmlns:a16="http://schemas.microsoft.com/office/drawing/2014/main" id="{9F8EF442-E4C1-45AB-B19D-B0DDF3F53FBB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5">
              <a:extLst>
                <a:ext uri="{FF2B5EF4-FFF2-40B4-BE49-F238E27FC236}">
                  <a16:creationId xmlns:a16="http://schemas.microsoft.com/office/drawing/2014/main" id="{342FA061-FBB5-47C2-8C72-BB2724CCA58A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6">
            <a:extLst>
              <a:ext uri="{FF2B5EF4-FFF2-40B4-BE49-F238E27FC236}">
                <a16:creationId xmlns:a16="http://schemas.microsoft.com/office/drawing/2014/main" id="{41D59AA1-41B6-41DD-8DF4-668A43F6ECD4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09625" y="1828800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FFFFFF">
              <a:alpha val="121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09624" y="619124"/>
            <a:ext cx="3190875" cy="285750"/>
            <a:chOff x="809624" y="619124"/>
            <a:chExt cx="3190875" cy="285750"/>
          </a:xfrm>
        </p:grpSpPr>
        <p:sp>
          <p:nvSpPr>
            <p:cNvPr id="5" name="object 5"/>
            <p:cNvSpPr/>
            <p:nvPr/>
          </p:nvSpPr>
          <p:spPr>
            <a:xfrm>
              <a:off x="809625" y="619124"/>
              <a:ext cx="3190875" cy="285750"/>
            </a:xfrm>
            <a:custGeom>
              <a:avLst/>
              <a:gdLst/>
              <a:ahLst/>
              <a:cxnLst/>
              <a:rect l="l" t="t" r="r" b="b"/>
              <a:pathLst>
                <a:path w="3190875" h="285750">
                  <a:moveTo>
                    <a:pt x="3048000" y="285750"/>
                  </a:moveTo>
                  <a:lnTo>
                    <a:pt x="142875" y="285750"/>
                  </a:lnTo>
                  <a:lnTo>
                    <a:pt x="128800" y="285070"/>
                  </a:lnTo>
                  <a:lnTo>
                    <a:pt x="88199" y="274874"/>
                  </a:lnTo>
                  <a:lnTo>
                    <a:pt x="52279" y="253374"/>
                  </a:lnTo>
                  <a:lnTo>
                    <a:pt x="24056" y="222266"/>
                  </a:lnTo>
                  <a:lnTo>
                    <a:pt x="6116" y="184286"/>
                  </a:lnTo>
                  <a:lnTo>
                    <a:pt x="0" y="142875"/>
                  </a:lnTo>
                  <a:lnTo>
                    <a:pt x="679" y="128800"/>
                  </a:lnTo>
                  <a:lnTo>
                    <a:pt x="10875" y="88199"/>
                  </a:lnTo>
                  <a:lnTo>
                    <a:pt x="32375" y="52279"/>
                  </a:lnTo>
                  <a:lnTo>
                    <a:pt x="63483" y="24056"/>
                  </a:lnTo>
                  <a:lnTo>
                    <a:pt x="101463" y="6116"/>
                  </a:lnTo>
                  <a:lnTo>
                    <a:pt x="142875" y="0"/>
                  </a:lnTo>
                  <a:lnTo>
                    <a:pt x="3048000" y="0"/>
                  </a:lnTo>
                  <a:lnTo>
                    <a:pt x="3089411" y="6116"/>
                  </a:lnTo>
                  <a:lnTo>
                    <a:pt x="3127391" y="24056"/>
                  </a:lnTo>
                  <a:lnTo>
                    <a:pt x="3158499" y="52279"/>
                  </a:lnTo>
                  <a:lnTo>
                    <a:pt x="3179999" y="88199"/>
                  </a:lnTo>
                  <a:lnTo>
                    <a:pt x="3190195" y="128800"/>
                  </a:lnTo>
                  <a:lnTo>
                    <a:pt x="3190875" y="142875"/>
                  </a:lnTo>
                  <a:lnTo>
                    <a:pt x="3190195" y="156949"/>
                  </a:lnTo>
                  <a:lnTo>
                    <a:pt x="3179999" y="197550"/>
                  </a:lnTo>
                  <a:lnTo>
                    <a:pt x="3158499" y="233470"/>
                  </a:lnTo>
                  <a:lnTo>
                    <a:pt x="3127391" y="261693"/>
                  </a:lnTo>
                  <a:lnTo>
                    <a:pt x="3089411" y="279633"/>
                  </a:lnTo>
                  <a:lnTo>
                    <a:pt x="3048000" y="285750"/>
                  </a:lnTo>
                  <a:close/>
                </a:path>
              </a:pathLst>
            </a:custGeom>
            <a:solidFill>
              <a:srgbClr val="00D2DE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9624" y="619125"/>
              <a:ext cx="3190875" cy="285750"/>
            </a:xfrm>
            <a:custGeom>
              <a:avLst/>
              <a:gdLst/>
              <a:ahLst/>
              <a:cxnLst/>
              <a:rect l="l" t="t" r="r" b="b"/>
              <a:pathLst>
                <a:path w="3190875" h="285750">
                  <a:moveTo>
                    <a:pt x="3047999" y="285749"/>
                  </a:moveTo>
                  <a:lnTo>
                    <a:pt x="142874" y="285749"/>
                  </a:lnTo>
                  <a:lnTo>
                    <a:pt x="128800" y="285070"/>
                  </a:lnTo>
                  <a:lnTo>
                    <a:pt x="90178" y="275584"/>
                  </a:lnTo>
                  <a:lnTo>
                    <a:pt x="52279" y="253374"/>
                  </a:lnTo>
                  <a:lnTo>
                    <a:pt x="24056" y="222266"/>
                  </a:lnTo>
                  <a:lnTo>
                    <a:pt x="6116" y="184286"/>
                  </a:lnTo>
                  <a:lnTo>
                    <a:pt x="0" y="142874"/>
                  </a:lnTo>
                  <a:lnTo>
                    <a:pt x="631" y="129803"/>
                  </a:lnTo>
                  <a:lnTo>
                    <a:pt x="679" y="128800"/>
                  </a:lnTo>
                  <a:lnTo>
                    <a:pt x="10875" y="88199"/>
                  </a:lnTo>
                  <a:lnTo>
                    <a:pt x="32375" y="52279"/>
                  </a:lnTo>
                  <a:lnTo>
                    <a:pt x="63483" y="24056"/>
                  </a:lnTo>
                  <a:lnTo>
                    <a:pt x="101463" y="6116"/>
                  </a:lnTo>
                  <a:lnTo>
                    <a:pt x="142874" y="0"/>
                  </a:lnTo>
                  <a:lnTo>
                    <a:pt x="3047999" y="0"/>
                  </a:lnTo>
                  <a:lnTo>
                    <a:pt x="3062074" y="679"/>
                  </a:lnTo>
                  <a:lnTo>
                    <a:pt x="3075878" y="2718"/>
                  </a:lnTo>
                  <a:lnTo>
                    <a:pt x="3089411" y="6116"/>
                  </a:lnTo>
                  <a:lnTo>
                    <a:pt x="3098911" y="9525"/>
                  </a:lnTo>
                  <a:lnTo>
                    <a:pt x="142875" y="9525"/>
                  </a:lnTo>
                  <a:lnTo>
                    <a:pt x="136323" y="9685"/>
                  </a:lnTo>
                  <a:lnTo>
                    <a:pt x="129803" y="10165"/>
                  </a:lnTo>
                  <a:lnTo>
                    <a:pt x="124054" y="10875"/>
                  </a:lnTo>
                  <a:lnTo>
                    <a:pt x="123840" y="10875"/>
                  </a:lnTo>
                  <a:lnTo>
                    <a:pt x="85853" y="22330"/>
                  </a:lnTo>
                  <a:lnTo>
                    <a:pt x="53327" y="44063"/>
                  </a:lnTo>
                  <a:lnTo>
                    <a:pt x="28491" y="74325"/>
                  </a:lnTo>
                  <a:lnTo>
                    <a:pt x="13522" y="110465"/>
                  </a:lnTo>
                  <a:lnTo>
                    <a:pt x="9525" y="142874"/>
                  </a:lnTo>
                  <a:lnTo>
                    <a:pt x="9685" y="149426"/>
                  </a:lnTo>
                  <a:lnTo>
                    <a:pt x="17316" y="187791"/>
                  </a:lnTo>
                  <a:lnTo>
                    <a:pt x="35734" y="222266"/>
                  </a:lnTo>
                  <a:lnTo>
                    <a:pt x="63431" y="249979"/>
                  </a:lnTo>
                  <a:lnTo>
                    <a:pt x="97958" y="268433"/>
                  </a:lnTo>
                  <a:lnTo>
                    <a:pt x="136323" y="276064"/>
                  </a:lnTo>
                  <a:lnTo>
                    <a:pt x="142875" y="276225"/>
                  </a:lnTo>
                  <a:lnTo>
                    <a:pt x="3098911" y="276225"/>
                  </a:lnTo>
                  <a:lnTo>
                    <a:pt x="3089411" y="279633"/>
                  </a:lnTo>
                  <a:lnTo>
                    <a:pt x="3075878" y="283031"/>
                  </a:lnTo>
                  <a:lnTo>
                    <a:pt x="3062074" y="285070"/>
                  </a:lnTo>
                  <a:lnTo>
                    <a:pt x="3047999" y="285749"/>
                  </a:lnTo>
                  <a:close/>
                </a:path>
                <a:path w="3190875" h="285750">
                  <a:moveTo>
                    <a:pt x="3098911" y="276225"/>
                  </a:moveTo>
                  <a:lnTo>
                    <a:pt x="3048000" y="276225"/>
                  </a:lnTo>
                  <a:lnTo>
                    <a:pt x="3054551" y="276064"/>
                  </a:lnTo>
                  <a:lnTo>
                    <a:pt x="3061071" y="275584"/>
                  </a:lnTo>
                  <a:lnTo>
                    <a:pt x="3099029" y="266075"/>
                  </a:lnTo>
                  <a:lnTo>
                    <a:pt x="3132596" y="245957"/>
                  </a:lnTo>
                  <a:lnTo>
                    <a:pt x="3158877" y="216959"/>
                  </a:lnTo>
                  <a:lnTo>
                    <a:pt x="3175609" y="181584"/>
                  </a:lnTo>
                  <a:lnTo>
                    <a:pt x="3180585" y="156949"/>
                  </a:lnTo>
                  <a:lnTo>
                    <a:pt x="3180709" y="155946"/>
                  </a:lnTo>
                  <a:lnTo>
                    <a:pt x="3181189" y="149426"/>
                  </a:lnTo>
                  <a:lnTo>
                    <a:pt x="3181349" y="142874"/>
                  </a:lnTo>
                  <a:lnTo>
                    <a:pt x="3181189" y="136323"/>
                  </a:lnTo>
                  <a:lnTo>
                    <a:pt x="3173558" y="97958"/>
                  </a:lnTo>
                  <a:lnTo>
                    <a:pt x="3155104" y="63431"/>
                  </a:lnTo>
                  <a:lnTo>
                    <a:pt x="3127443" y="35770"/>
                  </a:lnTo>
                  <a:lnTo>
                    <a:pt x="3092916" y="17316"/>
                  </a:lnTo>
                  <a:lnTo>
                    <a:pt x="3067034" y="10875"/>
                  </a:lnTo>
                  <a:lnTo>
                    <a:pt x="3066820" y="10875"/>
                  </a:lnTo>
                  <a:lnTo>
                    <a:pt x="3061071" y="10165"/>
                  </a:lnTo>
                  <a:lnTo>
                    <a:pt x="3054551" y="9685"/>
                  </a:lnTo>
                  <a:lnTo>
                    <a:pt x="3048000" y="9525"/>
                  </a:lnTo>
                  <a:lnTo>
                    <a:pt x="3098911" y="9525"/>
                  </a:lnTo>
                  <a:lnTo>
                    <a:pt x="3138594" y="32375"/>
                  </a:lnTo>
                  <a:lnTo>
                    <a:pt x="3166779" y="63431"/>
                  </a:lnTo>
                  <a:lnTo>
                    <a:pt x="3184756" y="101463"/>
                  </a:lnTo>
                  <a:lnTo>
                    <a:pt x="3190874" y="142874"/>
                  </a:lnTo>
                  <a:lnTo>
                    <a:pt x="3190243" y="155946"/>
                  </a:lnTo>
                  <a:lnTo>
                    <a:pt x="3179999" y="197550"/>
                  </a:lnTo>
                  <a:lnTo>
                    <a:pt x="3158499" y="233470"/>
                  </a:lnTo>
                  <a:lnTo>
                    <a:pt x="3127391" y="261693"/>
                  </a:lnTo>
                  <a:lnTo>
                    <a:pt x="3102868" y="274783"/>
                  </a:lnTo>
                  <a:lnTo>
                    <a:pt x="3098911" y="276225"/>
                  </a:lnTo>
                  <a:close/>
                </a:path>
              </a:pathLst>
            </a:custGeom>
            <a:solidFill>
              <a:srgbClr val="00D2D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8850" y="657801"/>
            <a:ext cx="2883535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spc="-50" dirty="0">
                <a:solidFill>
                  <a:srgbClr val="00D2DE"/>
                </a:solidFill>
                <a:latin typeface="Century Gothic"/>
                <a:cs typeface="Century Gothic"/>
              </a:rPr>
              <a:t>CON</a:t>
            </a:r>
            <a:r>
              <a:rPr sz="1100" b="1" spc="-18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CLUSÃO</a:t>
            </a:r>
            <a:r>
              <a:rPr sz="1100" b="1" spc="2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F</a:t>
            </a:r>
            <a:r>
              <a:rPr sz="1100" b="1" spc="-17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0D2DE"/>
                </a:solidFill>
                <a:latin typeface="Century Gothic"/>
                <a:cs typeface="Century Gothic"/>
              </a:rPr>
              <a:t>I</a:t>
            </a:r>
            <a:r>
              <a:rPr sz="1100" b="1" spc="-17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95" dirty="0">
                <a:solidFill>
                  <a:srgbClr val="00D2DE"/>
                </a:solidFill>
                <a:latin typeface="Century Gothic"/>
                <a:cs typeface="Century Gothic"/>
              </a:rPr>
              <a:t>N</a:t>
            </a:r>
            <a:r>
              <a:rPr sz="1100" b="1" spc="-18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AL</a:t>
            </a:r>
            <a:r>
              <a:rPr sz="1100" b="1" spc="5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•</a:t>
            </a:r>
            <a:r>
              <a:rPr sz="1100" b="1" spc="10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0D2DE"/>
                </a:solidFill>
                <a:latin typeface="Century Gothic"/>
                <a:cs typeface="Century Gothic"/>
              </a:rPr>
              <a:t>CH</a:t>
            </a:r>
            <a:r>
              <a:rPr sz="1100" b="1" spc="-16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E</a:t>
            </a:r>
            <a:r>
              <a:rPr sz="1100" b="1" spc="-18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25" dirty="0">
                <a:solidFill>
                  <a:srgbClr val="00D2DE"/>
                </a:solidFill>
                <a:latin typeface="Century Gothic"/>
                <a:cs typeface="Century Gothic"/>
              </a:rPr>
              <a:t>CK</a:t>
            </a:r>
            <a:r>
              <a:rPr sz="1100" b="1" spc="-19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LI</a:t>
            </a:r>
            <a:r>
              <a:rPr sz="1100" b="1" spc="-17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80" dirty="0">
                <a:solidFill>
                  <a:srgbClr val="00D2DE"/>
                </a:solidFill>
                <a:latin typeface="Century Gothic"/>
                <a:cs typeface="Century Gothic"/>
              </a:rPr>
              <a:t>ST</a:t>
            </a:r>
            <a:r>
              <a:rPr sz="1100" b="1" spc="5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55" dirty="0">
                <a:solidFill>
                  <a:srgbClr val="00D2DE"/>
                </a:solidFill>
                <a:latin typeface="Century Gothic"/>
                <a:cs typeface="Century Gothic"/>
              </a:rPr>
              <a:t>D</a:t>
            </a:r>
            <a:r>
              <a:rPr sz="1100" b="1" spc="-17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0D2DE"/>
                </a:solidFill>
                <a:latin typeface="Century Gothic"/>
                <a:cs typeface="Century Gothic"/>
              </a:rPr>
              <a:t>I</a:t>
            </a:r>
            <a:r>
              <a:rPr sz="1100" b="1" spc="-17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30" dirty="0">
                <a:solidFill>
                  <a:srgbClr val="00D2DE"/>
                </a:solidFill>
                <a:latin typeface="Century Gothic"/>
                <a:cs typeface="Century Gothic"/>
              </a:rPr>
              <a:t>ÁR</a:t>
            </a:r>
            <a:r>
              <a:rPr sz="1100" b="1" spc="-175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40" dirty="0">
                <a:solidFill>
                  <a:srgbClr val="00D2DE"/>
                </a:solidFill>
                <a:latin typeface="Century Gothic"/>
                <a:cs typeface="Century Gothic"/>
              </a:rPr>
              <a:t>I</a:t>
            </a:r>
            <a:r>
              <a:rPr sz="1100" b="1" spc="-170" dirty="0">
                <a:solidFill>
                  <a:srgbClr val="00D2DE"/>
                </a:solidFill>
                <a:latin typeface="Century Gothic"/>
                <a:cs typeface="Century Gothic"/>
              </a:rPr>
              <a:t> </a:t>
            </a:r>
            <a:r>
              <a:rPr sz="1100" b="1" spc="-50" dirty="0">
                <a:solidFill>
                  <a:srgbClr val="00D2DE"/>
                </a:solidFill>
                <a:latin typeface="Century Gothic"/>
                <a:cs typeface="Century Gothic"/>
              </a:rPr>
              <a:t>O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96925" y="787642"/>
            <a:ext cx="10175875" cy="879727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3050" dirty="0">
                <a:latin typeface="Arial"/>
                <a:cs typeface="Arial"/>
              </a:rPr>
              <a:t>O Compromisso do Consultor de Alta Performance</a:t>
            </a: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400" b="0" dirty="0">
                <a:solidFill>
                  <a:srgbClr val="93A2B8"/>
                </a:solidFill>
                <a:latin typeface="Century Gothic"/>
                <a:cs typeface="Century Gothic"/>
              </a:rPr>
              <a:t>As 4 regras de ouro para transformar o balcão da sua óptica em uma máquina de vendas de valor.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09625" y="9353549"/>
            <a:ext cx="16668750" cy="9525"/>
          </a:xfrm>
          <a:custGeom>
            <a:avLst/>
            <a:gdLst/>
            <a:ahLst/>
            <a:cxnLst/>
            <a:rect l="l" t="t" r="r" b="b"/>
            <a:pathLst>
              <a:path w="16668750" h="9525">
                <a:moveTo>
                  <a:pt x="16668750" y="9525"/>
                </a:moveTo>
                <a:lnTo>
                  <a:pt x="0" y="9525"/>
                </a:lnTo>
                <a:lnTo>
                  <a:pt x="0" y="0"/>
                </a:lnTo>
                <a:lnTo>
                  <a:pt x="16668750" y="0"/>
                </a:lnTo>
                <a:lnTo>
                  <a:pt x="16668750" y="9525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9625" y="2076449"/>
            <a:ext cx="4029075" cy="7277100"/>
          </a:xfrm>
          <a:custGeom>
            <a:avLst/>
            <a:gdLst/>
            <a:ahLst/>
            <a:cxnLst/>
            <a:rect l="l" t="t" r="r" b="b"/>
            <a:pathLst>
              <a:path w="4029075" h="7277100">
                <a:moveTo>
                  <a:pt x="3876674" y="7277099"/>
                </a:moveTo>
                <a:lnTo>
                  <a:pt x="152399" y="7277099"/>
                </a:lnTo>
                <a:lnTo>
                  <a:pt x="137387" y="7276374"/>
                </a:lnTo>
                <a:lnTo>
                  <a:pt x="94079" y="7265499"/>
                </a:lnTo>
                <a:lnTo>
                  <a:pt x="55765" y="7242564"/>
                </a:lnTo>
                <a:lnTo>
                  <a:pt x="25659" y="7209384"/>
                </a:lnTo>
                <a:lnTo>
                  <a:pt x="6525" y="7168872"/>
                </a:lnTo>
                <a:lnTo>
                  <a:pt x="0" y="7124699"/>
                </a:lnTo>
                <a:lnTo>
                  <a:pt x="0" y="152399"/>
                </a:lnTo>
                <a:lnTo>
                  <a:pt x="6525" y="108227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9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3876674" y="0"/>
                </a:lnTo>
                <a:lnTo>
                  <a:pt x="3920847" y="6525"/>
                </a:lnTo>
                <a:lnTo>
                  <a:pt x="3961359" y="25659"/>
                </a:lnTo>
                <a:lnTo>
                  <a:pt x="3994540" y="55765"/>
                </a:lnTo>
                <a:lnTo>
                  <a:pt x="4017474" y="94079"/>
                </a:lnTo>
                <a:lnTo>
                  <a:pt x="4028349" y="137387"/>
                </a:lnTo>
                <a:lnTo>
                  <a:pt x="4029074" y="152399"/>
                </a:lnTo>
                <a:lnTo>
                  <a:pt x="4029074" y="7124699"/>
                </a:lnTo>
                <a:lnTo>
                  <a:pt x="4022549" y="7168872"/>
                </a:lnTo>
                <a:lnTo>
                  <a:pt x="4003414" y="7209384"/>
                </a:lnTo>
                <a:lnTo>
                  <a:pt x="3973309" y="7242564"/>
                </a:lnTo>
                <a:lnTo>
                  <a:pt x="3934995" y="7265499"/>
                </a:lnTo>
                <a:lnTo>
                  <a:pt x="3891687" y="7276374"/>
                </a:lnTo>
                <a:lnTo>
                  <a:pt x="3876674" y="7277099"/>
                </a:lnTo>
                <a:close/>
              </a:path>
            </a:pathLst>
          </a:custGeom>
          <a:solidFill>
            <a:srgbClr val="0F162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9612" y="2154186"/>
            <a:ext cx="4029710" cy="7199630"/>
          </a:xfrm>
          <a:custGeom>
            <a:avLst/>
            <a:gdLst/>
            <a:ahLst/>
            <a:cxnLst/>
            <a:rect l="l" t="t" r="r" b="b"/>
            <a:pathLst>
              <a:path w="4029710" h="7199630">
                <a:moveTo>
                  <a:pt x="4029087" y="74663"/>
                </a:moveTo>
                <a:lnTo>
                  <a:pt x="4022560" y="30492"/>
                </a:lnTo>
                <a:lnTo>
                  <a:pt x="4009415" y="0"/>
                </a:lnTo>
                <a:lnTo>
                  <a:pt x="4003764" y="22593"/>
                </a:lnTo>
                <a:lnTo>
                  <a:pt x="4008678" y="30924"/>
                </a:lnTo>
                <a:lnTo>
                  <a:pt x="4013441" y="41541"/>
                </a:lnTo>
                <a:lnTo>
                  <a:pt x="4016832" y="52362"/>
                </a:lnTo>
                <a:lnTo>
                  <a:pt x="4018877" y="63411"/>
                </a:lnTo>
                <a:lnTo>
                  <a:pt x="4019550" y="74663"/>
                </a:lnTo>
                <a:lnTo>
                  <a:pt x="4019550" y="7046963"/>
                </a:lnTo>
                <a:lnTo>
                  <a:pt x="4013441" y="7088378"/>
                </a:lnTo>
                <a:lnTo>
                  <a:pt x="3995496" y="7126364"/>
                </a:lnTo>
                <a:lnTo>
                  <a:pt x="3977208" y="7148449"/>
                </a:lnTo>
                <a:lnTo>
                  <a:pt x="3944099" y="7172947"/>
                </a:lnTo>
                <a:lnTo>
                  <a:pt x="3904564" y="7187120"/>
                </a:lnTo>
                <a:lnTo>
                  <a:pt x="3876675" y="7189838"/>
                </a:lnTo>
                <a:lnTo>
                  <a:pt x="152400" y="7189838"/>
                </a:lnTo>
                <a:lnTo>
                  <a:pt x="110998" y="7183729"/>
                </a:lnTo>
                <a:lnTo>
                  <a:pt x="73012" y="7165784"/>
                </a:lnTo>
                <a:lnTo>
                  <a:pt x="51866" y="7148462"/>
                </a:lnTo>
                <a:lnTo>
                  <a:pt x="41910" y="7137565"/>
                </a:lnTo>
                <a:lnTo>
                  <a:pt x="20408" y="7101649"/>
                </a:lnTo>
                <a:lnTo>
                  <a:pt x="10210" y="7061047"/>
                </a:lnTo>
                <a:lnTo>
                  <a:pt x="9525" y="7046963"/>
                </a:lnTo>
                <a:lnTo>
                  <a:pt x="9525" y="74663"/>
                </a:lnTo>
                <a:lnTo>
                  <a:pt x="20408" y="30924"/>
                </a:lnTo>
                <a:lnTo>
                  <a:pt x="25323" y="22593"/>
                </a:lnTo>
                <a:lnTo>
                  <a:pt x="19672" y="0"/>
                </a:lnTo>
                <a:lnTo>
                  <a:pt x="2908" y="44932"/>
                </a:lnTo>
                <a:lnTo>
                  <a:pt x="0" y="74663"/>
                </a:lnTo>
                <a:lnTo>
                  <a:pt x="0" y="7046963"/>
                </a:lnTo>
                <a:lnTo>
                  <a:pt x="6527" y="7091146"/>
                </a:lnTo>
                <a:lnTo>
                  <a:pt x="25666" y="7131659"/>
                </a:lnTo>
                <a:lnTo>
                  <a:pt x="44691" y="7154685"/>
                </a:lnTo>
                <a:lnTo>
                  <a:pt x="80492" y="7181355"/>
                </a:lnTo>
                <a:lnTo>
                  <a:pt x="122669" y="7196468"/>
                </a:lnTo>
                <a:lnTo>
                  <a:pt x="152400" y="7199363"/>
                </a:lnTo>
                <a:lnTo>
                  <a:pt x="3876675" y="7199363"/>
                </a:lnTo>
                <a:lnTo>
                  <a:pt x="3891699" y="7198639"/>
                </a:lnTo>
                <a:lnTo>
                  <a:pt x="3906418" y="7196468"/>
                </a:lnTo>
                <a:lnTo>
                  <a:pt x="3920858" y="7192848"/>
                </a:lnTo>
                <a:lnTo>
                  <a:pt x="3929215" y="7189838"/>
                </a:lnTo>
                <a:lnTo>
                  <a:pt x="3935006" y="7187768"/>
                </a:lnTo>
                <a:lnTo>
                  <a:pt x="3948595" y="7181355"/>
                </a:lnTo>
                <a:lnTo>
                  <a:pt x="3961371" y="7173709"/>
                </a:lnTo>
                <a:lnTo>
                  <a:pt x="3973322" y="7164832"/>
                </a:lnTo>
                <a:lnTo>
                  <a:pt x="3984447" y="7154735"/>
                </a:lnTo>
                <a:lnTo>
                  <a:pt x="3994543" y="7143597"/>
                </a:lnTo>
                <a:lnTo>
                  <a:pt x="4017480" y="7105294"/>
                </a:lnTo>
                <a:lnTo>
                  <a:pt x="4028351" y="7061987"/>
                </a:lnTo>
                <a:lnTo>
                  <a:pt x="4029087" y="7046963"/>
                </a:lnTo>
                <a:lnTo>
                  <a:pt x="4029087" y="7466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9126" y="2076449"/>
            <a:ext cx="3990340" cy="100965"/>
          </a:xfrm>
          <a:custGeom>
            <a:avLst/>
            <a:gdLst/>
            <a:ahLst/>
            <a:cxnLst/>
            <a:rect l="l" t="t" r="r" b="b"/>
            <a:pathLst>
              <a:path w="3990340" h="100964">
                <a:moveTo>
                  <a:pt x="5650" y="100604"/>
                </a:moveTo>
                <a:lnTo>
                  <a:pt x="15032" y="55765"/>
                </a:lnTo>
                <a:lnTo>
                  <a:pt x="48213" y="25659"/>
                </a:lnTo>
                <a:lnTo>
                  <a:pt x="88725" y="6525"/>
                </a:lnTo>
                <a:lnTo>
                  <a:pt x="132898" y="0"/>
                </a:lnTo>
                <a:lnTo>
                  <a:pt x="3857173" y="0"/>
                </a:lnTo>
                <a:lnTo>
                  <a:pt x="3872185" y="725"/>
                </a:lnTo>
                <a:lnTo>
                  <a:pt x="3915493" y="11600"/>
                </a:lnTo>
                <a:lnTo>
                  <a:pt x="3953807" y="34533"/>
                </a:lnTo>
                <a:lnTo>
                  <a:pt x="3957735" y="38099"/>
                </a:lnTo>
                <a:lnTo>
                  <a:pt x="132898" y="38099"/>
                </a:lnTo>
                <a:lnTo>
                  <a:pt x="118823" y="38644"/>
                </a:lnTo>
                <a:lnTo>
                  <a:pt x="78223" y="46802"/>
                </a:lnTo>
                <a:lnTo>
                  <a:pt x="42303" y="63999"/>
                </a:lnTo>
                <a:lnTo>
                  <a:pt x="6913" y="98464"/>
                </a:lnTo>
                <a:lnTo>
                  <a:pt x="5650" y="100604"/>
                </a:lnTo>
                <a:close/>
              </a:path>
              <a:path w="3990340" h="100964">
                <a:moveTo>
                  <a:pt x="3984423" y="100604"/>
                </a:moveTo>
                <a:lnTo>
                  <a:pt x="3958202" y="71576"/>
                </a:lnTo>
                <a:lnTo>
                  <a:pt x="3924591" y="51612"/>
                </a:lnTo>
                <a:lnTo>
                  <a:pt x="3885051" y="40275"/>
                </a:lnTo>
                <a:lnTo>
                  <a:pt x="3857173" y="38099"/>
                </a:lnTo>
                <a:lnTo>
                  <a:pt x="3957735" y="38099"/>
                </a:lnTo>
                <a:lnTo>
                  <a:pt x="3964935" y="44637"/>
                </a:lnTo>
                <a:lnTo>
                  <a:pt x="3975039" y="55765"/>
                </a:lnTo>
                <a:lnTo>
                  <a:pt x="3983912" y="67715"/>
                </a:lnTo>
                <a:lnTo>
                  <a:pt x="3990070" y="78003"/>
                </a:lnTo>
                <a:lnTo>
                  <a:pt x="3984423" y="100604"/>
                </a:lnTo>
                <a:close/>
              </a:path>
            </a:pathLst>
          </a:custGeom>
          <a:solidFill>
            <a:srgbClr val="00D2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73150" y="2310455"/>
            <a:ext cx="3407410" cy="145809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30"/>
              </a:spcBef>
            </a:pPr>
            <a:r>
              <a:rPr sz="1100" b="1" dirty="0">
                <a:solidFill>
                  <a:srgbClr val="00D2DE"/>
                </a:solidFill>
                <a:latin typeface="Century Gothic"/>
                <a:cs typeface="Century Gothic"/>
              </a:rPr>
              <a:t>REGRA 1</a:t>
            </a:r>
            <a:endParaRPr sz="1100">
              <a:latin typeface="Century Gothic"/>
              <a:cs typeface="Century Gothic"/>
            </a:endParaRPr>
          </a:p>
          <a:p>
            <a:pPr marL="12700" algn="just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Elimine a Oferta da Pronta</a:t>
            </a:r>
            <a:endParaRPr sz="1600">
              <a:latin typeface="Arial"/>
              <a:cs typeface="Arial"/>
            </a:endParaRPr>
          </a:p>
          <a:p>
            <a:pPr marL="12700" marR="5080" algn="just">
              <a:lnSpc>
                <a:spcPct val="105000"/>
              </a:lnSpc>
              <a:spcBef>
                <a:spcPts val="905"/>
              </a:spcBef>
            </a:pP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Nunca ofereça lente pronta de início. Ela é apenas uma opção emergencial para quem tem pressa extrema ou baixíssimo orçamento.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73149" y="8896926"/>
            <a:ext cx="3322587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38BCF8"/>
                </a:solidFill>
                <a:latin typeface="Century Gothic"/>
                <a:cs typeface="Century Gothic"/>
              </a:rPr>
              <a:t>Ofereça sempre Valor primeiro!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29200" y="2076449"/>
            <a:ext cx="4019550" cy="7277100"/>
          </a:xfrm>
          <a:custGeom>
            <a:avLst/>
            <a:gdLst/>
            <a:ahLst/>
            <a:cxnLst/>
            <a:rect l="l" t="t" r="r" b="b"/>
            <a:pathLst>
              <a:path w="4019550" h="7277100">
                <a:moveTo>
                  <a:pt x="3867149" y="7277099"/>
                </a:moveTo>
                <a:lnTo>
                  <a:pt x="152399" y="7277099"/>
                </a:lnTo>
                <a:lnTo>
                  <a:pt x="137387" y="7276374"/>
                </a:lnTo>
                <a:lnTo>
                  <a:pt x="94079" y="7265499"/>
                </a:lnTo>
                <a:lnTo>
                  <a:pt x="55765" y="7242564"/>
                </a:lnTo>
                <a:lnTo>
                  <a:pt x="25659" y="7209384"/>
                </a:lnTo>
                <a:lnTo>
                  <a:pt x="6525" y="7168872"/>
                </a:lnTo>
                <a:lnTo>
                  <a:pt x="0" y="7124699"/>
                </a:lnTo>
                <a:lnTo>
                  <a:pt x="0" y="152399"/>
                </a:lnTo>
                <a:lnTo>
                  <a:pt x="6525" y="108227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9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3867149" y="0"/>
                </a:lnTo>
                <a:lnTo>
                  <a:pt x="3911322" y="6525"/>
                </a:lnTo>
                <a:lnTo>
                  <a:pt x="3951834" y="25659"/>
                </a:lnTo>
                <a:lnTo>
                  <a:pt x="3985015" y="55765"/>
                </a:lnTo>
                <a:lnTo>
                  <a:pt x="4007949" y="94079"/>
                </a:lnTo>
                <a:lnTo>
                  <a:pt x="4018824" y="137387"/>
                </a:lnTo>
                <a:lnTo>
                  <a:pt x="4019549" y="152399"/>
                </a:lnTo>
                <a:lnTo>
                  <a:pt x="4019549" y="7124699"/>
                </a:lnTo>
                <a:lnTo>
                  <a:pt x="4013024" y="7168872"/>
                </a:lnTo>
                <a:lnTo>
                  <a:pt x="3993889" y="7209384"/>
                </a:lnTo>
                <a:lnTo>
                  <a:pt x="3963784" y="7242564"/>
                </a:lnTo>
                <a:lnTo>
                  <a:pt x="3925470" y="7265499"/>
                </a:lnTo>
                <a:lnTo>
                  <a:pt x="3882162" y="7276374"/>
                </a:lnTo>
                <a:lnTo>
                  <a:pt x="3867149" y="7277099"/>
                </a:lnTo>
                <a:close/>
              </a:path>
            </a:pathLst>
          </a:custGeom>
          <a:solidFill>
            <a:srgbClr val="0F162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29187" y="2154186"/>
            <a:ext cx="4019550" cy="7199630"/>
          </a:xfrm>
          <a:custGeom>
            <a:avLst/>
            <a:gdLst/>
            <a:ahLst/>
            <a:cxnLst/>
            <a:rect l="l" t="t" r="r" b="b"/>
            <a:pathLst>
              <a:path w="4019550" h="7199630">
                <a:moveTo>
                  <a:pt x="4019550" y="74663"/>
                </a:moveTo>
                <a:lnTo>
                  <a:pt x="4013035" y="30492"/>
                </a:lnTo>
                <a:lnTo>
                  <a:pt x="3999890" y="0"/>
                </a:lnTo>
                <a:lnTo>
                  <a:pt x="3994239" y="22593"/>
                </a:lnTo>
                <a:lnTo>
                  <a:pt x="3999153" y="30924"/>
                </a:lnTo>
                <a:lnTo>
                  <a:pt x="4003916" y="41541"/>
                </a:lnTo>
                <a:lnTo>
                  <a:pt x="4007307" y="52362"/>
                </a:lnTo>
                <a:lnTo>
                  <a:pt x="4009352" y="63411"/>
                </a:lnTo>
                <a:lnTo>
                  <a:pt x="4010025" y="74663"/>
                </a:lnTo>
                <a:lnTo>
                  <a:pt x="4010025" y="7046963"/>
                </a:lnTo>
                <a:lnTo>
                  <a:pt x="4003916" y="7088378"/>
                </a:lnTo>
                <a:lnTo>
                  <a:pt x="3985971" y="7126364"/>
                </a:lnTo>
                <a:lnTo>
                  <a:pt x="3967683" y="7148449"/>
                </a:lnTo>
                <a:lnTo>
                  <a:pt x="3934574" y="7172947"/>
                </a:lnTo>
                <a:lnTo>
                  <a:pt x="3895039" y="7187120"/>
                </a:lnTo>
                <a:lnTo>
                  <a:pt x="3867150" y="7189838"/>
                </a:lnTo>
                <a:lnTo>
                  <a:pt x="152400" y="7189838"/>
                </a:lnTo>
                <a:lnTo>
                  <a:pt x="110998" y="7183729"/>
                </a:lnTo>
                <a:lnTo>
                  <a:pt x="73012" y="7165784"/>
                </a:lnTo>
                <a:lnTo>
                  <a:pt x="51866" y="7148462"/>
                </a:lnTo>
                <a:lnTo>
                  <a:pt x="41910" y="7137565"/>
                </a:lnTo>
                <a:lnTo>
                  <a:pt x="20408" y="7101649"/>
                </a:lnTo>
                <a:lnTo>
                  <a:pt x="10210" y="7061047"/>
                </a:lnTo>
                <a:lnTo>
                  <a:pt x="9525" y="7046963"/>
                </a:lnTo>
                <a:lnTo>
                  <a:pt x="9525" y="74663"/>
                </a:lnTo>
                <a:lnTo>
                  <a:pt x="20408" y="30924"/>
                </a:lnTo>
                <a:lnTo>
                  <a:pt x="25323" y="22593"/>
                </a:lnTo>
                <a:lnTo>
                  <a:pt x="19672" y="0"/>
                </a:lnTo>
                <a:lnTo>
                  <a:pt x="2908" y="44932"/>
                </a:lnTo>
                <a:lnTo>
                  <a:pt x="0" y="74663"/>
                </a:lnTo>
                <a:lnTo>
                  <a:pt x="0" y="7046963"/>
                </a:lnTo>
                <a:lnTo>
                  <a:pt x="6527" y="7091146"/>
                </a:lnTo>
                <a:lnTo>
                  <a:pt x="25666" y="7131659"/>
                </a:lnTo>
                <a:lnTo>
                  <a:pt x="44691" y="7154685"/>
                </a:lnTo>
                <a:lnTo>
                  <a:pt x="80492" y="7181355"/>
                </a:lnTo>
                <a:lnTo>
                  <a:pt x="122669" y="7196468"/>
                </a:lnTo>
                <a:lnTo>
                  <a:pt x="152400" y="7199363"/>
                </a:lnTo>
                <a:lnTo>
                  <a:pt x="3867150" y="7199363"/>
                </a:lnTo>
                <a:lnTo>
                  <a:pt x="3882174" y="7198639"/>
                </a:lnTo>
                <a:lnTo>
                  <a:pt x="3896893" y="7196468"/>
                </a:lnTo>
                <a:lnTo>
                  <a:pt x="3911333" y="7192848"/>
                </a:lnTo>
                <a:lnTo>
                  <a:pt x="3919690" y="7189838"/>
                </a:lnTo>
                <a:lnTo>
                  <a:pt x="3925481" y="7187768"/>
                </a:lnTo>
                <a:lnTo>
                  <a:pt x="3939070" y="7181355"/>
                </a:lnTo>
                <a:lnTo>
                  <a:pt x="3951846" y="7173709"/>
                </a:lnTo>
                <a:lnTo>
                  <a:pt x="3963784" y="7164832"/>
                </a:lnTo>
                <a:lnTo>
                  <a:pt x="3974922" y="7154735"/>
                </a:lnTo>
                <a:lnTo>
                  <a:pt x="3985018" y="7143597"/>
                </a:lnTo>
                <a:lnTo>
                  <a:pt x="4007955" y="7105294"/>
                </a:lnTo>
                <a:lnTo>
                  <a:pt x="4018826" y="7061987"/>
                </a:lnTo>
                <a:lnTo>
                  <a:pt x="4019550" y="7046963"/>
                </a:lnTo>
                <a:lnTo>
                  <a:pt x="4019550" y="7466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48701" y="2076449"/>
            <a:ext cx="3980815" cy="100965"/>
          </a:xfrm>
          <a:custGeom>
            <a:avLst/>
            <a:gdLst/>
            <a:ahLst/>
            <a:cxnLst/>
            <a:rect l="l" t="t" r="r" b="b"/>
            <a:pathLst>
              <a:path w="3980815" h="100964">
                <a:moveTo>
                  <a:pt x="5650" y="100604"/>
                </a:moveTo>
                <a:lnTo>
                  <a:pt x="15032" y="55765"/>
                </a:lnTo>
                <a:lnTo>
                  <a:pt x="48213" y="25659"/>
                </a:lnTo>
                <a:lnTo>
                  <a:pt x="88725" y="6525"/>
                </a:lnTo>
                <a:lnTo>
                  <a:pt x="132898" y="0"/>
                </a:lnTo>
                <a:lnTo>
                  <a:pt x="3847648" y="0"/>
                </a:lnTo>
                <a:lnTo>
                  <a:pt x="3862660" y="725"/>
                </a:lnTo>
                <a:lnTo>
                  <a:pt x="3905968" y="11600"/>
                </a:lnTo>
                <a:lnTo>
                  <a:pt x="3944282" y="34533"/>
                </a:lnTo>
                <a:lnTo>
                  <a:pt x="3948210" y="38099"/>
                </a:lnTo>
                <a:lnTo>
                  <a:pt x="132898" y="38099"/>
                </a:lnTo>
                <a:lnTo>
                  <a:pt x="118823" y="38644"/>
                </a:lnTo>
                <a:lnTo>
                  <a:pt x="78223" y="46802"/>
                </a:lnTo>
                <a:lnTo>
                  <a:pt x="42303" y="63999"/>
                </a:lnTo>
                <a:lnTo>
                  <a:pt x="6913" y="98464"/>
                </a:lnTo>
                <a:lnTo>
                  <a:pt x="5650" y="100604"/>
                </a:lnTo>
                <a:close/>
              </a:path>
              <a:path w="3980815" h="100964">
                <a:moveTo>
                  <a:pt x="3974898" y="100604"/>
                </a:moveTo>
                <a:lnTo>
                  <a:pt x="3948677" y="71576"/>
                </a:lnTo>
                <a:lnTo>
                  <a:pt x="3915066" y="51612"/>
                </a:lnTo>
                <a:lnTo>
                  <a:pt x="3875526" y="40275"/>
                </a:lnTo>
                <a:lnTo>
                  <a:pt x="3847648" y="38099"/>
                </a:lnTo>
                <a:lnTo>
                  <a:pt x="3948210" y="38099"/>
                </a:lnTo>
                <a:lnTo>
                  <a:pt x="3955410" y="44637"/>
                </a:lnTo>
                <a:lnTo>
                  <a:pt x="3965514" y="55765"/>
                </a:lnTo>
                <a:lnTo>
                  <a:pt x="3974387" y="67715"/>
                </a:lnTo>
                <a:lnTo>
                  <a:pt x="3980545" y="78003"/>
                </a:lnTo>
                <a:lnTo>
                  <a:pt x="3974898" y="100604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287962" y="2310455"/>
            <a:ext cx="3397885" cy="145809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dirty="0">
                <a:solidFill>
                  <a:srgbClr val="38BCF8"/>
                </a:solidFill>
                <a:latin typeface="Century Gothic"/>
                <a:cs typeface="Century Gothic"/>
              </a:rPr>
              <a:t>REGRA 2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Investigue a Vida Digital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5000"/>
              </a:lnSpc>
              <a:spcBef>
                <a:spcPts val="905"/>
              </a:spcBef>
            </a:pP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100% dos clientes de visão simples usam smartphone. Faça as 3 perguntas de sondagem antes de falar de qualquer especificação técnica.</a:t>
            </a:r>
            <a:endParaRPr sz="125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7962" y="8896926"/>
            <a:ext cx="3537981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38BCF8"/>
                </a:solidFill>
                <a:latin typeface="Century Gothic"/>
                <a:cs typeface="Century Gothic"/>
              </a:rPr>
              <a:t>Conecte-se com a dor do cliente!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239250" y="2076449"/>
            <a:ext cx="4029075" cy="7277100"/>
          </a:xfrm>
          <a:custGeom>
            <a:avLst/>
            <a:gdLst/>
            <a:ahLst/>
            <a:cxnLst/>
            <a:rect l="l" t="t" r="r" b="b"/>
            <a:pathLst>
              <a:path w="4029075" h="7277100">
                <a:moveTo>
                  <a:pt x="3876674" y="7277099"/>
                </a:moveTo>
                <a:lnTo>
                  <a:pt x="152399" y="7277099"/>
                </a:lnTo>
                <a:lnTo>
                  <a:pt x="137387" y="7276374"/>
                </a:lnTo>
                <a:lnTo>
                  <a:pt x="94079" y="7265499"/>
                </a:lnTo>
                <a:lnTo>
                  <a:pt x="55765" y="7242564"/>
                </a:lnTo>
                <a:lnTo>
                  <a:pt x="25659" y="7209384"/>
                </a:lnTo>
                <a:lnTo>
                  <a:pt x="6525" y="7168872"/>
                </a:lnTo>
                <a:lnTo>
                  <a:pt x="0" y="7124699"/>
                </a:lnTo>
                <a:lnTo>
                  <a:pt x="0" y="152399"/>
                </a:lnTo>
                <a:lnTo>
                  <a:pt x="6525" y="108227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9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3876674" y="0"/>
                </a:lnTo>
                <a:lnTo>
                  <a:pt x="3920847" y="6525"/>
                </a:lnTo>
                <a:lnTo>
                  <a:pt x="3961359" y="25659"/>
                </a:lnTo>
                <a:lnTo>
                  <a:pt x="3994540" y="55765"/>
                </a:lnTo>
                <a:lnTo>
                  <a:pt x="4017474" y="94079"/>
                </a:lnTo>
                <a:lnTo>
                  <a:pt x="4028349" y="137387"/>
                </a:lnTo>
                <a:lnTo>
                  <a:pt x="4029074" y="152399"/>
                </a:lnTo>
                <a:lnTo>
                  <a:pt x="4029074" y="7124699"/>
                </a:lnTo>
                <a:lnTo>
                  <a:pt x="4022549" y="7168872"/>
                </a:lnTo>
                <a:lnTo>
                  <a:pt x="4003414" y="7209384"/>
                </a:lnTo>
                <a:lnTo>
                  <a:pt x="3973309" y="7242564"/>
                </a:lnTo>
                <a:lnTo>
                  <a:pt x="3934995" y="7265499"/>
                </a:lnTo>
                <a:lnTo>
                  <a:pt x="3891687" y="7276374"/>
                </a:lnTo>
                <a:lnTo>
                  <a:pt x="3876674" y="7277099"/>
                </a:lnTo>
                <a:close/>
              </a:path>
            </a:pathLst>
          </a:custGeom>
          <a:solidFill>
            <a:srgbClr val="0F162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239238" y="2154186"/>
            <a:ext cx="4029075" cy="7199630"/>
          </a:xfrm>
          <a:custGeom>
            <a:avLst/>
            <a:gdLst/>
            <a:ahLst/>
            <a:cxnLst/>
            <a:rect l="l" t="t" r="r" b="b"/>
            <a:pathLst>
              <a:path w="4029075" h="7199630">
                <a:moveTo>
                  <a:pt x="4029075" y="74663"/>
                </a:moveTo>
                <a:lnTo>
                  <a:pt x="4022560" y="30492"/>
                </a:lnTo>
                <a:lnTo>
                  <a:pt x="4009415" y="0"/>
                </a:lnTo>
                <a:lnTo>
                  <a:pt x="4003764" y="22593"/>
                </a:lnTo>
                <a:lnTo>
                  <a:pt x="4008678" y="30924"/>
                </a:lnTo>
                <a:lnTo>
                  <a:pt x="4013441" y="41541"/>
                </a:lnTo>
                <a:lnTo>
                  <a:pt x="4016832" y="52362"/>
                </a:lnTo>
                <a:lnTo>
                  <a:pt x="4018877" y="63411"/>
                </a:lnTo>
                <a:lnTo>
                  <a:pt x="4019550" y="74663"/>
                </a:lnTo>
                <a:lnTo>
                  <a:pt x="4019550" y="7046963"/>
                </a:lnTo>
                <a:lnTo>
                  <a:pt x="4013441" y="7088378"/>
                </a:lnTo>
                <a:lnTo>
                  <a:pt x="3995496" y="7126364"/>
                </a:lnTo>
                <a:lnTo>
                  <a:pt x="3977208" y="7148449"/>
                </a:lnTo>
                <a:lnTo>
                  <a:pt x="3944099" y="7172947"/>
                </a:lnTo>
                <a:lnTo>
                  <a:pt x="3904564" y="7187120"/>
                </a:lnTo>
                <a:lnTo>
                  <a:pt x="3876675" y="7189838"/>
                </a:lnTo>
                <a:lnTo>
                  <a:pt x="152400" y="7189838"/>
                </a:lnTo>
                <a:lnTo>
                  <a:pt x="110998" y="7183729"/>
                </a:lnTo>
                <a:lnTo>
                  <a:pt x="73012" y="7165784"/>
                </a:lnTo>
                <a:lnTo>
                  <a:pt x="51866" y="7148462"/>
                </a:lnTo>
                <a:lnTo>
                  <a:pt x="41910" y="7137565"/>
                </a:lnTo>
                <a:lnTo>
                  <a:pt x="20408" y="7101649"/>
                </a:lnTo>
                <a:lnTo>
                  <a:pt x="10210" y="7061047"/>
                </a:lnTo>
                <a:lnTo>
                  <a:pt x="9525" y="7046963"/>
                </a:lnTo>
                <a:lnTo>
                  <a:pt x="9525" y="74663"/>
                </a:lnTo>
                <a:lnTo>
                  <a:pt x="20408" y="30924"/>
                </a:lnTo>
                <a:lnTo>
                  <a:pt x="25323" y="22593"/>
                </a:lnTo>
                <a:lnTo>
                  <a:pt x="19672" y="0"/>
                </a:lnTo>
                <a:lnTo>
                  <a:pt x="2908" y="44932"/>
                </a:lnTo>
                <a:lnTo>
                  <a:pt x="0" y="74663"/>
                </a:lnTo>
                <a:lnTo>
                  <a:pt x="0" y="7046963"/>
                </a:lnTo>
                <a:lnTo>
                  <a:pt x="6527" y="7091146"/>
                </a:lnTo>
                <a:lnTo>
                  <a:pt x="25666" y="7131659"/>
                </a:lnTo>
                <a:lnTo>
                  <a:pt x="44691" y="7154685"/>
                </a:lnTo>
                <a:lnTo>
                  <a:pt x="80492" y="7181355"/>
                </a:lnTo>
                <a:lnTo>
                  <a:pt x="122669" y="7196468"/>
                </a:lnTo>
                <a:lnTo>
                  <a:pt x="152400" y="7199363"/>
                </a:lnTo>
                <a:lnTo>
                  <a:pt x="3876675" y="7199363"/>
                </a:lnTo>
                <a:lnTo>
                  <a:pt x="3891699" y="7198639"/>
                </a:lnTo>
                <a:lnTo>
                  <a:pt x="3906418" y="7196468"/>
                </a:lnTo>
                <a:lnTo>
                  <a:pt x="3920858" y="7192848"/>
                </a:lnTo>
                <a:lnTo>
                  <a:pt x="3929215" y="7189838"/>
                </a:lnTo>
                <a:lnTo>
                  <a:pt x="3935006" y="7187768"/>
                </a:lnTo>
                <a:lnTo>
                  <a:pt x="3948595" y="7181355"/>
                </a:lnTo>
                <a:lnTo>
                  <a:pt x="3961371" y="7173709"/>
                </a:lnTo>
                <a:lnTo>
                  <a:pt x="3973309" y="7164832"/>
                </a:lnTo>
                <a:lnTo>
                  <a:pt x="3984447" y="7154735"/>
                </a:lnTo>
                <a:lnTo>
                  <a:pt x="3994543" y="7143597"/>
                </a:lnTo>
                <a:lnTo>
                  <a:pt x="4017480" y="7105294"/>
                </a:lnTo>
                <a:lnTo>
                  <a:pt x="4028351" y="7061987"/>
                </a:lnTo>
                <a:lnTo>
                  <a:pt x="4029075" y="7046963"/>
                </a:lnTo>
                <a:lnTo>
                  <a:pt x="4029075" y="7466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258751" y="2076449"/>
            <a:ext cx="3990340" cy="100965"/>
          </a:xfrm>
          <a:custGeom>
            <a:avLst/>
            <a:gdLst/>
            <a:ahLst/>
            <a:cxnLst/>
            <a:rect l="l" t="t" r="r" b="b"/>
            <a:pathLst>
              <a:path w="3990340" h="100964">
                <a:moveTo>
                  <a:pt x="5650" y="100604"/>
                </a:moveTo>
                <a:lnTo>
                  <a:pt x="15032" y="55765"/>
                </a:lnTo>
                <a:lnTo>
                  <a:pt x="48213" y="25659"/>
                </a:lnTo>
                <a:lnTo>
                  <a:pt x="88725" y="6525"/>
                </a:lnTo>
                <a:lnTo>
                  <a:pt x="132898" y="0"/>
                </a:lnTo>
                <a:lnTo>
                  <a:pt x="3857173" y="0"/>
                </a:lnTo>
                <a:lnTo>
                  <a:pt x="3872185" y="725"/>
                </a:lnTo>
                <a:lnTo>
                  <a:pt x="3915493" y="11600"/>
                </a:lnTo>
                <a:lnTo>
                  <a:pt x="3953807" y="34533"/>
                </a:lnTo>
                <a:lnTo>
                  <a:pt x="3957735" y="38099"/>
                </a:lnTo>
                <a:lnTo>
                  <a:pt x="132898" y="38099"/>
                </a:lnTo>
                <a:lnTo>
                  <a:pt x="118823" y="38644"/>
                </a:lnTo>
                <a:lnTo>
                  <a:pt x="78223" y="46802"/>
                </a:lnTo>
                <a:lnTo>
                  <a:pt x="42303" y="63999"/>
                </a:lnTo>
                <a:lnTo>
                  <a:pt x="6913" y="98464"/>
                </a:lnTo>
                <a:lnTo>
                  <a:pt x="5650" y="100604"/>
                </a:lnTo>
                <a:close/>
              </a:path>
              <a:path w="3990340" h="100964">
                <a:moveTo>
                  <a:pt x="3984423" y="100604"/>
                </a:moveTo>
                <a:lnTo>
                  <a:pt x="3958202" y="71576"/>
                </a:lnTo>
                <a:lnTo>
                  <a:pt x="3924591" y="51612"/>
                </a:lnTo>
                <a:lnTo>
                  <a:pt x="3885051" y="40275"/>
                </a:lnTo>
                <a:lnTo>
                  <a:pt x="3857173" y="38099"/>
                </a:lnTo>
                <a:lnTo>
                  <a:pt x="3957735" y="38099"/>
                </a:lnTo>
                <a:lnTo>
                  <a:pt x="3964935" y="44637"/>
                </a:lnTo>
                <a:lnTo>
                  <a:pt x="3975039" y="55765"/>
                </a:lnTo>
                <a:lnTo>
                  <a:pt x="3983912" y="67715"/>
                </a:lnTo>
                <a:lnTo>
                  <a:pt x="3990070" y="78003"/>
                </a:lnTo>
                <a:lnTo>
                  <a:pt x="3984423" y="100604"/>
                </a:lnTo>
                <a:close/>
              </a:path>
            </a:pathLst>
          </a:custGeom>
          <a:solidFill>
            <a:srgbClr val="10B8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502775" y="2310455"/>
            <a:ext cx="3451225" cy="145809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dirty="0">
                <a:solidFill>
                  <a:srgbClr val="10B881"/>
                </a:solidFill>
                <a:latin typeface="Century Gothic"/>
                <a:cs typeface="Century Gothic"/>
              </a:rPr>
              <a:t>REGRA 3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Posicione o "2 em 1"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5000"/>
              </a:lnSpc>
              <a:spcBef>
                <a:spcPts val="905"/>
              </a:spcBef>
            </a:pP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Mostre que a </a:t>
            </a:r>
            <a:r>
              <a:rPr lang="pt-BR" sz="1250" dirty="0">
                <a:solidFill>
                  <a:srgbClr val="93A2B8"/>
                </a:solidFill>
                <a:latin typeface="Century Gothic"/>
                <a:cs typeface="Century Gothic"/>
              </a:rPr>
              <a:t>linha </a:t>
            </a: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Gold Comfort </a:t>
            </a:r>
            <a:r>
              <a:rPr sz="1250" dirty="0" err="1">
                <a:solidFill>
                  <a:srgbClr val="93A2B8"/>
                </a:solidFill>
                <a:latin typeface="Century Gothic"/>
                <a:cs typeface="Century Gothic"/>
              </a:rPr>
              <a:t>atende</a:t>
            </a: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 o grau para longe e adiciona um amortecedor com Inteligência para as telas.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502774" y="8896926"/>
            <a:ext cx="3156899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10B881"/>
                </a:solidFill>
                <a:latin typeface="Century Gothic"/>
                <a:cs typeface="Century Gothic"/>
              </a:rPr>
              <a:t>Multiplique o valor percebido!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3458825" y="2076449"/>
            <a:ext cx="4019550" cy="7277100"/>
          </a:xfrm>
          <a:custGeom>
            <a:avLst/>
            <a:gdLst/>
            <a:ahLst/>
            <a:cxnLst/>
            <a:rect l="l" t="t" r="r" b="b"/>
            <a:pathLst>
              <a:path w="4019550" h="7277100">
                <a:moveTo>
                  <a:pt x="3867149" y="7277099"/>
                </a:moveTo>
                <a:lnTo>
                  <a:pt x="152399" y="7277099"/>
                </a:lnTo>
                <a:lnTo>
                  <a:pt x="137387" y="7276374"/>
                </a:lnTo>
                <a:lnTo>
                  <a:pt x="94079" y="7265499"/>
                </a:lnTo>
                <a:lnTo>
                  <a:pt x="55765" y="7242564"/>
                </a:lnTo>
                <a:lnTo>
                  <a:pt x="25659" y="7209384"/>
                </a:lnTo>
                <a:lnTo>
                  <a:pt x="6525" y="7168872"/>
                </a:lnTo>
                <a:lnTo>
                  <a:pt x="0" y="7124699"/>
                </a:lnTo>
                <a:lnTo>
                  <a:pt x="0" y="152399"/>
                </a:lnTo>
                <a:lnTo>
                  <a:pt x="6525" y="108227"/>
                </a:lnTo>
                <a:lnTo>
                  <a:pt x="25659" y="67715"/>
                </a:lnTo>
                <a:lnTo>
                  <a:pt x="55765" y="34533"/>
                </a:lnTo>
                <a:lnTo>
                  <a:pt x="94079" y="11600"/>
                </a:lnTo>
                <a:lnTo>
                  <a:pt x="137387" y="725"/>
                </a:lnTo>
                <a:lnTo>
                  <a:pt x="152399" y="0"/>
                </a:lnTo>
                <a:lnTo>
                  <a:pt x="3867149" y="0"/>
                </a:lnTo>
                <a:lnTo>
                  <a:pt x="3911322" y="6525"/>
                </a:lnTo>
                <a:lnTo>
                  <a:pt x="3951834" y="25659"/>
                </a:lnTo>
                <a:lnTo>
                  <a:pt x="3985015" y="55765"/>
                </a:lnTo>
                <a:lnTo>
                  <a:pt x="4007949" y="94079"/>
                </a:lnTo>
                <a:lnTo>
                  <a:pt x="4018824" y="137387"/>
                </a:lnTo>
                <a:lnTo>
                  <a:pt x="4019549" y="152399"/>
                </a:lnTo>
                <a:lnTo>
                  <a:pt x="4019549" y="7124699"/>
                </a:lnTo>
                <a:lnTo>
                  <a:pt x="4013024" y="7168872"/>
                </a:lnTo>
                <a:lnTo>
                  <a:pt x="3993889" y="7209384"/>
                </a:lnTo>
                <a:lnTo>
                  <a:pt x="3963784" y="7242564"/>
                </a:lnTo>
                <a:lnTo>
                  <a:pt x="3925470" y="7265499"/>
                </a:lnTo>
                <a:lnTo>
                  <a:pt x="3882162" y="7276374"/>
                </a:lnTo>
                <a:lnTo>
                  <a:pt x="3867149" y="7277099"/>
                </a:lnTo>
                <a:close/>
              </a:path>
            </a:pathLst>
          </a:custGeom>
          <a:solidFill>
            <a:srgbClr val="0F162A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458825" y="2154186"/>
            <a:ext cx="4019550" cy="7199630"/>
          </a:xfrm>
          <a:custGeom>
            <a:avLst/>
            <a:gdLst/>
            <a:ahLst/>
            <a:cxnLst/>
            <a:rect l="l" t="t" r="r" b="b"/>
            <a:pathLst>
              <a:path w="4019550" h="7199630">
                <a:moveTo>
                  <a:pt x="4019550" y="74663"/>
                </a:moveTo>
                <a:lnTo>
                  <a:pt x="4013022" y="30492"/>
                </a:lnTo>
                <a:lnTo>
                  <a:pt x="3999877" y="0"/>
                </a:lnTo>
                <a:lnTo>
                  <a:pt x="3994226" y="22593"/>
                </a:lnTo>
                <a:lnTo>
                  <a:pt x="3999141" y="30924"/>
                </a:lnTo>
                <a:lnTo>
                  <a:pt x="4003903" y="41541"/>
                </a:lnTo>
                <a:lnTo>
                  <a:pt x="4007294" y="52362"/>
                </a:lnTo>
                <a:lnTo>
                  <a:pt x="4009339" y="63411"/>
                </a:lnTo>
                <a:lnTo>
                  <a:pt x="4010012" y="74663"/>
                </a:lnTo>
                <a:lnTo>
                  <a:pt x="4010012" y="7046963"/>
                </a:lnTo>
                <a:lnTo>
                  <a:pt x="4003903" y="7088378"/>
                </a:lnTo>
                <a:lnTo>
                  <a:pt x="3985958" y="7126364"/>
                </a:lnTo>
                <a:lnTo>
                  <a:pt x="3967670" y="7148449"/>
                </a:lnTo>
                <a:lnTo>
                  <a:pt x="3934561" y="7172947"/>
                </a:lnTo>
                <a:lnTo>
                  <a:pt x="3895026" y="7187120"/>
                </a:lnTo>
                <a:lnTo>
                  <a:pt x="3867150" y="7189838"/>
                </a:lnTo>
                <a:lnTo>
                  <a:pt x="152400" y="7189838"/>
                </a:lnTo>
                <a:lnTo>
                  <a:pt x="110985" y="7183729"/>
                </a:lnTo>
                <a:lnTo>
                  <a:pt x="72999" y="7165784"/>
                </a:lnTo>
                <a:lnTo>
                  <a:pt x="51854" y="7148462"/>
                </a:lnTo>
                <a:lnTo>
                  <a:pt x="41897" y="7137565"/>
                </a:lnTo>
                <a:lnTo>
                  <a:pt x="20396" y="7101649"/>
                </a:lnTo>
                <a:lnTo>
                  <a:pt x="10198" y="7061047"/>
                </a:lnTo>
                <a:lnTo>
                  <a:pt x="9525" y="7046963"/>
                </a:lnTo>
                <a:lnTo>
                  <a:pt x="9525" y="74663"/>
                </a:lnTo>
                <a:lnTo>
                  <a:pt x="20396" y="30924"/>
                </a:lnTo>
                <a:lnTo>
                  <a:pt x="25311" y="22593"/>
                </a:lnTo>
                <a:lnTo>
                  <a:pt x="19659" y="0"/>
                </a:lnTo>
                <a:lnTo>
                  <a:pt x="2895" y="44932"/>
                </a:lnTo>
                <a:lnTo>
                  <a:pt x="0" y="74663"/>
                </a:lnTo>
                <a:lnTo>
                  <a:pt x="0" y="7046963"/>
                </a:lnTo>
                <a:lnTo>
                  <a:pt x="6515" y="7091146"/>
                </a:lnTo>
                <a:lnTo>
                  <a:pt x="25654" y="7131659"/>
                </a:lnTo>
                <a:lnTo>
                  <a:pt x="44678" y="7154685"/>
                </a:lnTo>
                <a:lnTo>
                  <a:pt x="80479" y="7181355"/>
                </a:lnTo>
                <a:lnTo>
                  <a:pt x="122656" y="7196468"/>
                </a:lnTo>
                <a:lnTo>
                  <a:pt x="152400" y="7199363"/>
                </a:lnTo>
                <a:lnTo>
                  <a:pt x="3867150" y="7199363"/>
                </a:lnTo>
                <a:lnTo>
                  <a:pt x="3882161" y="7198639"/>
                </a:lnTo>
                <a:lnTo>
                  <a:pt x="3896880" y="7196468"/>
                </a:lnTo>
                <a:lnTo>
                  <a:pt x="3911320" y="7192848"/>
                </a:lnTo>
                <a:lnTo>
                  <a:pt x="3919677" y="7189838"/>
                </a:lnTo>
                <a:lnTo>
                  <a:pt x="3925468" y="7187768"/>
                </a:lnTo>
                <a:lnTo>
                  <a:pt x="3939057" y="7181355"/>
                </a:lnTo>
                <a:lnTo>
                  <a:pt x="3951833" y="7173709"/>
                </a:lnTo>
                <a:lnTo>
                  <a:pt x="3963784" y="7164832"/>
                </a:lnTo>
                <a:lnTo>
                  <a:pt x="3974909" y="7154735"/>
                </a:lnTo>
                <a:lnTo>
                  <a:pt x="3985006" y="7143597"/>
                </a:lnTo>
                <a:lnTo>
                  <a:pt x="4007942" y="7105294"/>
                </a:lnTo>
                <a:lnTo>
                  <a:pt x="4018813" y="7061987"/>
                </a:lnTo>
                <a:lnTo>
                  <a:pt x="4019550" y="7046963"/>
                </a:lnTo>
                <a:lnTo>
                  <a:pt x="4019550" y="74663"/>
                </a:lnTo>
                <a:close/>
              </a:path>
            </a:pathLst>
          </a:custGeom>
          <a:solidFill>
            <a:srgbClr val="FFFFFF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478326" y="2076449"/>
            <a:ext cx="3980815" cy="100965"/>
          </a:xfrm>
          <a:custGeom>
            <a:avLst/>
            <a:gdLst/>
            <a:ahLst/>
            <a:cxnLst/>
            <a:rect l="l" t="t" r="r" b="b"/>
            <a:pathLst>
              <a:path w="3980815" h="100964">
                <a:moveTo>
                  <a:pt x="5650" y="100604"/>
                </a:moveTo>
                <a:lnTo>
                  <a:pt x="15032" y="55765"/>
                </a:lnTo>
                <a:lnTo>
                  <a:pt x="48213" y="25659"/>
                </a:lnTo>
                <a:lnTo>
                  <a:pt x="88725" y="6525"/>
                </a:lnTo>
                <a:lnTo>
                  <a:pt x="132898" y="0"/>
                </a:lnTo>
                <a:lnTo>
                  <a:pt x="3847648" y="0"/>
                </a:lnTo>
                <a:lnTo>
                  <a:pt x="3862660" y="725"/>
                </a:lnTo>
                <a:lnTo>
                  <a:pt x="3905968" y="11600"/>
                </a:lnTo>
                <a:lnTo>
                  <a:pt x="3944282" y="34533"/>
                </a:lnTo>
                <a:lnTo>
                  <a:pt x="3948210" y="38099"/>
                </a:lnTo>
                <a:lnTo>
                  <a:pt x="132898" y="38099"/>
                </a:lnTo>
                <a:lnTo>
                  <a:pt x="118823" y="38644"/>
                </a:lnTo>
                <a:lnTo>
                  <a:pt x="78223" y="46802"/>
                </a:lnTo>
                <a:lnTo>
                  <a:pt x="42303" y="63999"/>
                </a:lnTo>
                <a:lnTo>
                  <a:pt x="6913" y="98464"/>
                </a:lnTo>
                <a:lnTo>
                  <a:pt x="5650" y="100604"/>
                </a:lnTo>
                <a:close/>
              </a:path>
              <a:path w="3980815" h="100964">
                <a:moveTo>
                  <a:pt x="3974898" y="100604"/>
                </a:moveTo>
                <a:lnTo>
                  <a:pt x="3948677" y="71576"/>
                </a:lnTo>
                <a:lnTo>
                  <a:pt x="3915066" y="51612"/>
                </a:lnTo>
                <a:lnTo>
                  <a:pt x="3875526" y="40275"/>
                </a:lnTo>
                <a:lnTo>
                  <a:pt x="3847648" y="38099"/>
                </a:lnTo>
                <a:lnTo>
                  <a:pt x="3948210" y="38099"/>
                </a:lnTo>
                <a:lnTo>
                  <a:pt x="3955410" y="44637"/>
                </a:lnTo>
                <a:lnTo>
                  <a:pt x="3965514" y="55765"/>
                </a:lnTo>
                <a:lnTo>
                  <a:pt x="3974387" y="67715"/>
                </a:lnTo>
                <a:lnTo>
                  <a:pt x="3980545" y="78003"/>
                </a:lnTo>
                <a:lnTo>
                  <a:pt x="3974898" y="100604"/>
                </a:lnTo>
                <a:close/>
              </a:path>
            </a:pathLst>
          </a:custGeom>
          <a:solidFill>
            <a:srgbClr val="F59E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3717587" y="2310455"/>
            <a:ext cx="3579813" cy="145809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100" b="1" dirty="0">
                <a:solidFill>
                  <a:srgbClr val="F59E0A"/>
                </a:solidFill>
                <a:latin typeface="Century Gothic"/>
                <a:cs typeface="Century Gothic"/>
              </a:rPr>
              <a:t>REGRA 4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Ancore no Custo Diário</a:t>
            </a:r>
            <a:endParaRPr sz="1600" dirty="0">
              <a:latin typeface="Arial"/>
              <a:cs typeface="Arial"/>
            </a:endParaRPr>
          </a:p>
          <a:p>
            <a:pPr marL="12700" marR="5080">
              <a:lnSpc>
                <a:spcPct val="105000"/>
              </a:lnSpc>
              <a:spcBef>
                <a:spcPts val="905"/>
              </a:spcBef>
            </a:pPr>
            <a:r>
              <a:rPr sz="1250" dirty="0" err="1">
                <a:solidFill>
                  <a:srgbClr val="93A2B8"/>
                </a:solidFill>
                <a:latin typeface="Century Gothic"/>
                <a:cs typeface="Century Gothic"/>
              </a:rPr>
              <a:t>Divida</a:t>
            </a:r>
            <a:r>
              <a:rPr sz="1250" dirty="0">
                <a:solidFill>
                  <a:srgbClr val="93A2B8"/>
                </a:solidFill>
                <a:latin typeface="Century Gothic"/>
                <a:cs typeface="Century Gothic"/>
              </a:rPr>
              <a:t> </a:t>
            </a:r>
            <a:r>
              <a:rPr lang="pt-BR" sz="1250" dirty="0">
                <a:solidFill>
                  <a:srgbClr val="93A2B8"/>
                </a:solidFill>
                <a:latin typeface="Century Gothic"/>
                <a:cs typeface="Century Gothic"/>
              </a:rPr>
              <a:t>o valor do investimento em  parcelas viáveis para o consumidor e a empresa e demonstre que vale a pena o investimento e um produto mais inteligente.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96924" y="9491251"/>
            <a:ext cx="46132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5"/>
              </a:lnSpc>
            </a:pPr>
            <a:r>
              <a:rPr sz="1250" b="1" dirty="0">
                <a:solidFill>
                  <a:srgbClr val="00D2DE"/>
                </a:solidFill>
                <a:latin typeface="Century Gothic"/>
                <a:cs typeface="Century Gothic"/>
              </a:rPr>
              <a:t>Sucesso nas Vendas • Gold Comfort &amp; Gold Comfort IA</a:t>
            </a:r>
            <a:endParaRPr sz="1250" dirty="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717587" y="8896926"/>
            <a:ext cx="2919414" cy="18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FABE23"/>
                </a:solidFill>
                <a:latin typeface="Century Gothic"/>
                <a:cs typeface="Century Gothic"/>
              </a:rPr>
              <a:t>"Menos que um cafezinho!"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36" name="object 3">
            <a:extLst>
              <a:ext uri="{FF2B5EF4-FFF2-40B4-BE49-F238E27FC236}">
                <a16:creationId xmlns:a16="http://schemas.microsoft.com/office/drawing/2014/main" id="{8AF2BFC5-EA9B-42A6-8745-9E809EDD5982}"/>
              </a:ext>
            </a:extLst>
          </p:cNvPr>
          <p:cNvGrpSpPr/>
          <p:nvPr/>
        </p:nvGrpSpPr>
        <p:grpSpPr>
          <a:xfrm>
            <a:off x="15297150" y="571499"/>
            <a:ext cx="2228850" cy="352425"/>
            <a:chOff x="15297150" y="571499"/>
            <a:chExt cx="2228850" cy="352425"/>
          </a:xfrm>
        </p:grpSpPr>
        <p:sp>
          <p:nvSpPr>
            <p:cNvPr id="37" name="object 4">
              <a:extLst>
                <a:ext uri="{FF2B5EF4-FFF2-40B4-BE49-F238E27FC236}">
                  <a16:creationId xmlns:a16="http://schemas.microsoft.com/office/drawing/2014/main" id="{EE335480-79C7-4B67-B3C1-9A50DF7C6F80}"/>
                </a:ext>
              </a:extLst>
            </p:cNvPr>
            <p:cNvSpPr/>
            <p:nvPr/>
          </p:nvSpPr>
          <p:spPr>
            <a:xfrm>
              <a:off x="15297150" y="571499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50" y="352425"/>
                  </a:moveTo>
                  <a:lnTo>
                    <a:pt x="76200" y="352425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5"/>
                  </a:lnTo>
                  <a:lnTo>
                    <a:pt x="0" y="76200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200" y="0"/>
                  </a:lnTo>
                  <a:lnTo>
                    <a:pt x="2152650" y="0"/>
                  </a:lnTo>
                  <a:lnTo>
                    <a:pt x="2194990" y="12830"/>
                  </a:lnTo>
                  <a:lnTo>
                    <a:pt x="2223049" y="47039"/>
                  </a:lnTo>
                  <a:lnTo>
                    <a:pt x="2228850" y="76200"/>
                  </a:lnTo>
                  <a:lnTo>
                    <a:pt x="2228850" y="276225"/>
                  </a:lnTo>
                  <a:lnTo>
                    <a:pt x="2216018" y="318567"/>
                  </a:lnTo>
                  <a:lnTo>
                    <a:pt x="2181807" y="346624"/>
                  </a:lnTo>
                  <a:lnTo>
                    <a:pt x="2152650" y="352425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5">
              <a:extLst>
                <a:ext uri="{FF2B5EF4-FFF2-40B4-BE49-F238E27FC236}">
                  <a16:creationId xmlns:a16="http://schemas.microsoft.com/office/drawing/2014/main" id="{9E2729A7-D600-4F83-AF84-D2DF35A37C14}"/>
                </a:ext>
              </a:extLst>
            </p:cNvPr>
            <p:cNvSpPr/>
            <p:nvPr/>
          </p:nvSpPr>
          <p:spPr>
            <a:xfrm>
              <a:off x="15297150" y="571500"/>
              <a:ext cx="2228850" cy="352425"/>
            </a:xfrm>
            <a:custGeom>
              <a:avLst/>
              <a:gdLst/>
              <a:ahLst/>
              <a:cxnLst/>
              <a:rect l="l" t="t" r="r" b="b"/>
              <a:pathLst>
                <a:path w="2228850" h="352425">
                  <a:moveTo>
                    <a:pt x="2152649" y="352424"/>
                  </a:moveTo>
                  <a:lnTo>
                    <a:pt x="76199" y="352424"/>
                  </a:lnTo>
                  <a:lnTo>
                    <a:pt x="68692" y="352062"/>
                  </a:lnTo>
                  <a:lnTo>
                    <a:pt x="27881" y="335158"/>
                  </a:lnTo>
                  <a:lnTo>
                    <a:pt x="3260" y="298311"/>
                  </a:lnTo>
                  <a:lnTo>
                    <a:pt x="0" y="276224"/>
                  </a:lnTo>
                  <a:lnTo>
                    <a:pt x="0" y="76199"/>
                  </a:lnTo>
                  <a:lnTo>
                    <a:pt x="12828" y="33857"/>
                  </a:lnTo>
                  <a:lnTo>
                    <a:pt x="47036" y="5800"/>
                  </a:lnTo>
                  <a:lnTo>
                    <a:pt x="76199" y="0"/>
                  </a:lnTo>
                  <a:lnTo>
                    <a:pt x="2152649" y="0"/>
                  </a:lnTo>
                  <a:lnTo>
                    <a:pt x="2189467" y="9525"/>
                  </a:lnTo>
                  <a:lnTo>
                    <a:pt x="71823" y="9525"/>
                  </a:lnTo>
                  <a:lnTo>
                    <a:pt x="67486" y="9951"/>
                  </a:lnTo>
                  <a:lnTo>
                    <a:pt x="32150" y="25956"/>
                  </a:lnTo>
                  <a:lnTo>
                    <a:pt x="11662" y="58899"/>
                  </a:lnTo>
                  <a:lnTo>
                    <a:pt x="9525" y="71823"/>
                  </a:lnTo>
                  <a:lnTo>
                    <a:pt x="9525" y="280601"/>
                  </a:lnTo>
                  <a:lnTo>
                    <a:pt x="9833" y="283731"/>
                  </a:lnTo>
                  <a:lnTo>
                    <a:pt x="9952" y="284939"/>
                  </a:lnTo>
                  <a:lnTo>
                    <a:pt x="25957" y="320274"/>
                  </a:lnTo>
                  <a:lnTo>
                    <a:pt x="58899" y="340763"/>
                  </a:lnTo>
                  <a:lnTo>
                    <a:pt x="71823" y="342900"/>
                  </a:lnTo>
                  <a:lnTo>
                    <a:pt x="2189467" y="342900"/>
                  </a:lnTo>
                  <a:lnTo>
                    <a:pt x="2188603" y="343416"/>
                  </a:lnTo>
                  <a:lnTo>
                    <a:pt x="2181807" y="346624"/>
                  </a:lnTo>
                  <a:lnTo>
                    <a:pt x="2174733" y="349162"/>
                  </a:lnTo>
                  <a:lnTo>
                    <a:pt x="2167516" y="350975"/>
                  </a:lnTo>
                  <a:lnTo>
                    <a:pt x="2160155" y="352062"/>
                  </a:lnTo>
                  <a:lnTo>
                    <a:pt x="2152649" y="352424"/>
                  </a:lnTo>
                  <a:close/>
                </a:path>
                <a:path w="2228850" h="352425">
                  <a:moveTo>
                    <a:pt x="2189467" y="342900"/>
                  </a:moveTo>
                  <a:lnTo>
                    <a:pt x="2157027" y="342900"/>
                  </a:lnTo>
                  <a:lnTo>
                    <a:pt x="2161364" y="342473"/>
                  </a:lnTo>
                  <a:lnTo>
                    <a:pt x="2169950" y="340763"/>
                  </a:lnTo>
                  <a:lnTo>
                    <a:pt x="2202893" y="320274"/>
                  </a:lnTo>
                  <a:lnTo>
                    <a:pt x="2218898" y="284939"/>
                  </a:lnTo>
                  <a:lnTo>
                    <a:pt x="2219325" y="280601"/>
                  </a:lnTo>
                  <a:lnTo>
                    <a:pt x="2219325" y="71823"/>
                  </a:lnTo>
                  <a:lnTo>
                    <a:pt x="2219017" y="68693"/>
                  </a:lnTo>
                  <a:lnTo>
                    <a:pt x="2218898" y="67485"/>
                  </a:lnTo>
                  <a:lnTo>
                    <a:pt x="2202893" y="32150"/>
                  </a:lnTo>
                  <a:lnTo>
                    <a:pt x="2169950" y="11661"/>
                  </a:lnTo>
                  <a:lnTo>
                    <a:pt x="2157027" y="9525"/>
                  </a:lnTo>
                  <a:lnTo>
                    <a:pt x="2189467" y="9525"/>
                  </a:lnTo>
                  <a:lnTo>
                    <a:pt x="2219841" y="40243"/>
                  </a:lnTo>
                  <a:lnTo>
                    <a:pt x="2228849" y="76199"/>
                  </a:lnTo>
                  <a:lnTo>
                    <a:pt x="2228849" y="276224"/>
                  </a:lnTo>
                  <a:lnTo>
                    <a:pt x="2216018" y="318567"/>
                  </a:lnTo>
                  <a:lnTo>
                    <a:pt x="2195115" y="339501"/>
                  </a:lnTo>
                  <a:lnTo>
                    <a:pt x="2189467" y="34290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6">
            <a:extLst>
              <a:ext uri="{FF2B5EF4-FFF2-40B4-BE49-F238E27FC236}">
                <a16:creationId xmlns:a16="http://schemas.microsoft.com/office/drawing/2014/main" id="{153C16DF-66E9-4B90-AA60-3C81E4CC429F}"/>
              </a:ext>
            </a:extLst>
          </p:cNvPr>
          <p:cNvSpPr txBox="1"/>
          <p:nvPr/>
        </p:nvSpPr>
        <p:spPr>
          <a:xfrm>
            <a:off x="15909571" y="637254"/>
            <a:ext cx="1029335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b="1" spc="-10" dirty="0">
                <a:solidFill>
                  <a:srgbClr val="FFFFFF"/>
                </a:solidFill>
                <a:latin typeface="Trebuchet MS"/>
                <a:cs typeface="Trebuchet MS"/>
              </a:rPr>
              <a:t>PERSONALITY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3303</Words>
  <Application>Microsoft Office PowerPoint</Application>
  <PresentationFormat>Personalizar</PresentationFormat>
  <Paragraphs>317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6" baseType="lpstr">
      <vt:lpstr>Arial</vt:lpstr>
      <vt:lpstr>Calibri</vt:lpstr>
      <vt:lpstr>Century Gothic</vt:lpstr>
      <vt:lpstr>Gotham Black</vt:lpstr>
      <vt:lpstr>Gotham Book</vt:lpstr>
      <vt:lpstr>Gotham Medium</vt:lpstr>
      <vt:lpstr>Lucida Sans</vt:lpstr>
      <vt:lpstr>Microsoft Sans Serif</vt:lpstr>
      <vt:lpstr>Segoe UI Symbol</vt:lpstr>
      <vt:lpstr>Tahoma</vt:lpstr>
      <vt:lpstr>Times New Roman</vt:lpstr>
      <vt:lpstr>Trebuchet MS</vt:lpstr>
      <vt:lpstr>Office Theme</vt:lpstr>
      <vt:lpstr>O NOVO PADRÃO DA</vt:lpstr>
      <vt:lpstr>O Ponto Cego do Balcão em 2026 Por que entregar uma "lente comum" é deixar dinheiro na mesa e negligenciar a dor do seu cliente.</vt:lpstr>
      <vt:lpstr>A Fisiologia da Fadiga: O Músculo Ciliar sob Ataque Como explicar de forma simples e irresistível o porquê de os olhos arderem e cansarem nas telas.</vt:lpstr>
      <vt:lpstr>A Ilusão das Lentes Prontas &amp; Surfaçadas Comuns Compreenda a fundo por que as opções genéricas não protegem a visão do usuário de telas.</vt:lpstr>
      <vt:lpstr>A Fórmula "2 em 1": Longe Impecável + Relaxamento Ativo Como apresentar a lente como uma revolução tecnológica dupla e indispensável.</vt:lpstr>
      <vt:lpstr>Gold Comfort Standard vs. Gold Comfort IA O que muda com a Inteligência Artificial Preditiva e quando indicar cada versão.</vt:lpstr>
      <vt:lpstr>Segmentação Descomplicada das 5 Potências (D0.40 a D1.25) Como escolher com rapidez e segurança a potência perfeita para cada perfil de cliente.</vt:lpstr>
      <vt:lpstr>Duelo de Titãs: Matriz Competitiva Direta Como a Gold Comfort IA se posiciona frente aos gigantes multinacionais de mercado.</vt:lpstr>
      <vt:lpstr>A Equação Financeira para o Consumidor (O Sweet Spot) Como posicionar o investimento no valor parcelado por dia e anular o preço da concorrência.</vt:lpstr>
      <vt:lpstr>Os 4 Pilares Psicológicos da Venda Consultiva Como acionar os gatilhos mentais certos para gerar decisão imediata no balcão.</vt:lpstr>
      <vt:lpstr>Script de Ouro de Balcão (Sondagem &amp; Pitch 2 em 1) O passo a passo exato do que falar assim que a receita de visão simples entra na loja.</vt:lpstr>
      <vt:lpstr>Arsenal de Quebra de Objeções no Balcão Como desarmar com elegância e autoridade as 4 maiores resistências do cliente.</vt:lpstr>
      <vt:lpstr>O Compromisso do Consultor de Alta Performance As 4 regras de ouro para transformar o balcão da sua óptica em uma máquina de vendas de valor.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Comercial: Lentes com Área de Relaxamento Gold Comfort &amp; Gold Comfort IA</dc:title>
  <cp:lastModifiedBy>FABIO DEL VECCHIO</cp:lastModifiedBy>
  <cp:revision>18</cp:revision>
  <dcterms:created xsi:type="dcterms:W3CDTF">2026-10-01T20:06:03Z</dcterms:created>
  <dcterms:modified xsi:type="dcterms:W3CDTF">2026-10-02T13:08:18Z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2026-10-01T00:00:00Z</vt:filetime>
  </property>
  <property fmtid="{D5CDD505-2E9C-101B-9397-08002B2CF9AE}" pid="3" name="Creator">
    <vt:lpwstr>Mozilla/5.0 (Windows NT 10.0; Win64; x64) AppleWebKit/537.36 (KHTML, like Gecko) HeadlessChrome/154.0.0.0 Safari/537.36 Edg/154.0.0.0</vt:lpwstr>
  </property>
  <property fmtid="{D5CDD505-2E9C-101B-9397-08002B2CF9AE}" pid="4" name="LastSaved">
    <vt:filetime>2026-10-01T00:00:00Z</vt:filetime>
  </property>
  <property fmtid="{D5CDD505-2E9C-101B-9397-08002B2CF9AE}" pid="5" name="Producer">
    <vt:lpwstr>Skia/PDF m154</vt:lpwstr>
  </property>
</Properties>
</file>